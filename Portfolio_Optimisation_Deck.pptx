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notesSlides/notesSlide15.xml" ContentType="application/vnd.openxmlformats-officedocument.presentationml.notesSlide+xml"/>
  <Override PartName="/ppt/charts/chart12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6.xml" ContentType="application/vnd.openxmlformats-officedocument.presentationml.notesSlide+xml"/>
  <Override PartName="/ppt/charts/chart13.xml" ContentType="application/vnd.openxmlformats-officedocument.drawingml.chart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1.xml" ContentType="application/vnd.openxmlformats-officedocument.presentationml.notesSlide+xml"/>
  <Override PartName="/ppt/charts/chart18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1" r:id="rId10"/>
    <p:sldId id="272" r:id="rId11"/>
    <p:sldId id="273" r:id="rId12"/>
    <p:sldId id="274" r:id="rId13"/>
    <p:sldId id="275" r:id="rId14"/>
    <p:sldId id="276" r:id="rId15"/>
    <p:sldId id="263" r:id="rId16"/>
    <p:sldId id="277" r:id="rId17"/>
    <p:sldId id="278" r:id="rId18"/>
    <p:sldId id="279" r:id="rId19"/>
    <p:sldId id="266" r:id="rId20"/>
    <p:sldId id="267" r:id="rId21"/>
    <p:sldId id="268" r:id="rId22"/>
    <p:sldId id="269" r:id="rId23"/>
    <p:sldId id="27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8CE73-93B1-4D4F-A44C-D7B5E87BBE06}" v="10" dt="2026-09-02T06:22:38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 autoAdjust="0"/>
    <p:restoredTop sz="94610"/>
  </p:normalViewPr>
  <p:slideViewPr>
    <p:cSldViewPr snapToGrid="0" snapToObjects="1">
      <p:cViewPr>
        <p:scale>
          <a:sx n="63" d="100"/>
          <a:sy n="63" d="100"/>
        </p:scale>
        <p:origin x="6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 agarwal" userId="0aa76919c40b67b4" providerId="LiveId" clId="{D128CE65-0BEC-44B5-8992-EE5BF2B4B24C}"/>
    <pc:docChg chg="modSld">
      <pc:chgData name="Jai agarwal" userId="0aa76919c40b67b4" providerId="LiveId" clId="{D128CE65-0BEC-44B5-8992-EE5BF2B4B24C}" dt="2026-09-02T06:22:52.681" v="58" actId="113"/>
      <pc:docMkLst>
        <pc:docMk/>
      </pc:docMkLst>
      <pc:sldChg chg="modSp mod">
        <pc:chgData name="Jai agarwal" userId="0aa76919c40b67b4" providerId="LiveId" clId="{D128CE65-0BEC-44B5-8992-EE5BF2B4B24C}" dt="2026-09-02T06:22:52.681" v="58" actId="113"/>
        <pc:sldMkLst>
          <pc:docMk/>
          <pc:sldMk cId="0" sldId="269"/>
        </pc:sldMkLst>
        <pc:spChg chg="mod">
          <ac:chgData name="Jai agarwal" userId="0aa76919c40b67b4" providerId="LiveId" clId="{D128CE65-0BEC-44B5-8992-EE5BF2B4B24C}" dt="2026-09-02T05:58:30.944" v="47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52.681" v="58" actId="113"/>
          <ac:spMkLst>
            <pc:docMk/>
            <pc:sldMk cId="0" sldId="269"/>
            <ac:spMk id="7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19:51.736" v="49"/>
          <ac:spMkLst>
            <pc:docMk/>
            <pc:sldMk cId="0" sldId="269"/>
            <ac:spMk id="8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52.681" v="58" actId="11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0:21.176" v="51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52.681" v="58" actId="11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1:17.071" v="53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52.681" v="58" actId="113"/>
          <ac:spMkLst>
            <pc:docMk/>
            <pc:sldMk cId="0" sldId="269"/>
            <ac:spMk id="22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01.494" v="55"/>
          <ac:spMkLst>
            <pc:docMk/>
            <pc:sldMk cId="0" sldId="269"/>
            <ac:spMk id="23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52.681" v="58" actId="113"/>
          <ac:spMkLst>
            <pc:docMk/>
            <pc:sldMk cId="0" sldId="269"/>
            <ac:spMk id="27" creationId="{00000000-0000-0000-0000-000000000000}"/>
          </ac:spMkLst>
        </pc:spChg>
        <pc:spChg chg="mod">
          <ac:chgData name="Jai agarwal" userId="0aa76919c40b67b4" providerId="LiveId" clId="{D128CE65-0BEC-44B5-8992-EE5BF2B4B24C}" dt="2026-09-02T06:22:38.318" v="57"/>
          <ac:spMkLst>
            <pc:docMk/>
            <pc:sldMk cId="0" sldId="269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INVESTABLE ASSETS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Return (%)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Sheet1!$A$2:$A$15</c:f>
              <c:strCache>
                <c:ptCount val="14"/>
                <c:pt idx="0">
                  <c:v>Govt Bonds</c:v>
                </c:pt>
                <c:pt idx="1">
                  <c:v>Hybrid Debt</c:v>
                </c:pt>
                <c:pt idx="2">
                  <c:v>Pension Plan</c:v>
                </c:pt>
                <c:pt idx="3">
                  <c:v>Corp Bonds</c:v>
                </c:pt>
                <c:pt idx="4">
                  <c:v>ULIPs</c:v>
                </c:pt>
                <c:pt idx="5">
                  <c:v>Child Edu Plan</c:v>
                </c:pt>
                <c:pt idx="6">
                  <c:v>Gold</c:v>
                </c:pt>
                <c:pt idx="7">
                  <c:v>Multi-Asset</c:v>
                </c:pt>
                <c:pt idx="8">
                  <c:v>Large Cap</c:v>
                </c:pt>
                <c:pt idx="9">
                  <c:v>MF L&amp;M Cap</c:v>
                </c:pt>
                <c:pt idx="10">
                  <c:v>Embassy REIT</c:v>
                </c:pt>
                <c:pt idx="11">
                  <c:v>Mid Cap</c:v>
                </c:pt>
                <c:pt idx="12">
                  <c:v>Small Cap</c:v>
                </c:pt>
                <c:pt idx="13">
                  <c:v>L-S AIF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7.5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12.78</c:v>
                </c:pt>
                <c:pt idx="8">
                  <c:v>13</c:v>
                </c:pt>
                <c:pt idx="9">
                  <c:v>14</c:v>
                </c:pt>
                <c:pt idx="10">
                  <c:v>11</c:v>
                </c:pt>
                <c:pt idx="11">
                  <c:v>18</c:v>
                </c:pt>
                <c:pt idx="12">
                  <c:v>20</c:v>
                </c:pt>
                <c:pt idx="1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6B-47AB-80EF-2087DAFBDD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Deviation (%)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Sheet1!$A$2:$A$15</c:f>
              <c:strCache>
                <c:ptCount val="14"/>
                <c:pt idx="0">
                  <c:v>Govt Bonds</c:v>
                </c:pt>
                <c:pt idx="1">
                  <c:v>Hybrid Debt</c:v>
                </c:pt>
                <c:pt idx="2">
                  <c:v>Pension Plan</c:v>
                </c:pt>
                <c:pt idx="3">
                  <c:v>Corp Bonds</c:v>
                </c:pt>
                <c:pt idx="4">
                  <c:v>ULIPs</c:v>
                </c:pt>
                <c:pt idx="5">
                  <c:v>Child Edu Plan</c:v>
                </c:pt>
                <c:pt idx="6">
                  <c:v>Gold</c:v>
                </c:pt>
                <c:pt idx="7">
                  <c:v>Multi-Asset</c:v>
                </c:pt>
                <c:pt idx="8">
                  <c:v>Large Cap</c:v>
                </c:pt>
                <c:pt idx="9">
                  <c:v>MF L&amp;M Cap</c:v>
                </c:pt>
                <c:pt idx="10">
                  <c:v>Embassy REIT</c:v>
                </c:pt>
                <c:pt idx="11">
                  <c:v>Mid Cap</c:v>
                </c:pt>
                <c:pt idx="12">
                  <c:v>Small Cap</c:v>
                </c:pt>
                <c:pt idx="13">
                  <c:v>L-S AIF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16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6B-47AB-80EF-2087DAFBD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180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Percent per annum</a:t>
                </a:r>
              </a:p>
            </c:rich>
          </c:tx>
          <c:layout>
            <c:manualLayout>
              <c:xMode val="edge"/>
              <c:yMode val="edge"/>
              <c:x val="9.0877914951989019E-2"/>
              <c:y val="0.281307625008412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Gold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Mid Cap</c:v>
                </c:pt>
                <c:pt idx="1">
                  <c:v>Small Cap</c:v>
                </c:pt>
                <c:pt idx="2">
                  <c:v>MF L&amp;M</c:v>
                </c:pt>
                <c:pt idx="3">
                  <c:v>Large Cap</c:v>
                </c:pt>
                <c:pt idx="4">
                  <c:v>Embassy REIT</c:v>
                </c:pt>
                <c:pt idx="5">
                  <c:v>L-S AIF</c:v>
                </c:pt>
                <c:pt idx="6">
                  <c:v>Multi-Asset</c:v>
                </c:pt>
                <c:pt idx="7">
                  <c:v>Corp Bonds</c:v>
                </c:pt>
                <c:pt idx="8">
                  <c:v>Govt Bonds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-0.22889999999999999</c:v>
                </c:pt>
                <c:pt idx="1">
                  <c:v>-0.19189999999999999</c:v>
                </c:pt>
                <c:pt idx="2">
                  <c:v>-0.15920000000000001</c:v>
                </c:pt>
                <c:pt idx="3">
                  <c:v>-0.1105</c:v>
                </c:pt>
                <c:pt idx="4">
                  <c:v>3.0300000000000001E-2</c:v>
                </c:pt>
                <c:pt idx="5">
                  <c:v>0.05</c:v>
                </c:pt>
                <c:pt idx="6">
                  <c:v>0.21199999999999999</c:v>
                </c:pt>
                <c:pt idx="7">
                  <c:v>0.18859999999999999</c:v>
                </c:pt>
                <c:pt idx="8">
                  <c:v>0.24379999999999999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4B-4064-AFA7-80DE1A8161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-0.3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0.1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Long-Short AIF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 = 1</c:v>
                </c:pt>
                <c:pt idx="1">
                  <c:v>A = 2</c:v>
                </c:pt>
                <c:pt idx="2">
                  <c:v>A = 3</c:v>
                </c:pt>
                <c:pt idx="3">
                  <c:v>A = 4</c:v>
                </c:pt>
                <c:pt idx="4">
                  <c:v>A = 5</c:v>
                </c:pt>
                <c:pt idx="5">
                  <c:v>A =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9</c:v>
                </c:pt>
                <c:pt idx="2">
                  <c:v>1</c:v>
                </c:pt>
                <c:pt idx="3">
                  <c:v>-7</c:v>
                </c:pt>
                <c:pt idx="4">
                  <c:v>-15</c:v>
                </c:pt>
                <c:pt idx="5">
                  <c:v>-23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1E-4A10-91C9-594E490A5E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Equity - Small Cap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 = 1</c:v>
                </c:pt>
                <c:pt idx="1">
                  <c:v>A = 2</c:v>
                </c:pt>
                <c:pt idx="2">
                  <c:v>A = 3</c:v>
                </c:pt>
                <c:pt idx="3">
                  <c:v>A = 4</c:v>
                </c:pt>
                <c:pt idx="4">
                  <c:v>A = 5</c:v>
                </c:pt>
                <c:pt idx="5">
                  <c:v>A =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16.88</c:v>
                </c:pt>
                <c:pt idx="1">
                  <c:v>13.75</c:v>
                </c:pt>
                <c:pt idx="2">
                  <c:v>10.63</c:v>
                </c:pt>
                <c:pt idx="3">
                  <c:v>7.5</c:v>
                </c:pt>
                <c:pt idx="4">
                  <c:v>4.38</c:v>
                </c:pt>
                <c:pt idx="5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1E-4A10-91C9-594E490A5E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Equity - Mid Cap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 = 1</c:v>
                </c:pt>
                <c:pt idx="1">
                  <c:v>A = 2</c:v>
                </c:pt>
                <c:pt idx="2">
                  <c:v>A = 3</c:v>
                </c:pt>
                <c:pt idx="3">
                  <c:v>A = 4</c:v>
                </c:pt>
                <c:pt idx="4">
                  <c:v>A = 5</c:v>
                </c:pt>
                <c:pt idx="5">
                  <c:v>A =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15.58</c:v>
                </c:pt>
                <c:pt idx="1">
                  <c:v>13.16</c:v>
                </c:pt>
                <c:pt idx="2">
                  <c:v>10.74</c:v>
                </c:pt>
                <c:pt idx="3">
                  <c:v>8.32</c:v>
                </c:pt>
                <c:pt idx="4">
                  <c:v>5.9</c:v>
                </c:pt>
                <c:pt idx="5">
                  <c:v>3.48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1E-4A10-91C9-594E490A5E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Gold Commodity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 = 1</c:v>
                </c:pt>
                <c:pt idx="1">
                  <c:v>A = 2</c:v>
                </c:pt>
                <c:pt idx="2">
                  <c:v>A = 3</c:v>
                </c:pt>
                <c:pt idx="3">
                  <c:v>A = 4</c:v>
                </c:pt>
                <c:pt idx="4">
                  <c:v>A = 5</c:v>
                </c:pt>
                <c:pt idx="5">
                  <c:v>A = 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11.28</c:v>
                </c:pt>
                <c:pt idx="1">
                  <c:v>10.56</c:v>
                </c:pt>
                <c:pt idx="2">
                  <c:v>9.84</c:v>
                </c:pt>
                <c:pt idx="3">
                  <c:v>9.1199999999999992</c:v>
                </c:pt>
                <c:pt idx="4">
                  <c:v>8.4</c:v>
                </c:pt>
                <c:pt idx="5">
                  <c:v>7.68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01E-4A10-91C9-594E490A5E2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Government Bonds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 = 1</c:v>
                </c:pt>
                <c:pt idx="1">
                  <c:v>A = 2</c:v>
                </c:pt>
                <c:pt idx="2">
                  <c:v>A = 3</c:v>
                </c:pt>
                <c:pt idx="3">
                  <c:v>A = 4</c:v>
                </c:pt>
                <c:pt idx="4">
                  <c:v>A = 5</c:v>
                </c:pt>
                <c:pt idx="5">
                  <c:v>A = 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7.48</c:v>
                </c:pt>
                <c:pt idx="1">
                  <c:v>7.46</c:v>
                </c:pt>
                <c:pt idx="2">
                  <c:v>7.44</c:v>
                </c:pt>
                <c:pt idx="3">
                  <c:v>7.42</c:v>
                </c:pt>
                <c:pt idx="4">
                  <c:v>7.4</c:v>
                </c:pt>
                <c:pt idx="5">
                  <c:v>7.38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01E-4A10-91C9-594E490A5E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-2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Utility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Efficient Frontier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3.66</c:v>
                </c:pt>
                <c:pt idx="2">
                  <c:v>4.38</c:v>
                </c:pt>
                <c:pt idx="3">
                  <c:v>5.59</c:v>
                </c:pt>
                <c:pt idx="4">
                  <c:v>6.94</c:v>
                </c:pt>
                <c:pt idx="5">
                  <c:v>8.3000000000000007</c:v>
                </c:pt>
                <c:pt idx="6">
                  <c:v>8.3699999999999992</c:v>
                </c:pt>
                <c:pt idx="7">
                  <c:v>9.91</c:v>
                </c:pt>
                <c:pt idx="8">
                  <c:v>11.7</c:v>
                </c:pt>
                <c:pt idx="9">
                  <c:v>13.59</c:v>
                </c:pt>
                <c:pt idx="10">
                  <c:v>14.23</c:v>
                </c:pt>
                <c:pt idx="11">
                  <c:v>15.66</c:v>
                </c:pt>
                <c:pt idx="12">
                  <c:v>18.329999999999998</c:v>
                </c:pt>
                <c:pt idx="13">
                  <c:v>21.21</c:v>
                </c:pt>
                <c:pt idx="14">
                  <c:v>24.3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1">
                  <c:v>9.15</c:v>
                </c:pt>
                <c:pt idx="2">
                  <c:v>10.25</c:v>
                </c:pt>
                <c:pt idx="3">
                  <c:v>11.35</c:v>
                </c:pt>
                <c:pt idx="4">
                  <c:v>12.44</c:v>
                </c:pt>
                <c:pt idx="5">
                  <c:v>13.54</c:v>
                </c:pt>
                <c:pt idx="7">
                  <c:v>14.63</c:v>
                </c:pt>
                <c:pt idx="8">
                  <c:v>15.73</c:v>
                </c:pt>
                <c:pt idx="9">
                  <c:v>16.829999999999998</c:v>
                </c:pt>
                <c:pt idx="11">
                  <c:v>17.920000000000002</c:v>
                </c:pt>
                <c:pt idx="12">
                  <c:v>19.02</c:v>
                </c:pt>
                <c:pt idx="13">
                  <c:v>20.12</c:v>
                </c:pt>
                <c:pt idx="14">
                  <c:v>21.21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AA-4AA9-830E-5265E08A59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Capital Allocation Line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0</c:v>
                </c:pt>
                <c:pt idx="1">
                  <c:v>3.66</c:v>
                </c:pt>
                <c:pt idx="2">
                  <c:v>4.38</c:v>
                </c:pt>
                <c:pt idx="3">
                  <c:v>5.59</c:v>
                </c:pt>
                <c:pt idx="4">
                  <c:v>6.94</c:v>
                </c:pt>
                <c:pt idx="5">
                  <c:v>8.3000000000000007</c:v>
                </c:pt>
                <c:pt idx="6">
                  <c:v>8.3699999999999992</c:v>
                </c:pt>
                <c:pt idx="7">
                  <c:v>9.91</c:v>
                </c:pt>
                <c:pt idx="8">
                  <c:v>11.7</c:v>
                </c:pt>
                <c:pt idx="9">
                  <c:v>13.59</c:v>
                </c:pt>
                <c:pt idx="10">
                  <c:v>14.23</c:v>
                </c:pt>
                <c:pt idx="11">
                  <c:v>15.66</c:v>
                </c:pt>
                <c:pt idx="12">
                  <c:v>18.329999999999998</c:v>
                </c:pt>
                <c:pt idx="13">
                  <c:v>21.21</c:v>
                </c:pt>
                <c:pt idx="14">
                  <c:v>24.3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7.5</c:v>
                </c:pt>
                <c:pt idx="6">
                  <c:v>13.59</c:v>
                </c:pt>
                <c:pt idx="10">
                  <c:v>17.86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BAA-4AA9-830E-5265E08A5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6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Risk / Standard Deviation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  <c:majorUnit val="5"/>
      </c:valAx>
      <c:valAx>
        <c:axId val="2094734552"/>
        <c:scaling>
          <c:orientation val="minMax"/>
          <c:max val="23"/>
          <c:min val="5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Expected Return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3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Minimum Variance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Govt Bonds</c:v>
                </c:pt>
                <c:pt idx="1">
                  <c:v>Corp Bonds</c:v>
                </c:pt>
                <c:pt idx="2">
                  <c:v>MF L&amp;M Cap</c:v>
                </c:pt>
                <c:pt idx="3">
                  <c:v>Gold</c:v>
                </c:pt>
                <c:pt idx="4">
                  <c:v>Small Cap</c:v>
                </c:pt>
                <c:pt idx="5">
                  <c:v>L-S AIF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40</c:v>
                </c:pt>
                <c:pt idx="2">
                  <c:v>7.68</c:v>
                </c:pt>
                <c:pt idx="3">
                  <c:v>12.32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F-4018-806F-D4812BA108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Tangency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Govt Bonds</c:v>
                </c:pt>
                <c:pt idx="1">
                  <c:v>Corp Bonds</c:v>
                </c:pt>
                <c:pt idx="2">
                  <c:v>MF L&amp;M Cap</c:v>
                </c:pt>
                <c:pt idx="3">
                  <c:v>Gold</c:v>
                </c:pt>
                <c:pt idx="4">
                  <c:v>Small Cap</c:v>
                </c:pt>
                <c:pt idx="5">
                  <c:v>L-S AIF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31.97</c:v>
                </c:pt>
                <c:pt idx="2">
                  <c:v>0</c:v>
                </c:pt>
                <c:pt idx="3">
                  <c:v>40</c:v>
                </c:pt>
                <c:pt idx="4">
                  <c:v>21.83</c:v>
                </c:pt>
                <c:pt idx="5">
                  <c:v>6.19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BF-4018-806F-D4812BA108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Portfolio weight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Utility Curve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0</c:v>
                </c:pt>
                <c:pt idx="15">
                  <c:v>5</c:v>
                </c:pt>
                <c:pt idx="16">
                  <c:v>7</c:v>
                </c:pt>
                <c:pt idx="17">
                  <c:v>8</c:v>
                </c:pt>
                <c:pt idx="18">
                  <c:v>10</c:v>
                </c:pt>
                <c:pt idx="19">
                  <c:v>15</c:v>
                </c:pt>
                <c:pt idx="20">
                  <c:v>15</c:v>
                </c:pt>
                <c:pt idx="21">
                  <c:v>20</c:v>
                </c:pt>
                <c:pt idx="22">
                  <c:v>25</c:v>
                </c:pt>
                <c:pt idx="23">
                  <c:v>0</c:v>
                </c:pt>
                <c:pt idx="24">
                  <c:v>8.3699999999999992</c:v>
                </c:pt>
                <c:pt idx="25">
                  <c:v>14.23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7.48</c:v>
                </c:pt>
                <c:pt idx="1">
                  <c:v>7.88</c:v>
                </c:pt>
                <c:pt idx="2">
                  <c:v>7.88</c:v>
                </c:pt>
                <c:pt idx="3">
                  <c:v>8.8800000000000008</c:v>
                </c:pt>
                <c:pt idx="4">
                  <c:v>10.39</c:v>
                </c:pt>
                <c:pt idx="5">
                  <c:v>10.39</c:v>
                </c:pt>
                <c:pt idx="6">
                  <c:v>11.28</c:v>
                </c:pt>
                <c:pt idx="7">
                  <c:v>11.94</c:v>
                </c:pt>
                <c:pt idx="8">
                  <c:v>12.88</c:v>
                </c:pt>
                <c:pt idx="9">
                  <c:v>9.7200000000000006</c:v>
                </c:pt>
                <c:pt idx="10">
                  <c:v>11.55</c:v>
                </c:pt>
                <c:pt idx="11">
                  <c:v>15.58</c:v>
                </c:pt>
                <c:pt idx="12">
                  <c:v>16.88</c:v>
                </c:pt>
                <c:pt idx="13">
                  <c:v>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8A-434F-B0F4-FB3E40F420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 Utility Curve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0</c:v>
                </c:pt>
                <c:pt idx="15">
                  <c:v>5</c:v>
                </c:pt>
                <c:pt idx="16">
                  <c:v>7</c:v>
                </c:pt>
                <c:pt idx="17">
                  <c:v>8</c:v>
                </c:pt>
                <c:pt idx="18">
                  <c:v>10</c:v>
                </c:pt>
                <c:pt idx="19">
                  <c:v>15</c:v>
                </c:pt>
                <c:pt idx="20">
                  <c:v>15</c:v>
                </c:pt>
                <c:pt idx="21">
                  <c:v>20</c:v>
                </c:pt>
                <c:pt idx="22">
                  <c:v>25</c:v>
                </c:pt>
                <c:pt idx="23">
                  <c:v>0</c:v>
                </c:pt>
                <c:pt idx="24">
                  <c:v>8.3699999999999992</c:v>
                </c:pt>
                <c:pt idx="25">
                  <c:v>14.23</c:v>
                </c:pt>
              </c:numCache>
            </c:numRef>
          </c:xVal>
          <c:yVal>
            <c:numRef>
              <c:f>Sheet1!$C$2:$C$27</c:f>
              <c:numCache>
                <c:formatCode>General</c:formatCode>
                <c:ptCount val="26"/>
                <c:pt idx="14">
                  <c:v>7</c:v>
                </c:pt>
                <c:pt idx="15">
                  <c:v>8.8800000000000008</c:v>
                </c:pt>
                <c:pt idx="16">
                  <c:v>9.76</c:v>
                </c:pt>
                <c:pt idx="17">
                  <c:v>9.68</c:v>
                </c:pt>
                <c:pt idx="18">
                  <c:v>11.5</c:v>
                </c:pt>
                <c:pt idx="19">
                  <c:v>10.88</c:v>
                </c:pt>
                <c:pt idx="20">
                  <c:v>10.88</c:v>
                </c:pt>
                <c:pt idx="21">
                  <c:v>13</c:v>
                </c:pt>
                <c:pt idx="22">
                  <c:v>18.88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D8A-434F-B0F4-FB3E40F420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 (Utility) Line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0</c:v>
                </c:pt>
                <c:pt idx="15">
                  <c:v>5</c:v>
                </c:pt>
                <c:pt idx="16">
                  <c:v>7</c:v>
                </c:pt>
                <c:pt idx="17">
                  <c:v>8</c:v>
                </c:pt>
                <c:pt idx="18">
                  <c:v>10</c:v>
                </c:pt>
                <c:pt idx="19">
                  <c:v>15</c:v>
                </c:pt>
                <c:pt idx="20">
                  <c:v>15</c:v>
                </c:pt>
                <c:pt idx="21">
                  <c:v>20</c:v>
                </c:pt>
                <c:pt idx="22">
                  <c:v>25</c:v>
                </c:pt>
                <c:pt idx="23">
                  <c:v>0</c:v>
                </c:pt>
                <c:pt idx="24">
                  <c:v>8.3699999999999992</c:v>
                </c:pt>
                <c:pt idx="25">
                  <c:v>14.23</c:v>
                </c:pt>
              </c:numCache>
            </c:numRef>
          </c:xVal>
          <c:yVal>
            <c:numRef>
              <c:f>Sheet1!$D$2:$D$27</c:f>
              <c:numCache>
                <c:formatCode>General</c:formatCode>
                <c:ptCount val="26"/>
                <c:pt idx="23">
                  <c:v>7.5</c:v>
                </c:pt>
                <c:pt idx="24">
                  <c:v>13.24</c:v>
                </c:pt>
                <c:pt idx="25">
                  <c:v>16.84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D8A-434F-B0F4-FB3E40F42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5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Standard Deviation (SD)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  <c:majorUnit val="5"/>
      </c:valAx>
      <c:valAx>
        <c:axId val="2094734552"/>
        <c:scaling>
          <c:orientation val="minMax"/>
          <c:max val="20"/>
          <c:min val="5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Utility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&quot;%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Portfolio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3E5C99"/>
              </a:solidFill>
              <a:ln w="3175" cap="flat">
                <a:solidFill>
                  <a:srgbClr val="3E5C99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9.6300000000000008</c:v>
                </c:pt>
                <c:pt idx="301">
                  <c:v>11.52</c:v>
                </c:pt>
                <c:pt idx="302">
                  <c:v>13.14</c:v>
                </c:pt>
                <c:pt idx="303">
                  <c:v>14.58</c:v>
                </c:pt>
                <c:pt idx="304">
                  <c:v>15.9</c:v>
                </c:pt>
                <c:pt idx="305">
                  <c:v>17.11</c:v>
                </c:pt>
                <c:pt idx="306">
                  <c:v>29.88</c:v>
                </c:pt>
                <c:pt idx="307">
                  <c:v>38.64</c:v>
                </c:pt>
                <c:pt idx="308">
                  <c:v>45.75</c:v>
                </c:pt>
                <c:pt idx="309">
                  <c:v>51.89</c:v>
                </c:pt>
                <c:pt idx="310">
                  <c:v>57.38</c:v>
                </c:pt>
                <c:pt idx="311">
                  <c:v>62.39</c:v>
                </c:pt>
              </c:numCache>
            </c:numRef>
          </c:xVal>
          <c:yVal>
            <c:numRef>
              <c:f>Sheet1!$B$2:$B$313</c:f>
              <c:numCache>
                <c:formatCode>General</c:formatCode>
                <c:ptCount val="312"/>
                <c:pt idx="0">
                  <c:v>11.621</c:v>
                </c:pt>
                <c:pt idx="1">
                  <c:v>12.212</c:v>
                </c:pt>
                <c:pt idx="2">
                  <c:v>12.468</c:v>
                </c:pt>
                <c:pt idx="3">
                  <c:v>12.545999999999999</c:v>
                </c:pt>
                <c:pt idx="4">
                  <c:v>11.554</c:v>
                </c:pt>
                <c:pt idx="5">
                  <c:v>12.510999999999999</c:v>
                </c:pt>
                <c:pt idx="6">
                  <c:v>12.452999999999999</c:v>
                </c:pt>
                <c:pt idx="7">
                  <c:v>12.345000000000001</c:v>
                </c:pt>
                <c:pt idx="8">
                  <c:v>12.542999999999999</c:v>
                </c:pt>
                <c:pt idx="9">
                  <c:v>12.462</c:v>
                </c:pt>
                <c:pt idx="10">
                  <c:v>13.012</c:v>
                </c:pt>
                <c:pt idx="11">
                  <c:v>12.663</c:v>
                </c:pt>
                <c:pt idx="12">
                  <c:v>12.754</c:v>
                </c:pt>
                <c:pt idx="13">
                  <c:v>13.375999999999999</c:v>
                </c:pt>
                <c:pt idx="14">
                  <c:v>12.763999999999999</c:v>
                </c:pt>
                <c:pt idx="15">
                  <c:v>13.561</c:v>
                </c:pt>
                <c:pt idx="16">
                  <c:v>12.872</c:v>
                </c:pt>
                <c:pt idx="17">
                  <c:v>12.903</c:v>
                </c:pt>
                <c:pt idx="18">
                  <c:v>12.531000000000001</c:v>
                </c:pt>
                <c:pt idx="19">
                  <c:v>12.36</c:v>
                </c:pt>
                <c:pt idx="20">
                  <c:v>11.852</c:v>
                </c:pt>
                <c:pt idx="21">
                  <c:v>12.843</c:v>
                </c:pt>
                <c:pt idx="22">
                  <c:v>12.75</c:v>
                </c:pt>
                <c:pt idx="23">
                  <c:v>12.544</c:v>
                </c:pt>
                <c:pt idx="24">
                  <c:v>12.558</c:v>
                </c:pt>
                <c:pt idx="25">
                  <c:v>12.667</c:v>
                </c:pt>
                <c:pt idx="26">
                  <c:v>13.214</c:v>
                </c:pt>
                <c:pt idx="27">
                  <c:v>13.224</c:v>
                </c:pt>
                <c:pt idx="28">
                  <c:v>12.805999999999999</c:v>
                </c:pt>
                <c:pt idx="29">
                  <c:v>13.571999999999999</c:v>
                </c:pt>
                <c:pt idx="30">
                  <c:v>13.118</c:v>
                </c:pt>
                <c:pt idx="31">
                  <c:v>12.957000000000001</c:v>
                </c:pt>
                <c:pt idx="32">
                  <c:v>13.506</c:v>
                </c:pt>
                <c:pt idx="33">
                  <c:v>13.343999999999999</c:v>
                </c:pt>
                <c:pt idx="34">
                  <c:v>13.34</c:v>
                </c:pt>
                <c:pt idx="35">
                  <c:v>13.538</c:v>
                </c:pt>
                <c:pt idx="36">
                  <c:v>12.599</c:v>
                </c:pt>
                <c:pt idx="37">
                  <c:v>13.742000000000001</c:v>
                </c:pt>
                <c:pt idx="38">
                  <c:v>13.157</c:v>
                </c:pt>
                <c:pt idx="39">
                  <c:v>12.862</c:v>
                </c:pt>
                <c:pt idx="40">
                  <c:v>13.182</c:v>
                </c:pt>
                <c:pt idx="41">
                  <c:v>13.273999999999999</c:v>
                </c:pt>
                <c:pt idx="42">
                  <c:v>13.587999999999999</c:v>
                </c:pt>
                <c:pt idx="43">
                  <c:v>13.473000000000001</c:v>
                </c:pt>
                <c:pt idx="44">
                  <c:v>13.544</c:v>
                </c:pt>
                <c:pt idx="45">
                  <c:v>13.19</c:v>
                </c:pt>
                <c:pt idx="46">
                  <c:v>13.32</c:v>
                </c:pt>
                <c:pt idx="47">
                  <c:v>13.587999999999999</c:v>
                </c:pt>
                <c:pt idx="48">
                  <c:v>12.763</c:v>
                </c:pt>
                <c:pt idx="49">
                  <c:v>14.119</c:v>
                </c:pt>
                <c:pt idx="50">
                  <c:v>12.925000000000001</c:v>
                </c:pt>
                <c:pt idx="51">
                  <c:v>13.715</c:v>
                </c:pt>
                <c:pt idx="52">
                  <c:v>13.426</c:v>
                </c:pt>
                <c:pt idx="53">
                  <c:v>13.157999999999999</c:v>
                </c:pt>
                <c:pt idx="54">
                  <c:v>13.096</c:v>
                </c:pt>
                <c:pt idx="55">
                  <c:v>13.887</c:v>
                </c:pt>
                <c:pt idx="56">
                  <c:v>13.587999999999999</c:v>
                </c:pt>
                <c:pt idx="57">
                  <c:v>13.420999999999999</c:v>
                </c:pt>
                <c:pt idx="58">
                  <c:v>13.723000000000001</c:v>
                </c:pt>
                <c:pt idx="59">
                  <c:v>13.525</c:v>
                </c:pt>
                <c:pt idx="60">
                  <c:v>13.909000000000001</c:v>
                </c:pt>
                <c:pt idx="61">
                  <c:v>13.493</c:v>
                </c:pt>
                <c:pt idx="62">
                  <c:v>13.135</c:v>
                </c:pt>
                <c:pt idx="63">
                  <c:v>13.888</c:v>
                </c:pt>
                <c:pt idx="64">
                  <c:v>13.904999999999999</c:v>
                </c:pt>
                <c:pt idx="65">
                  <c:v>13.760999999999999</c:v>
                </c:pt>
                <c:pt idx="66">
                  <c:v>13.819000000000001</c:v>
                </c:pt>
                <c:pt idx="67">
                  <c:v>13.733000000000001</c:v>
                </c:pt>
                <c:pt idx="68">
                  <c:v>13.54</c:v>
                </c:pt>
                <c:pt idx="69">
                  <c:v>13.448</c:v>
                </c:pt>
                <c:pt idx="70">
                  <c:v>13.08</c:v>
                </c:pt>
                <c:pt idx="71">
                  <c:v>13.207000000000001</c:v>
                </c:pt>
                <c:pt idx="72">
                  <c:v>13.226000000000001</c:v>
                </c:pt>
                <c:pt idx="73">
                  <c:v>13.12</c:v>
                </c:pt>
                <c:pt idx="74">
                  <c:v>13.571</c:v>
                </c:pt>
                <c:pt idx="75">
                  <c:v>13.807</c:v>
                </c:pt>
                <c:pt idx="76">
                  <c:v>13.939</c:v>
                </c:pt>
                <c:pt idx="77">
                  <c:v>13.263</c:v>
                </c:pt>
                <c:pt idx="78">
                  <c:v>13.602</c:v>
                </c:pt>
                <c:pt idx="79">
                  <c:v>13.284000000000001</c:v>
                </c:pt>
                <c:pt idx="80">
                  <c:v>13.76</c:v>
                </c:pt>
                <c:pt idx="81">
                  <c:v>13.912000000000001</c:v>
                </c:pt>
                <c:pt idx="82">
                  <c:v>13.253</c:v>
                </c:pt>
                <c:pt idx="83">
                  <c:v>13.689</c:v>
                </c:pt>
                <c:pt idx="84">
                  <c:v>14.433</c:v>
                </c:pt>
                <c:pt idx="85">
                  <c:v>13.435</c:v>
                </c:pt>
                <c:pt idx="86">
                  <c:v>13.295</c:v>
                </c:pt>
                <c:pt idx="87">
                  <c:v>14.015000000000001</c:v>
                </c:pt>
                <c:pt idx="88">
                  <c:v>14.004</c:v>
                </c:pt>
                <c:pt idx="89">
                  <c:v>13.079000000000001</c:v>
                </c:pt>
                <c:pt idx="90">
                  <c:v>13.215</c:v>
                </c:pt>
                <c:pt idx="91">
                  <c:v>13.991</c:v>
                </c:pt>
                <c:pt idx="92">
                  <c:v>13.44</c:v>
                </c:pt>
                <c:pt idx="93">
                  <c:v>13.971</c:v>
                </c:pt>
                <c:pt idx="94">
                  <c:v>14.27</c:v>
                </c:pt>
                <c:pt idx="95">
                  <c:v>13.75</c:v>
                </c:pt>
                <c:pt idx="96">
                  <c:v>14.273</c:v>
                </c:pt>
                <c:pt idx="97">
                  <c:v>13.353999999999999</c:v>
                </c:pt>
                <c:pt idx="98">
                  <c:v>14.092000000000001</c:v>
                </c:pt>
                <c:pt idx="99">
                  <c:v>13.93</c:v>
                </c:pt>
                <c:pt idx="100">
                  <c:v>13.31</c:v>
                </c:pt>
                <c:pt idx="101">
                  <c:v>14.484999999999999</c:v>
                </c:pt>
                <c:pt idx="102">
                  <c:v>13.909000000000001</c:v>
                </c:pt>
                <c:pt idx="103">
                  <c:v>13.852</c:v>
                </c:pt>
                <c:pt idx="104">
                  <c:v>13.954000000000001</c:v>
                </c:pt>
                <c:pt idx="105">
                  <c:v>14.205</c:v>
                </c:pt>
                <c:pt idx="106">
                  <c:v>13.044</c:v>
                </c:pt>
                <c:pt idx="107">
                  <c:v>13.582000000000001</c:v>
                </c:pt>
                <c:pt idx="108">
                  <c:v>14.286</c:v>
                </c:pt>
                <c:pt idx="109">
                  <c:v>14.099</c:v>
                </c:pt>
                <c:pt idx="110">
                  <c:v>13.933</c:v>
                </c:pt>
                <c:pt idx="111">
                  <c:v>13.715999999999999</c:v>
                </c:pt>
                <c:pt idx="112">
                  <c:v>14.086</c:v>
                </c:pt>
                <c:pt idx="113">
                  <c:v>14.225</c:v>
                </c:pt>
                <c:pt idx="114">
                  <c:v>13.613</c:v>
                </c:pt>
                <c:pt idx="115">
                  <c:v>14.082000000000001</c:v>
                </c:pt>
                <c:pt idx="116">
                  <c:v>14.252000000000001</c:v>
                </c:pt>
                <c:pt idx="117">
                  <c:v>14.180999999999999</c:v>
                </c:pt>
                <c:pt idx="118">
                  <c:v>14.265000000000001</c:v>
                </c:pt>
                <c:pt idx="119">
                  <c:v>14.113</c:v>
                </c:pt>
                <c:pt idx="120">
                  <c:v>14.092000000000001</c:v>
                </c:pt>
                <c:pt idx="121">
                  <c:v>14.417999999999999</c:v>
                </c:pt>
                <c:pt idx="122">
                  <c:v>14.369</c:v>
                </c:pt>
                <c:pt idx="123">
                  <c:v>14.169</c:v>
                </c:pt>
                <c:pt idx="124">
                  <c:v>14.586</c:v>
                </c:pt>
                <c:pt idx="125">
                  <c:v>13.792999999999999</c:v>
                </c:pt>
                <c:pt idx="126">
                  <c:v>13.481999999999999</c:v>
                </c:pt>
                <c:pt idx="127">
                  <c:v>14.634</c:v>
                </c:pt>
                <c:pt idx="128">
                  <c:v>14.513999999999999</c:v>
                </c:pt>
                <c:pt idx="129">
                  <c:v>14.794</c:v>
                </c:pt>
                <c:pt idx="130">
                  <c:v>14.63</c:v>
                </c:pt>
                <c:pt idx="131">
                  <c:v>14.205</c:v>
                </c:pt>
                <c:pt idx="132">
                  <c:v>14.294</c:v>
                </c:pt>
                <c:pt idx="133">
                  <c:v>13.587</c:v>
                </c:pt>
                <c:pt idx="134">
                  <c:v>13.644</c:v>
                </c:pt>
                <c:pt idx="135">
                  <c:v>14.436999999999999</c:v>
                </c:pt>
                <c:pt idx="136">
                  <c:v>14.117000000000001</c:v>
                </c:pt>
                <c:pt idx="137">
                  <c:v>14.018000000000001</c:v>
                </c:pt>
                <c:pt idx="138">
                  <c:v>14.023999999999999</c:v>
                </c:pt>
                <c:pt idx="139">
                  <c:v>13.86</c:v>
                </c:pt>
                <c:pt idx="140">
                  <c:v>13.847</c:v>
                </c:pt>
                <c:pt idx="141">
                  <c:v>13.984</c:v>
                </c:pt>
                <c:pt idx="142">
                  <c:v>14.109</c:v>
                </c:pt>
                <c:pt idx="143">
                  <c:v>14.303000000000001</c:v>
                </c:pt>
                <c:pt idx="144">
                  <c:v>13.811</c:v>
                </c:pt>
                <c:pt idx="145">
                  <c:v>14.582000000000001</c:v>
                </c:pt>
                <c:pt idx="146">
                  <c:v>13.792</c:v>
                </c:pt>
                <c:pt idx="147">
                  <c:v>13.71</c:v>
                </c:pt>
                <c:pt idx="148">
                  <c:v>13.92</c:v>
                </c:pt>
                <c:pt idx="149">
                  <c:v>14.063000000000001</c:v>
                </c:pt>
                <c:pt idx="150">
                  <c:v>14.170999999999999</c:v>
                </c:pt>
                <c:pt idx="151">
                  <c:v>15.116</c:v>
                </c:pt>
                <c:pt idx="152">
                  <c:v>14.654999999999999</c:v>
                </c:pt>
                <c:pt idx="153">
                  <c:v>14.307</c:v>
                </c:pt>
                <c:pt idx="154">
                  <c:v>13.538</c:v>
                </c:pt>
                <c:pt idx="155">
                  <c:v>13.535</c:v>
                </c:pt>
                <c:pt idx="156">
                  <c:v>14.545</c:v>
                </c:pt>
                <c:pt idx="157">
                  <c:v>14.467000000000001</c:v>
                </c:pt>
                <c:pt idx="158">
                  <c:v>14.387</c:v>
                </c:pt>
                <c:pt idx="159">
                  <c:v>14.048999999999999</c:v>
                </c:pt>
                <c:pt idx="160">
                  <c:v>13.984</c:v>
                </c:pt>
                <c:pt idx="161">
                  <c:v>14.515000000000001</c:v>
                </c:pt>
                <c:pt idx="162">
                  <c:v>14.82</c:v>
                </c:pt>
                <c:pt idx="163">
                  <c:v>14.036</c:v>
                </c:pt>
                <c:pt idx="164">
                  <c:v>13.878</c:v>
                </c:pt>
                <c:pt idx="165">
                  <c:v>14.52</c:v>
                </c:pt>
                <c:pt idx="166">
                  <c:v>14.747999999999999</c:v>
                </c:pt>
                <c:pt idx="167">
                  <c:v>14.31</c:v>
                </c:pt>
                <c:pt idx="168">
                  <c:v>14.129</c:v>
                </c:pt>
                <c:pt idx="169">
                  <c:v>14.558</c:v>
                </c:pt>
                <c:pt idx="170">
                  <c:v>14.48</c:v>
                </c:pt>
                <c:pt idx="171">
                  <c:v>13.917999999999999</c:v>
                </c:pt>
                <c:pt idx="172">
                  <c:v>14.472</c:v>
                </c:pt>
                <c:pt idx="173">
                  <c:v>14.323</c:v>
                </c:pt>
                <c:pt idx="174">
                  <c:v>15.170999999999999</c:v>
                </c:pt>
                <c:pt idx="175">
                  <c:v>14.374000000000001</c:v>
                </c:pt>
                <c:pt idx="176">
                  <c:v>14.314</c:v>
                </c:pt>
                <c:pt idx="177">
                  <c:v>14.35</c:v>
                </c:pt>
                <c:pt idx="178">
                  <c:v>14.925000000000001</c:v>
                </c:pt>
                <c:pt idx="179">
                  <c:v>13.766999999999999</c:v>
                </c:pt>
                <c:pt idx="180">
                  <c:v>14.91</c:v>
                </c:pt>
                <c:pt idx="181">
                  <c:v>14.644</c:v>
                </c:pt>
                <c:pt idx="182">
                  <c:v>14.717000000000001</c:v>
                </c:pt>
                <c:pt idx="183">
                  <c:v>14.47</c:v>
                </c:pt>
                <c:pt idx="184">
                  <c:v>14.444000000000001</c:v>
                </c:pt>
                <c:pt idx="185">
                  <c:v>14.991</c:v>
                </c:pt>
                <c:pt idx="186">
                  <c:v>13.978</c:v>
                </c:pt>
                <c:pt idx="187">
                  <c:v>14.449</c:v>
                </c:pt>
                <c:pt idx="188">
                  <c:v>14.308999999999999</c:v>
                </c:pt>
                <c:pt idx="189">
                  <c:v>14.045999999999999</c:v>
                </c:pt>
                <c:pt idx="190">
                  <c:v>14.647</c:v>
                </c:pt>
                <c:pt idx="191">
                  <c:v>14.335000000000001</c:v>
                </c:pt>
                <c:pt idx="192">
                  <c:v>13.967000000000001</c:v>
                </c:pt>
                <c:pt idx="193">
                  <c:v>14.241</c:v>
                </c:pt>
                <c:pt idx="194">
                  <c:v>14.481999999999999</c:v>
                </c:pt>
                <c:pt idx="195">
                  <c:v>15.221</c:v>
                </c:pt>
                <c:pt idx="196">
                  <c:v>13.87</c:v>
                </c:pt>
                <c:pt idx="197">
                  <c:v>14.010999999999999</c:v>
                </c:pt>
                <c:pt idx="198">
                  <c:v>15.161</c:v>
                </c:pt>
                <c:pt idx="199">
                  <c:v>14.978999999999999</c:v>
                </c:pt>
                <c:pt idx="200">
                  <c:v>14.772</c:v>
                </c:pt>
                <c:pt idx="201">
                  <c:v>14.497999999999999</c:v>
                </c:pt>
                <c:pt idx="202">
                  <c:v>14.619</c:v>
                </c:pt>
                <c:pt idx="203">
                  <c:v>14.599</c:v>
                </c:pt>
                <c:pt idx="204">
                  <c:v>14.804</c:v>
                </c:pt>
                <c:pt idx="205">
                  <c:v>14.156000000000001</c:v>
                </c:pt>
                <c:pt idx="206">
                  <c:v>14.272</c:v>
                </c:pt>
                <c:pt idx="207">
                  <c:v>14.869</c:v>
                </c:pt>
                <c:pt idx="208">
                  <c:v>14.476000000000001</c:v>
                </c:pt>
                <c:pt idx="209">
                  <c:v>15.036</c:v>
                </c:pt>
                <c:pt idx="210">
                  <c:v>14.7</c:v>
                </c:pt>
                <c:pt idx="211">
                  <c:v>14.032999999999999</c:v>
                </c:pt>
                <c:pt idx="212">
                  <c:v>14.058999999999999</c:v>
                </c:pt>
                <c:pt idx="213">
                  <c:v>14.801</c:v>
                </c:pt>
                <c:pt idx="214">
                  <c:v>14.319000000000001</c:v>
                </c:pt>
                <c:pt idx="215">
                  <c:v>14.816000000000001</c:v>
                </c:pt>
                <c:pt idx="216">
                  <c:v>14.632999999999999</c:v>
                </c:pt>
                <c:pt idx="217">
                  <c:v>15.115</c:v>
                </c:pt>
                <c:pt idx="218">
                  <c:v>14.72</c:v>
                </c:pt>
                <c:pt idx="219">
                  <c:v>15.073</c:v>
                </c:pt>
                <c:pt idx="220">
                  <c:v>15.132999999999999</c:v>
                </c:pt>
                <c:pt idx="221">
                  <c:v>15.416</c:v>
                </c:pt>
                <c:pt idx="222">
                  <c:v>15.039</c:v>
                </c:pt>
                <c:pt idx="223">
                  <c:v>15.071999999999999</c:v>
                </c:pt>
                <c:pt idx="224">
                  <c:v>14.423</c:v>
                </c:pt>
                <c:pt idx="225">
                  <c:v>15.345000000000001</c:v>
                </c:pt>
                <c:pt idx="226">
                  <c:v>15.076000000000001</c:v>
                </c:pt>
                <c:pt idx="227">
                  <c:v>14.673</c:v>
                </c:pt>
                <c:pt idx="228">
                  <c:v>14.286</c:v>
                </c:pt>
                <c:pt idx="229">
                  <c:v>14.135999999999999</c:v>
                </c:pt>
                <c:pt idx="230">
                  <c:v>14.792999999999999</c:v>
                </c:pt>
                <c:pt idx="231">
                  <c:v>15.433999999999999</c:v>
                </c:pt>
                <c:pt idx="232">
                  <c:v>15.048</c:v>
                </c:pt>
                <c:pt idx="233">
                  <c:v>15.298999999999999</c:v>
                </c:pt>
                <c:pt idx="234">
                  <c:v>15.17</c:v>
                </c:pt>
                <c:pt idx="235">
                  <c:v>14.853999999999999</c:v>
                </c:pt>
                <c:pt idx="236">
                  <c:v>14.81</c:v>
                </c:pt>
                <c:pt idx="237">
                  <c:v>14.757</c:v>
                </c:pt>
                <c:pt idx="238">
                  <c:v>14.489000000000001</c:v>
                </c:pt>
                <c:pt idx="239">
                  <c:v>14.552</c:v>
                </c:pt>
                <c:pt idx="240">
                  <c:v>15.353999999999999</c:v>
                </c:pt>
                <c:pt idx="241">
                  <c:v>15.817</c:v>
                </c:pt>
                <c:pt idx="242">
                  <c:v>14.893000000000001</c:v>
                </c:pt>
                <c:pt idx="243">
                  <c:v>14.478</c:v>
                </c:pt>
                <c:pt idx="244">
                  <c:v>14.884</c:v>
                </c:pt>
                <c:pt idx="245">
                  <c:v>15.053000000000001</c:v>
                </c:pt>
                <c:pt idx="246">
                  <c:v>14.888</c:v>
                </c:pt>
                <c:pt idx="247">
                  <c:v>15.628</c:v>
                </c:pt>
                <c:pt idx="248">
                  <c:v>14.848000000000001</c:v>
                </c:pt>
                <c:pt idx="249">
                  <c:v>14.994</c:v>
                </c:pt>
                <c:pt idx="250">
                  <c:v>15.428000000000001</c:v>
                </c:pt>
                <c:pt idx="251">
                  <c:v>14.901</c:v>
                </c:pt>
                <c:pt idx="252">
                  <c:v>15.038</c:v>
                </c:pt>
                <c:pt idx="253">
                  <c:v>14.538</c:v>
                </c:pt>
                <c:pt idx="254">
                  <c:v>15.138</c:v>
                </c:pt>
                <c:pt idx="255">
                  <c:v>15.427</c:v>
                </c:pt>
                <c:pt idx="256">
                  <c:v>16.143000000000001</c:v>
                </c:pt>
                <c:pt idx="257">
                  <c:v>15.225</c:v>
                </c:pt>
                <c:pt idx="258">
                  <c:v>16.058</c:v>
                </c:pt>
                <c:pt idx="259">
                  <c:v>15.709</c:v>
                </c:pt>
                <c:pt idx="260">
                  <c:v>14.898</c:v>
                </c:pt>
                <c:pt idx="261">
                  <c:v>15.635</c:v>
                </c:pt>
                <c:pt idx="262">
                  <c:v>15.041</c:v>
                </c:pt>
                <c:pt idx="263">
                  <c:v>15.888</c:v>
                </c:pt>
                <c:pt idx="264">
                  <c:v>15.064</c:v>
                </c:pt>
                <c:pt idx="265">
                  <c:v>15.144</c:v>
                </c:pt>
                <c:pt idx="266">
                  <c:v>14.86</c:v>
                </c:pt>
                <c:pt idx="267">
                  <c:v>15.763</c:v>
                </c:pt>
                <c:pt idx="268">
                  <c:v>15.217000000000001</c:v>
                </c:pt>
                <c:pt idx="269">
                  <c:v>15.702999999999999</c:v>
                </c:pt>
                <c:pt idx="270">
                  <c:v>15.843</c:v>
                </c:pt>
                <c:pt idx="271">
                  <c:v>16.007999999999999</c:v>
                </c:pt>
                <c:pt idx="272">
                  <c:v>15.648</c:v>
                </c:pt>
                <c:pt idx="273">
                  <c:v>15.114000000000001</c:v>
                </c:pt>
                <c:pt idx="274">
                  <c:v>15.939</c:v>
                </c:pt>
                <c:pt idx="275">
                  <c:v>15.833</c:v>
                </c:pt>
                <c:pt idx="276">
                  <c:v>15.16</c:v>
                </c:pt>
                <c:pt idx="277">
                  <c:v>15.263</c:v>
                </c:pt>
                <c:pt idx="278">
                  <c:v>15.797000000000001</c:v>
                </c:pt>
                <c:pt idx="279">
                  <c:v>15.105</c:v>
                </c:pt>
                <c:pt idx="280">
                  <c:v>15.625</c:v>
                </c:pt>
                <c:pt idx="281">
                  <c:v>15.54</c:v>
                </c:pt>
                <c:pt idx="282">
                  <c:v>15.544</c:v>
                </c:pt>
                <c:pt idx="283">
                  <c:v>15.803000000000001</c:v>
                </c:pt>
                <c:pt idx="284">
                  <c:v>15.786</c:v>
                </c:pt>
                <c:pt idx="285">
                  <c:v>15.635</c:v>
                </c:pt>
                <c:pt idx="286">
                  <c:v>15.72</c:v>
                </c:pt>
                <c:pt idx="287">
                  <c:v>15.532999999999999</c:v>
                </c:pt>
                <c:pt idx="288">
                  <c:v>16.084</c:v>
                </c:pt>
                <c:pt idx="289">
                  <c:v>15.42</c:v>
                </c:pt>
                <c:pt idx="290">
                  <c:v>15.552</c:v>
                </c:pt>
                <c:pt idx="291">
                  <c:v>15.571</c:v>
                </c:pt>
                <c:pt idx="292">
                  <c:v>15.891999999999999</c:v>
                </c:pt>
                <c:pt idx="293">
                  <c:v>15.846</c:v>
                </c:pt>
                <c:pt idx="294">
                  <c:v>15.379</c:v>
                </c:pt>
                <c:pt idx="295">
                  <c:v>16.045000000000002</c:v>
                </c:pt>
                <c:pt idx="296">
                  <c:v>16.172000000000001</c:v>
                </c:pt>
                <c:pt idx="297">
                  <c:v>16.334</c:v>
                </c:pt>
                <c:pt idx="298">
                  <c:v>15.994999999999999</c:v>
                </c:pt>
                <c:pt idx="299">
                  <c:v>17.102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03B-4A04-BA8C-9C151AE63C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Deven's IC Curve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317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9.6300000000000008</c:v>
                </c:pt>
                <c:pt idx="301">
                  <c:v>11.52</c:v>
                </c:pt>
                <c:pt idx="302">
                  <c:v>13.14</c:v>
                </c:pt>
                <c:pt idx="303">
                  <c:v>14.58</c:v>
                </c:pt>
                <c:pt idx="304">
                  <c:v>15.9</c:v>
                </c:pt>
                <c:pt idx="305">
                  <c:v>17.11</c:v>
                </c:pt>
                <c:pt idx="306">
                  <c:v>29.88</c:v>
                </c:pt>
                <c:pt idx="307">
                  <c:v>38.64</c:v>
                </c:pt>
                <c:pt idx="308">
                  <c:v>45.75</c:v>
                </c:pt>
                <c:pt idx="309">
                  <c:v>51.89</c:v>
                </c:pt>
                <c:pt idx="310">
                  <c:v>57.38</c:v>
                </c:pt>
                <c:pt idx="311">
                  <c:v>62.39</c:v>
                </c:pt>
              </c:numCache>
            </c:numRef>
          </c:xVal>
          <c:yVal>
            <c:numRef>
              <c:f>Sheet1!$C$2:$C$313</c:f>
              <c:numCache>
                <c:formatCode>General</c:formatCode>
                <c:ptCount val="312"/>
                <c:pt idx="300">
                  <c:v>13.67</c:v>
                </c:pt>
                <c:pt idx="301">
                  <c:v>13.87</c:v>
                </c:pt>
                <c:pt idx="302">
                  <c:v>14.07</c:v>
                </c:pt>
                <c:pt idx="303">
                  <c:v>14.27</c:v>
                </c:pt>
                <c:pt idx="304">
                  <c:v>14.47</c:v>
                </c:pt>
                <c:pt idx="305">
                  <c:v>14.67</c:v>
                </c:pt>
                <c:pt idx="306">
                  <c:v>17.670000000000002</c:v>
                </c:pt>
                <c:pt idx="307">
                  <c:v>20.67</c:v>
                </c:pt>
                <c:pt idx="308">
                  <c:v>23.67</c:v>
                </c:pt>
                <c:pt idx="309">
                  <c:v>26.67</c:v>
                </c:pt>
                <c:pt idx="310">
                  <c:v>29.67</c:v>
                </c:pt>
                <c:pt idx="311">
                  <c:v>32.67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03B-4A04-BA8C-9C151AE63C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EF2F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RISK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10"/>
      </c:val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RETURN</a:t>
                </a:r>
              </a:p>
            </c:rich>
          </c:tx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B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Utility Curve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3</c:v>
                </c:pt>
                <c:pt idx="15">
                  <c:v>7</c:v>
                </c:pt>
                <c:pt idx="16">
                  <c:v>8</c:v>
                </c:pt>
                <c:pt idx="17">
                  <c:v>8</c:v>
                </c:pt>
                <c:pt idx="18">
                  <c:v>12</c:v>
                </c:pt>
                <c:pt idx="19">
                  <c:v>13</c:v>
                </c:pt>
                <c:pt idx="20">
                  <c:v>13</c:v>
                </c:pt>
                <c:pt idx="21">
                  <c:v>15</c:v>
                </c:pt>
                <c:pt idx="22">
                  <c:v>18</c:v>
                </c:pt>
                <c:pt idx="23">
                  <c:v>23</c:v>
                </c:pt>
                <c:pt idx="24">
                  <c:v>0</c:v>
                </c:pt>
                <c:pt idx="25">
                  <c:v>8.3699999999999992</c:v>
                </c:pt>
                <c:pt idx="26">
                  <c:v>14.23</c:v>
                </c:pt>
              </c:numCache>
            </c:numRef>
          </c:xVal>
          <c:yVal>
            <c:numRef>
              <c:f>Sheet1!$B$2:$B$28</c:f>
              <c:numCache>
                <c:formatCode>General</c:formatCode>
                <c:ptCount val="27"/>
                <c:pt idx="0">
                  <c:v>7.48</c:v>
                </c:pt>
                <c:pt idx="1">
                  <c:v>7.88</c:v>
                </c:pt>
                <c:pt idx="2">
                  <c:v>7.88</c:v>
                </c:pt>
                <c:pt idx="3">
                  <c:v>8.8800000000000008</c:v>
                </c:pt>
                <c:pt idx="4">
                  <c:v>10.39</c:v>
                </c:pt>
                <c:pt idx="5">
                  <c:v>10.39</c:v>
                </c:pt>
                <c:pt idx="6">
                  <c:v>11.28</c:v>
                </c:pt>
                <c:pt idx="7">
                  <c:v>11.94</c:v>
                </c:pt>
                <c:pt idx="8">
                  <c:v>12.88</c:v>
                </c:pt>
                <c:pt idx="9">
                  <c:v>9.7200000000000006</c:v>
                </c:pt>
                <c:pt idx="10">
                  <c:v>11.55</c:v>
                </c:pt>
                <c:pt idx="11">
                  <c:v>15.58</c:v>
                </c:pt>
                <c:pt idx="12">
                  <c:v>16.88</c:v>
                </c:pt>
                <c:pt idx="13">
                  <c:v>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133-444F-A403-7F85BF86AA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 Utility Curve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3</c:v>
                </c:pt>
                <c:pt idx="15">
                  <c:v>7</c:v>
                </c:pt>
                <c:pt idx="16">
                  <c:v>8</c:v>
                </c:pt>
                <c:pt idx="17">
                  <c:v>8</c:v>
                </c:pt>
                <c:pt idx="18">
                  <c:v>12</c:v>
                </c:pt>
                <c:pt idx="19">
                  <c:v>13</c:v>
                </c:pt>
                <c:pt idx="20">
                  <c:v>13</c:v>
                </c:pt>
                <c:pt idx="21">
                  <c:v>15</c:v>
                </c:pt>
                <c:pt idx="22">
                  <c:v>18</c:v>
                </c:pt>
                <c:pt idx="23">
                  <c:v>23</c:v>
                </c:pt>
                <c:pt idx="24">
                  <c:v>0</c:v>
                </c:pt>
                <c:pt idx="25">
                  <c:v>8.3699999999999992</c:v>
                </c:pt>
                <c:pt idx="26">
                  <c:v>14.23</c:v>
                </c:pt>
              </c:numCache>
            </c:numRef>
          </c:xVal>
          <c:yVal>
            <c:numRef>
              <c:f>Sheet1!$C$2:$C$28</c:f>
              <c:numCache>
                <c:formatCode>General</c:formatCode>
                <c:ptCount val="27"/>
                <c:pt idx="14">
                  <c:v>6.96</c:v>
                </c:pt>
                <c:pt idx="15">
                  <c:v>9.76</c:v>
                </c:pt>
                <c:pt idx="16">
                  <c:v>10.68</c:v>
                </c:pt>
                <c:pt idx="17">
                  <c:v>10.68</c:v>
                </c:pt>
                <c:pt idx="18">
                  <c:v>9.2799999999999994</c:v>
                </c:pt>
                <c:pt idx="19">
                  <c:v>10.15</c:v>
                </c:pt>
                <c:pt idx="20">
                  <c:v>10.15</c:v>
                </c:pt>
                <c:pt idx="21">
                  <c:v>10.88</c:v>
                </c:pt>
                <c:pt idx="22">
                  <c:v>12.38</c:v>
                </c:pt>
                <c:pt idx="23">
                  <c:v>17.36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133-444F-A403-7F85BF86AA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 (Utility) Line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3</c:v>
                </c:pt>
                <c:pt idx="15">
                  <c:v>7</c:v>
                </c:pt>
                <c:pt idx="16">
                  <c:v>8</c:v>
                </c:pt>
                <c:pt idx="17">
                  <c:v>8</c:v>
                </c:pt>
                <c:pt idx="18">
                  <c:v>12</c:v>
                </c:pt>
                <c:pt idx="19">
                  <c:v>13</c:v>
                </c:pt>
                <c:pt idx="20">
                  <c:v>13</c:v>
                </c:pt>
                <c:pt idx="21">
                  <c:v>15</c:v>
                </c:pt>
                <c:pt idx="22">
                  <c:v>18</c:v>
                </c:pt>
                <c:pt idx="23">
                  <c:v>23</c:v>
                </c:pt>
                <c:pt idx="24">
                  <c:v>0</c:v>
                </c:pt>
                <c:pt idx="25">
                  <c:v>8.3699999999999992</c:v>
                </c:pt>
                <c:pt idx="26">
                  <c:v>14.23</c:v>
                </c:pt>
              </c:numCache>
            </c:numRef>
          </c:xVal>
          <c:yVal>
            <c:numRef>
              <c:f>Sheet1!$D$2:$D$28</c:f>
              <c:numCache>
                <c:formatCode>General</c:formatCode>
                <c:ptCount val="27"/>
                <c:pt idx="24">
                  <c:v>7.5</c:v>
                </c:pt>
                <c:pt idx="25">
                  <c:v>13.24</c:v>
                </c:pt>
                <c:pt idx="26">
                  <c:v>16.84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133-444F-A403-7F85BF86A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5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Standard Deviation (SD)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  <c:majorUnit val="5"/>
      </c:valAx>
      <c:valAx>
        <c:axId val="2094734552"/>
        <c:scaling>
          <c:orientation val="minMax"/>
          <c:max val="20"/>
          <c:min val="5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Utility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&quot;%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Portfolio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3E5C99"/>
              </a:solidFill>
              <a:ln w="3175" cap="flat">
                <a:solidFill>
                  <a:srgbClr val="3E5C99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9.49</c:v>
                </c:pt>
                <c:pt idx="301">
                  <c:v>11.4</c:v>
                </c:pt>
                <c:pt idx="302">
                  <c:v>13.04</c:v>
                </c:pt>
                <c:pt idx="303">
                  <c:v>14.49</c:v>
                </c:pt>
                <c:pt idx="304">
                  <c:v>15.81</c:v>
                </c:pt>
                <c:pt idx="305">
                  <c:v>17.03</c:v>
                </c:pt>
                <c:pt idx="306">
                  <c:v>29.83</c:v>
                </c:pt>
                <c:pt idx="307">
                  <c:v>38.6</c:v>
                </c:pt>
                <c:pt idx="308">
                  <c:v>45.72</c:v>
                </c:pt>
                <c:pt idx="309">
                  <c:v>51.87</c:v>
                </c:pt>
                <c:pt idx="310">
                  <c:v>57.36</c:v>
                </c:pt>
                <c:pt idx="311">
                  <c:v>62.37</c:v>
                </c:pt>
              </c:numCache>
            </c:numRef>
          </c:xVal>
          <c:yVal>
            <c:numRef>
              <c:f>Sheet1!$B$2:$B$313</c:f>
              <c:numCache>
                <c:formatCode>General</c:formatCode>
                <c:ptCount val="312"/>
                <c:pt idx="0">
                  <c:v>11.621</c:v>
                </c:pt>
                <c:pt idx="1">
                  <c:v>12.212</c:v>
                </c:pt>
                <c:pt idx="2">
                  <c:v>12.468</c:v>
                </c:pt>
                <c:pt idx="3">
                  <c:v>12.545999999999999</c:v>
                </c:pt>
                <c:pt idx="4">
                  <c:v>11.554</c:v>
                </c:pt>
                <c:pt idx="5">
                  <c:v>12.510999999999999</c:v>
                </c:pt>
                <c:pt idx="6">
                  <c:v>12.452999999999999</c:v>
                </c:pt>
                <c:pt idx="7">
                  <c:v>12.345000000000001</c:v>
                </c:pt>
                <c:pt idx="8">
                  <c:v>12.542999999999999</c:v>
                </c:pt>
                <c:pt idx="9">
                  <c:v>12.462</c:v>
                </c:pt>
                <c:pt idx="10">
                  <c:v>13.012</c:v>
                </c:pt>
                <c:pt idx="11">
                  <c:v>12.663</c:v>
                </c:pt>
                <c:pt idx="12">
                  <c:v>12.754</c:v>
                </c:pt>
                <c:pt idx="13">
                  <c:v>13.375999999999999</c:v>
                </c:pt>
                <c:pt idx="14">
                  <c:v>12.763999999999999</c:v>
                </c:pt>
                <c:pt idx="15">
                  <c:v>13.561</c:v>
                </c:pt>
                <c:pt idx="16">
                  <c:v>12.872</c:v>
                </c:pt>
                <c:pt idx="17">
                  <c:v>12.903</c:v>
                </c:pt>
                <c:pt idx="18">
                  <c:v>12.531000000000001</c:v>
                </c:pt>
                <c:pt idx="19">
                  <c:v>12.36</c:v>
                </c:pt>
                <c:pt idx="20">
                  <c:v>11.852</c:v>
                </c:pt>
                <c:pt idx="21">
                  <c:v>12.843</c:v>
                </c:pt>
                <c:pt idx="22">
                  <c:v>12.75</c:v>
                </c:pt>
                <c:pt idx="23">
                  <c:v>12.544</c:v>
                </c:pt>
                <c:pt idx="24">
                  <c:v>12.558</c:v>
                </c:pt>
                <c:pt idx="25">
                  <c:v>12.667</c:v>
                </c:pt>
                <c:pt idx="26">
                  <c:v>13.214</c:v>
                </c:pt>
                <c:pt idx="27">
                  <c:v>13.224</c:v>
                </c:pt>
                <c:pt idx="28">
                  <c:v>12.805999999999999</c:v>
                </c:pt>
                <c:pt idx="29">
                  <c:v>13.571999999999999</c:v>
                </c:pt>
                <c:pt idx="30">
                  <c:v>13.118</c:v>
                </c:pt>
                <c:pt idx="31">
                  <c:v>12.957000000000001</c:v>
                </c:pt>
                <c:pt idx="32">
                  <c:v>13.506</c:v>
                </c:pt>
                <c:pt idx="33">
                  <c:v>13.343999999999999</c:v>
                </c:pt>
                <c:pt idx="34">
                  <c:v>13.34</c:v>
                </c:pt>
                <c:pt idx="35">
                  <c:v>13.538</c:v>
                </c:pt>
                <c:pt idx="36">
                  <c:v>12.599</c:v>
                </c:pt>
                <c:pt idx="37">
                  <c:v>13.742000000000001</c:v>
                </c:pt>
                <c:pt idx="38">
                  <c:v>13.157</c:v>
                </c:pt>
                <c:pt idx="39">
                  <c:v>12.862</c:v>
                </c:pt>
                <c:pt idx="40">
                  <c:v>13.182</c:v>
                </c:pt>
                <c:pt idx="41">
                  <c:v>13.273999999999999</c:v>
                </c:pt>
                <c:pt idx="42">
                  <c:v>13.587999999999999</c:v>
                </c:pt>
                <c:pt idx="43">
                  <c:v>13.473000000000001</c:v>
                </c:pt>
                <c:pt idx="44">
                  <c:v>13.544</c:v>
                </c:pt>
                <c:pt idx="45">
                  <c:v>13.19</c:v>
                </c:pt>
                <c:pt idx="46">
                  <c:v>13.32</c:v>
                </c:pt>
                <c:pt idx="47">
                  <c:v>13.587999999999999</c:v>
                </c:pt>
                <c:pt idx="48">
                  <c:v>12.763</c:v>
                </c:pt>
                <c:pt idx="49">
                  <c:v>14.119</c:v>
                </c:pt>
                <c:pt idx="50">
                  <c:v>12.925000000000001</c:v>
                </c:pt>
                <c:pt idx="51">
                  <c:v>13.715</c:v>
                </c:pt>
                <c:pt idx="52">
                  <c:v>13.426</c:v>
                </c:pt>
                <c:pt idx="53">
                  <c:v>13.157999999999999</c:v>
                </c:pt>
                <c:pt idx="54">
                  <c:v>13.096</c:v>
                </c:pt>
                <c:pt idx="55">
                  <c:v>13.887</c:v>
                </c:pt>
                <c:pt idx="56">
                  <c:v>13.587999999999999</c:v>
                </c:pt>
                <c:pt idx="57">
                  <c:v>13.420999999999999</c:v>
                </c:pt>
                <c:pt idx="58">
                  <c:v>13.723000000000001</c:v>
                </c:pt>
                <c:pt idx="59">
                  <c:v>13.525</c:v>
                </c:pt>
                <c:pt idx="60">
                  <c:v>13.909000000000001</c:v>
                </c:pt>
                <c:pt idx="61">
                  <c:v>13.493</c:v>
                </c:pt>
                <c:pt idx="62">
                  <c:v>13.135</c:v>
                </c:pt>
                <c:pt idx="63">
                  <c:v>13.888</c:v>
                </c:pt>
                <c:pt idx="64">
                  <c:v>13.904999999999999</c:v>
                </c:pt>
                <c:pt idx="65">
                  <c:v>13.760999999999999</c:v>
                </c:pt>
                <c:pt idx="66">
                  <c:v>13.819000000000001</c:v>
                </c:pt>
                <c:pt idx="67">
                  <c:v>13.733000000000001</c:v>
                </c:pt>
                <c:pt idx="68">
                  <c:v>13.54</c:v>
                </c:pt>
                <c:pt idx="69">
                  <c:v>13.448</c:v>
                </c:pt>
                <c:pt idx="70">
                  <c:v>13.08</c:v>
                </c:pt>
                <c:pt idx="71">
                  <c:v>13.207000000000001</c:v>
                </c:pt>
                <c:pt idx="72">
                  <c:v>13.226000000000001</c:v>
                </c:pt>
                <c:pt idx="73">
                  <c:v>13.12</c:v>
                </c:pt>
                <c:pt idx="74">
                  <c:v>13.571</c:v>
                </c:pt>
                <c:pt idx="75">
                  <c:v>13.807</c:v>
                </c:pt>
                <c:pt idx="76">
                  <c:v>13.939</c:v>
                </c:pt>
                <c:pt idx="77">
                  <c:v>13.263</c:v>
                </c:pt>
                <c:pt idx="78">
                  <c:v>13.602</c:v>
                </c:pt>
                <c:pt idx="79">
                  <c:v>13.284000000000001</c:v>
                </c:pt>
                <c:pt idx="80">
                  <c:v>13.76</c:v>
                </c:pt>
                <c:pt idx="81">
                  <c:v>13.912000000000001</c:v>
                </c:pt>
                <c:pt idx="82">
                  <c:v>13.253</c:v>
                </c:pt>
                <c:pt idx="83">
                  <c:v>13.689</c:v>
                </c:pt>
                <c:pt idx="84">
                  <c:v>14.433</c:v>
                </c:pt>
                <c:pt idx="85">
                  <c:v>13.435</c:v>
                </c:pt>
                <c:pt idx="86">
                  <c:v>13.295</c:v>
                </c:pt>
                <c:pt idx="87">
                  <c:v>14.015000000000001</c:v>
                </c:pt>
                <c:pt idx="88">
                  <c:v>14.004</c:v>
                </c:pt>
                <c:pt idx="89">
                  <c:v>13.079000000000001</c:v>
                </c:pt>
                <c:pt idx="90">
                  <c:v>13.215</c:v>
                </c:pt>
                <c:pt idx="91">
                  <c:v>13.991</c:v>
                </c:pt>
                <c:pt idx="92">
                  <c:v>13.44</c:v>
                </c:pt>
                <c:pt idx="93">
                  <c:v>13.971</c:v>
                </c:pt>
                <c:pt idx="94">
                  <c:v>14.27</c:v>
                </c:pt>
                <c:pt idx="95">
                  <c:v>13.75</c:v>
                </c:pt>
                <c:pt idx="96">
                  <c:v>14.273</c:v>
                </c:pt>
                <c:pt idx="97">
                  <c:v>13.353999999999999</c:v>
                </c:pt>
                <c:pt idx="98">
                  <c:v>14.092000000000001</c:v>
                </c:pt>
                <c:pt idx="99">
                  <c:v>13.93</c:v>
                </c:pt>
                <c:pt idx="100">
                  <c:v>13.31</c:v>
                </c:pt>
                <c:pt idx="101">
                  <c:v>14.484999999999999</c:v>
                </c:pt>
                <c:pt idx="102">
                  <c:v>13.909000000000001</c:v>
                </c:pt>
                <c:pt idx="103">
                  <c:v>13.852</c:v>
                </c:pt>
                <c:pt idx="104">
                  <c:v>13.954000000000001</c:v>
                </c:pt>
                <c:pt idx="105">
                  <c:v>14.205</c:v>
                </c:pt>
                <c:pt idx="106">
                  <c:v>13.044</c:v>
                </c:pt>
                <c:pt idx="107">
                  <c:v>13.582000000000001</c:v>
                </c:pt>
                <c:pt idx="108">
                  <c:v>14.286</c:v>
                </c:pt>
                <c:pt idx="109">
                  <c:v>14.099</c:v>
                </c:pt>
                <c:pt idx="110">
                  <c:v>13.933</c:v>
                </c:pt>
                <c:pt idx="111">
                  <c:v>13.715999999999999</c:v>
                </c:pt>
                <c:pt idx="112">
                  <c:v>14.086</c:v>
                </c:pt>
                <c:pt idx="113">
                  <c:v>14.225</c:v>
                </c:pt>
                <c:pt idx="114">
                  <c:v>13.613</c:v>
                </c:pt>
                <c:pt idx="115">
                  <c:v>14.082000000000001</c:v>
                </c:pt>
                <c:pt idx="116">
                  <c:v>14.252000000000001</c:v>
                </c:pt>
                <c:pt idx="117">
                  <c:v>14.180999999999999</c:v>
                </c:pt>
                <c:pt idx="118">
                  <c:v>14.265000000000001</c:v>
                </c:pt>
                <c:pt idx="119">
                  <c:v>14.113</c:v>
                </c:pt>
                <c:pt idx="120">
                  <c:v>14.092000000000001</c:v>
                </c:pt>
                <c:pt idx="121">
                  <c:v>14.417999999999999</c:v>
                </c:pt>
                <c:pt idx="122">
                  <c:v>14.369</c:v>
                </c:pt>
                <c:pt idx="123">
                  <c:v>14.169</c:v>
                </c:pt>
                <c:pt idx="124">
                  <c:v>14.586</c:v>
                </c:pt>
                <c:pt idx="125">
                  <c:v>13.792999999999999</c:v>
                </c:pt>
                <c:pt idx="126">
                  <c:v>13.481999999999999</c:v>
                </c:pt>
                <c:pt idx="127">
                  <c:v>14.634</c:v>
                </c:pt>
                <c:pt idx="128">
                  <c:v>14.513999999999999</c:v>
                </c:pt>
                <c:pt idx="129">
                  <c:v>14.794</c:v>
                </c:pt>
                <c:pt idx="130">
                  <c:v>14.63</c:v>
                </c:pt>
                <c:pt idx="131">
                  <c:v>14.205</c:v>
                </c:pt>
                <c:pt idx="132">
                  <c:v>14.294</c:v>
                </c:pt>
                <c:pt idx="133">
                  <c:v>13.587</c:v>
                </c:pt>
                <c:pt idx="134">
                  <c:v>13.644</c:v>
                </c:pt>
                <c:pt idx="135">
                  <c:v>14.436999999999999</c:v>
                </c:pt>
                <c:pt idx="136">
                  <c:v>14.117000000000001</c:v>
                </c:pt>
                <c:pt idx="137">
                  <c:v>14.018000000000001</c:v>
                </c:pt>
                <c:pt idx="138">
                  <c:v>14.023999999999999</c:v>
                </c:pt>
                <c:pt idx="139">
                  <c:v>13.86</c:v>
                </c:pt>
                <c:pt idx="140">
                  <c:v>13.847</c:v>
                </c:pt>
                <c:pt idx="141">
                  <c:v>13.984</c:v>
                </c:pt>
                <c:pt idx="142">
                  <c:v>14.109</c:v>
                </c:pt>
                <c:pt idx="143">
                  <c:v>14.303000000000001</c:v>
                </c:pt>
                <c:pt idx="144">
                  <c:v>13.811</c:v>
                </c:pt>
                <c:pt idx="145">
                  <c:v>14.582000000000001</c:v>
                </c:pt>
                <c:pt idx="146">
                  <c:v>13.792</c:v>
                </c:pt>
                <c:pt idx="147">
                  <c:v>13.71</c:v>
                </c:pt>
                <c:pt idx="148">
                  <c:v>13.92</c:v>
                </c:pt>
                <c:pt idx="149">
                  <c:v>14.063000000000001</c:v>
                </c:pt>
                <c:pt idx="150">
                  <c:v>14.170999999999999</c:v>
                </c:pt>
                <c:pt idx="151">
                  <c:v>15.116</c:v>
                </c:pt>
                <c:pt idx="152">
                  <c:v>14.654999999999999</c:v>
                </c:pt>
                <c:pt idx="153">
                  <c:v>14.307</c:v>
                </c:pt>
                <c:pt idx="154">
                  <c:v>13.538</c:v>
                </c:pt>
                <c:pt idx="155">
                  <c:v>13.535</c:v>
                </c:pt>
                <c:pt idx="156">
                  <c:v>14.545</c:v>
                </c:pt>
                <c:pt idx="157">
                  <c:v>14.467000000000001</c:v>
                </c:pt>
                <c:pt idx="158">
                  <c:v>14.387</c:v>
                </c:pt>
                <c:pt idx="159">
                  <c:v>14.048999999999999</c:v>
                </c:pt>
                <c:pt idx="160">
                  <c:v>13.984</c:v>
                </c:pt>
                <c:pt idx="161">
                  <c:v>14.515000000000001</c:v>
                </c:pt>
                <c:pt idx="162">
                  <c:v>14.82</c:v>
                </c:pt>
                <c:pt idx="163">
                  <c:v>14.036</c:v>
                </c:pt>
                <c:pt idx="164">
                  <c:v>13.878</c:v>
                </c:pt>
                <c:pt idx="165">
                  <c:v>14.52</c:v>
                </c:pt>
                <c:pt idx="166">
                  <c:v>14.747999999999999</c:v>
                </c:pt>
                <c:pt idx="167">
                  <c:v>14.31</c:v>
                </c:pt>
                <c:pt idx="168">
                  <c:v>14.129</c:v>
                </c:pt>
                <c:pt idx="169">
                  <c:v>14.558</c:v>
                </c:pt>
                <c:pt idx="170">
                  <c:v>14.48</c:v>
                </c:pt>
                <c:pt idx="171">
                  <c:v>13.917999999999999</c:v>
                </c:pt>
                <c:pt idx="172">
                  <c:v>14.472</c:v>
                </c:pt>
                <c:pt idx="173">
                  <c:v>14.323</c:v>
                </c:pt>
                <c:pt idx="174">
                  <c:v>15.170999999999999</c:v>
                </c:pt>
                <c:pt idx="175">
                  <c:v>14.374000000000001</c:v>
                </c:pt>
                <c:pt idx="176">
                  <c:v>14.314</c:v>
                </c:pt>
                <c:pt idx="177">
                  <c:v>14.35</c:v>
                </c:pt>
                <c:pt idx="178">
                  <c:v>14.925000000000001</c:v>
                </c:pt>
                <c:pt idx="179">
                  <c:v>13.766999999999999</c:v>
                </c:pt>
                <c:pt idx="180">
                  <c:v>14.91</c:v>
                </c:pt>
                <c:pt idx="181">
                  <c:v>14.644</c:v>
                </c:pt>
                <c:pt idx="182">
                  <c:v>14.717000000000001</c:v>
                </c:pt>
                <c:pt idx="183">
                  <c:v>14.47</c:v>
                </c:pt>
                <c:pt idx="184">
                  <c:v>14.444000000000001</c:v>
                </c:pt>
                <c:pt idx="185">
                  <c:v>14.991</c:v>
                </c:pt>
                <c:pt idx="186">
                  <c:v>13.978</c:v>
                </c:pt>
                <c:pt idx="187">
                  <c:v>14.449</c:v>
                </c:pt>
                <c:pt idx="188">
                  <c:v>14.308999999999999</c:v>
                </c:pt>
                <c:pt idx="189">
                  <c:v>14.045999999999999</c:v>
                </c:pt>
                <c:pt idx="190">
                  <c:v>14.647</c:v>
                </c:pt>
                <c:pt idx="191">
                  <c:v>14.335000000000001</c:v>
                </c:pt>
                <c:pt idx="192">
                  <c:v>13.967000000000001</c:v>
                </c:pt>
                <c:pt idx="193">
                  <c:v>14.241</c:v>
                </c:pt>
                <c:pt idx="194">
                  <c:v>14.481999999999999</c:v>
                </c:pt>
                <c:pt idx="195">
                  <c:v>15.221</c:v>
                </c:pt>
                <c:pt idx="196">
                  <c:v>13.87</c:v>
                </c:pt>
                <c:pt idx="197">
                  <c:v>14.010999999999999</c:v>
                </c:pt>
                <c:pt idx="198">
                  <c:v>15.161</c:v>
                </c:pt>
                <c:pt idx="199">
                  <c:v>14.978999999999999</c:v>
                </c:pt>
                <c:pt idx="200">
                  <c:v>14.772</c:v>
                </c:pt>
                <c:pt idx="201">
                  <c:v>14.497999999999999</c:v>
                </c:pt>
                <c:pt idx="202">
                  <c:v>14.619</c:v>
                </c:pt>
                <c:pt idx="203">
                  <c:v>14.599</c:v>
                </c:pt>
                <c:pt idx="204">
                  <c:v>14.804</c:v>
                </c:pt>
                <c:pt idx="205">
                  <c:v>14.156000000000001</c:v>
                </c:pt>
                <c:pt idx="206">
                  <c:v>14.272</c:v>
                </c:pt>
                <c:pt idx="207">
                  <c:v>14.869</c:v>
                </c:pt>
                <c:pt idx="208">
                  <c:v>14.476000000000001</c:v>
                </c:pt>
                <c:pt idx="209">
                  <c:v>15.036</c:v>
                </c:pt>
                <c:pt idx="210">
                  <c:v>14.7</c:v>
                </c:pt>
                <c:pt idx="211">
                  <c:v>14.032999999999999</c:v>
                </c:pt>
                <c:pt idx="212">
                  <c:v>14.058999999999999</c:v>
                </c:pt>
                <c:pt idx="213">
                  <c:v>14.801</c:v>
                </c:pt>
                <c:pt idx="214">
                  <c:v>14.319000000000001</c:v>
                </c:pt>
                <c:pt idx="215">
                  <c:v>14.816000000000001</c:v>
                </c:pt>
                <c:pt idx="216">
                  <c:v>14.632999999999999</c:v>
                </c:pt>
                <c:pt idx="217">
                  <c:v>15.115</c:v>
                </c:pt>
                <c:pt idx="218">
                  <c:v>14.72</c:v>
                </c:pt>
                <c:pt idx="219">
                  <c:v>15.073</c:v>
                </c:pt>
                <c:pt idx="220">
                  <c:v>15.132999999999999</c:v>
                </c:pt>
                <c:pt idx="221">
                  <c:v>15.416</c:v>
                </c:pt>
                <c:pt idx="222">
                  <c:v>15.039</c:v>
                </c:pt>
                <c:pt idx="223">
                  <c:v>15.071999999999999</c:v>
                </c:pt>
                <c:pt idx="224">
                  <c:v>14.423</c:v>
                </c:pt>
                <c:pt idx="225">
                  <c:v>15.345000000000001</c:v>
                </c:pt>
                <c:pt idx="226">
                  <c:v>15.076000000000001</c:v>
                </c:pt>
                <c:pt idx="227">
                  <c:v>14.673</c:v>
                </c:pt>
                <c:pt idx="228">
                  <c:v>14.286</c:v>
                </c:pt>
                <c:pt idx="229">
                  <c:v>14.135999999999999</c:v>
                </c:pt>
                <c:pt idx="230">
                  <c:v>14.792999999999999</c:v>
                </c:pt>
                <c:pt idx="231">
                  <c:v>15.433999999999999</c:v>
                </c:pt>
                <c:pt idx="232">
                  <c:v>15.048</c:v>
                </c:pt>
                <c:pt idx="233">
                  <c:v>15.298999999999999</c:v>
                </c:pt>
                <c:pt idx="234">
                  <c:v>15.17</c:v>
                </c:pt>
                <c:pt idx="235">
                  <c:v>14.853999999999999</c:v>
                </c:pt>
                <c:pt idx="236">
                  <c:v>14.81</c:v>
                </c:pt>
                <c:pt idx="237">
                  <c:v>14.757</c:v>
                </c:pt>
                <c:pt idx="238">
                  <c:v>14.489000000000001</c:v>
                </c:pt>
                <c:pt idx="239">
                  <c:v>14.552</c:v>
                </c:pt>
                <c:pt idx="240">
                  <c:v>15.353999999999999</c:v>
                </c:pt>
                <c:pt idx="241">
                  <c:v>15.817</c:v>
                </c:pt>
                <c:pt idx="242">
                  <c:v>14.893000000000001</c:v>
                </c:pt>
                <c:pt idx="243">
                  <c:v>14.478</c:v>
                </c:pt>
                <c:pt idx="244">
                  <c:v>14.884</c:v>
                </c:pt>
                <c:pt idx="245">
                  <c:v>15.053000000000001</c:v>
                </c:pt>
                <c:pt idx="246">
                  <c:v>14.888</c:v>
                </c:pt>
                <c:pt idx="247">
                  <c:v>15.628</c:v>
                </c:pt>
                <c:pt idx="248">
                  <c:v>14.848000000000001</c:v>
                </c:pt>
                <c:pt idx="249">
                  <c:v>14.994</c:v>
                </c:pt>
                <c:pt idx="250">
                  <c:v>15.428000000000001</c:v>
                </c:pt>
                <c:pt idx="251">
                  <c:v>14.901</c:v>
                </c:pt>
                <c:pt idx="252">
                  <c:v>15.038</c:v>
                </c:pt>
                <c:pt idx="253">
                  <c:v>14.538</c:v>
                </c:pt>
                <c:pt idx="254">
                  <c:v>15.138</c:v>
                </c:pt>
                <c:pt idx="255">
                  <c:v>15.427</c:v>
                </c:pt>
                <c:pt idx="256">
                  <c:v>16.143000000000001</c:v>
                </c:pt>
                <c:pt idx="257">
                  <c:v>15.225</c:v>
                </c:pt>
                <c:pt idx="258">
                  <c:v>16.058</c:v>
                </c:pt>
                <c:pt idx="259">
                  <c:v>15.709</c:v>
                </c:pt>
                <c:pt idx="260">
                  <c:v>14.898</c:v>
                </c:pt>
                <c:pt idx="261">
                  <c:v>15.635</c:v>
                </c:pt>
                <c:pt idx="262">
                  <c:v>15.041</c:v>
                </c:pt>
                <c:pt idx="263">
                  <c:v>15.888</c:v>
                </c:pt>
                <c:pt idx="264">
                  <c:v>15.064</c:v>
                </c:pt>
                <c:pt idx="265">
                  <c:v>15.144</c:v>
                </c:pt>
                <c:pt idx="266">
                  <c:v>14.86</c:v>
                </c:pt>
                <c:pt idx="267">
                  <c:v>15.763</c:v>
                </c:pt>
                <c:pt idx="268">
                  <c:v>15.217000000000001</c:v>
                </c:pt>
                <c:pt idx="269">
                  <c:v>15.702999999999999</c:v>
                </c:pt>
                <c:pt idx="270">
                  <c:v>15.843</c:v>
                </c:pt>
                <c:pt idx="271">
                  <c:v>16.007999999999999</c:v>
                </c:pt>
                <c:pt idx="272">
                  <c:v>15.648</c:v>
                </c:pt>
                <c:pt idx="273">
                  <c:v>15.114000000000001</c:v>
                </c:pt>
                <c:pt idx="274">
                  <c:v>15.939</c:v>
                </c:pt>
                <c:pt idx="275">
                  <c:v>15.833</c:v>
                </c:pt>
                <c:pt idx="276">
                  <c:v>15.16</c:v>
                </c:pt>
                <c:pt idx="277">
                  <c:v>15.263</c:v>
                </c:pt>
                <c:pt idx="278">
                  <c:v>15.797000000000001</c:v>
                </c:pt>
                <c:pt idx="279">
                  <c:v>15.105</c:v>
                </c:pt>
                <c:pt idx="280">
                  <c:v>15.625</c:v>
                </c:pt>
                <c:pt idx="281">
                  <c:v>15.54</c:v>
                </c:pt>
                <c:pt idx="282">
                  <c:v>15.544</c:v>
                </c:pt>
                <c:pt idx="283">
                  <c:v>15.803000000000001</c:v>
                </c:pt>
                <c:pt idx="284">
                  <c:v>15.786</c:v>
                </c:pt>
                <c:pt idx="285">
                  <c:v>15.635</c:v>
                </c:pt>
                <c:pt idx="286">
                  <c:v>15.72</c:v>
                </c:pt>
                <c:pt idx="287">
                  <c:v>15.532999999999999</c:v>
                </c:pt>
                <c:pt idx="288">
                  <c:v>16.084</c:v>
                </c:pt>
                <c:pt idx="289">
                  <c:v>15.42</c:v>
                </c:pt>
                <c:pt idx="290">
                  <c:v>15.552</c:v>
                </c:pt>
                <c:pt idx="291">
                  <c:v>15.571</c:v>
                </c:pt>
                <c:pt idx="292">
                  <c:v>15.891999999999999</c:v>
                </c:pt>
                <c:pt idx="293">
                  <c:v>15.846</c:v>
                </c:pt>
                <c:pt idx="294">
                  <c:v>15.379</c:v>
                </c:pt>
                <c:pt idx="295">
                  <c:v>16.045000000000002</c:v>
                </c:pt>
                <c:pt idx="296">
                  <c:v>16.172000000000001</c:v>
                </c:pt>
                <c:pt idx="297">
                  <c:v>16.334</c:v>
                </c:pt>
                <c:pt idx="298">
                  <c:v>15.994999999999999</c:v>
                </c:pt>
                <c:pt idx="299">
                  <c:v>17.102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BC5-41FF-9B15-CCE1B54C6E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Jai's IC Curve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317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9.49</c:v>
                </c:pt>
                <c:pt idx="301">
                  <c:v>11.4</c:v>
                </c:pt>
                <c:pt idx="302">
                  <c:v>13.04</c:v>
                </c:pt>
                <c:pt idx="303">
                  <c:v>14.49</c:v>
                </c:pt>
                <c:pt idx="304">
                  <c:v>15.81</c:v>
                </c:pt>
                <c:pt idx="305">
                  <c:v>17.03</c:v>
                </c:pt>
                <c:pt idx="306">
                  <c:v>29.83</c:v>
                </c:pt>
                <c:pt idx="307">
                  <c:v>38.6</c:v>
                </c:pt>
                <c:pt idx="308">
                  <c:v>45.72</c:v>
                </c:pt>
                <c:pt idx="309">
                  <c:v>51.87</c:v>
                </c:pt>
                <c:pt idx="310">
                  <c:v>57.36</c:v>
                </c:pt>
                <c:pt idx="311">
                  <c:v>62.37</c:v>
                </c:pt>
              </c:numCache>
            </c:numRef>
          </c:xVal>
          <c:yVal>
            <c:numRef>
              <c:f>Sheet1!$C$2:$C$313</c:f>
              <c:numCache>
                <c:formatCode>General</c:formatCode>
                <c:ptCount val="312"/>
                <c:pt idx="300">
                  <c:v>13.56</c:v>
                </c:pt>
                <c:pt idx="301">
                  <c:v>13.76</c:v>
                </c:pt>
                <c:pt idx="302">
                  <c:v>13.96</c:v>
                </c:pt>
                <c:pt idx="303">
                  <c:v>14.16</c:v>
                </c:pt>
                <c:pt idx="304">
                  <c:v>14.36</c:v>
                </c:pt>
                <c:pt idx="305">
                  <c:v>14.56</c:v>
                </c:pt>
                <c:pt idx="306">
                  <c:v>17.559999999999999</c:v>
                </c:pt>
                <c:pt idx="307">
                  <c:v>20.56</c:v>
                </c:pt>
                <c:pt idx="308">
                  <c:v>23.56</c:v>
                </c:pt>
                <c:pt idx="309">
                  <c:v>26.56</c:v>
                </c:pt>
                <c:pt idx="310">
                  <c:v>29.56</c:v>
                </c:pt>
                <c:pt idx="311">
                  <c:v>32.56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BC5-41FF-9B15-CCE1B54C6E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EF2F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RISK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10"/>
      </c:val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RETURN</a:t>
                </a:r>
              </a:p>
            </c:rich>
          </c:tx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B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Utility Curve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3</c:v>
                </c:pt>
                <c:pt idx="15">
                  <c:v>6</c:v>
                </c:pt>
                <c:pt idx="16">
                  <c:v>10</c:v>
                </c:pt>
                <c:pt idx="17">
                  <c:v>12</c:v>
                </c:pt>
                <c:pt idx="18">
                  <c:v>12</c:v>
                </c:pt>
                <c:pt idx="19">
                  <c:v>15</c:v>
                </c:pt>
                <c:pt idx="20">
                  <c:v>17</c:v>
                </c:pt>
                <c:pt idx="21">
                  <c:v>18</c:v>
                </c:pt>
                <c:pt idx="22">
                  <c:v>22</c:v>
                </c:pt>
                <c:pt idx="23">
                  <c:v>28</c:v>
                </c:pt>
                <c:pt idx="24">
                  <c:v>0</c:v>
                </c:pt>
                <c:pt idx="25">
                  <c:v>8.3699999999999992</c:v>
                </c:pt>
                <c:pt idx="26">
                  <c:v>14.23</c:v>
                </c:pt>
              </c:numCache>
            </c:numRef>
          </c:xVal>
          <c:yVal>
            <c:numRef>
              <c:f>Sheet1!$B$2:$B$28</c:f>
              <c:numCache>
                <c:formatCode>General</c:formatCode>
                <c:ptCount val="27"/>
                <c:pt idx="0">
                  <c:v>7.44</c:v>
                </c:pt>
                <c:pt idx="1">
                  <c:v>7.63</c:v>
                </c:pt>
                <c:pt idx="2">
                  <c:v>7.63</c:v>
                </c:pt>
                <c:pt idx="3">
                  <c:v>8.6300000000000008</c:v>
                </c:pt>
                <c:pt idx="4">
                  <c:v>9.19</c:v>
                </c:pt>
                <c:pt idx="5">
                  <c:v>9.19</c:v>
                </c:pt>
                <c:pt idx="6">
                  <c:v>9.84</c:v>
                </c:pt>
                <c:pt idx="7">
                  <c:v>10.24</c:v>
                </c:pt>
                <c:pt idx="8">
                  <c:v>10.63</c:v>
                </c:pt>
                <c:pt idx="9">
                  <c:v>7.16</c:v>
                </c:pt>
                <c:pt idx="10">
                  <c:v>8.67</c:v>
                </c:pt>
                <c:pt idx="11">
                  <c:v>10.74</c:v>
                </c:pt>
                <c:pt idx="12">
                  <c:v>10.63</c:v>
                </c:pt>
                <c:pt idx="1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E8-435E-938A-DEA246F7E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 Utility Curve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3</c:v>
                </c:pt>
                <c:pt idx="15">
                  <c:v>6</c:v>
                </c:pt>
                <c:pt idx="16">
                  <c:v>10</c:v>
                </c:pt>
                <c:pt idx="17">
                  <c:v>12</c:v>
                </c:pt>
                <c:pt idx="18">
                  <c:v>12</c:v>
                </c:pt>
                <c:pt idx="19">
                  <c:v>15</c:v>
                </c:pt>
                <c:pt idx="20">
                  <c:v>17</c:v>
                </c:pt>
                <c:pt idx="21">
                  <c:v>18</c:v>
                </c:pt>
                <c:pt idx="22">
                  <c:v>22</c:v>
                </c:pt>
                <c:pt idx="23">
                  <c:v>28</c:v>
                </c:pt>
                <c:pt idx="24">
                  <c:v>0</c:v>
                </c:pt>
                <c:pt idx="25">
                  <c:v>8.3699999999999992</c:v>
                </c:pt>
                <c:pt idx="26">
                  <c:v>14.23</c:v>
                </c:pt>
              </c:numCache>
            </c:numRef>
          </c:xVal>
          <c:yVal>
            <c:numRef>
              <c:f>Sheet1!$C$2:$C$28</c:f>
              <c:numCache>
                <c:formatCode>General</c:formatCode>
                <c:ptCount val="27"/>
                <c:pt idx="14">
                  <c:v>6.87</c:v>
                </c:pt>
                <c:pt idx="15">
                  <c:v>8.4600000000000009</c:v>
                </c:pt>
                <c:pt idx="16">
                  <c:v>9.5</c:v>
                </c:pt>
                <c:pt idx="17">
                  <c:v>8.84</c:v>
                </c:pt>
                <c:pt idx="18">
                  <c:v>7.84</c:v>
                </c:pt>
                <c:pt idx="19">
                  <c:v>9.6300000000000008</c:v>
                </c:pt>
                <c:pt idx="20">
                  <c:v>9.67</c:v>
                </c:pt>
                <c:pt idx="21">
                  <c:v>10.14</c:v>
                </c:pt>
                <c:pt idx="22">
                  <c:v>8.74</c:v>
                </c:pt>
                <c:pt idx="23">
                  <c:v>8.24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E8-435E-938A-DEA246F7EE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 (Utility) Line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3</c:v>
                </c:pt>
                <c:pt idx="15">
                  <c:v>6</c:v>
                </c:pt>
                <c:pt idx="16">
                  <c:v>10</c:v>
                </c:pt>
                <c:pt idx="17">
                  <c:v>12</c:v>
                </c:pt>
                <c:pt idx="18">
                  <c:v>12</c:v>
                </c:pt>
                <c:pt idx="19">
                  <c:v>15</c:v>
                </c:pt>
                <c:pt idx="20">
                  <c:v>17</c:v>
                </c:pt>
                <c:pt idx="21">
                  <c:v>18</c:v>
                </c:pt>
                <c:pt idx="22">
                  <c:v>22</c:v>
                </c:pt>
                <c:pt idx="23">
                  <c:v>28</c:v>
                </c:pt>
                <c:pt idx="24">
                  <c:v>0</c:v>
                </c:pt>
                <c:pt idx="25">
                  <c:v>8.3699999999999992</c:v>
                </c:pt>
                <c:pt idx="26">
                  <c:v>14.23</c:v>
                </c:pt>
              </c:numCache>
            </c:numRef>
          </c:xVal>
          <c:yVal>
            <c:numRef>
              <c:f>Sheet1!$D$2:$D$28</c:f>
              <c:numCache>
                <c:formatCode>General</c:formatCode>
                <c:ptCount val="27"/>
                <c:pt idx="24">
                  <c:v>7.5</c:v>
                </c:pt>
                <c:pt idx="25">
                  <c:v>13.24</c:v>
                </c:pt>
                <c:pt idx="26">
                  <c:v>16.84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0E8-435E-938A-DEA246F7E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5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Standard Deviation (SD)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  <c:majorUnit val="5"/>
      </c:val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Utility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&quot;%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Portfolio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3E5C99"/>
              </a:solidFill>
              <a:ln w="3175" cap="flat">
                <a:solidFill>
                  <a:srgbClr val="3E5C99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9.49</c:v>
                </c:pt>
                <c:pt idx="301">
                  <c:v>10.17</c:v>
                </c:pt>
                <c:pt idx="302">
                  <c:v>10.8</c:v>
                </c:pt>
                <c:pt idx="303">
                  <c:v>11.4</c:v>
                </c:pt>
                <c:pt idx="304">
                  <c:v>11.97</c:v>
                </c:pt>
                <c:pt idx="305">
                  <c:v>12.52</c:v>
                </c:pt>
                <c:pt idx="306">
                  <c:v>18.89</c:v>
                </c:pt>
                <c:pt idx="307">
                  <c:v>23.59</c:v>
                </c:pt>
                <c:pt idx="308">
                  <c:v>27.51</c:v>
                </c:pt>
                <c:pt idx="309">
                  <c:v>30.93</c:v>
                </c:pt>
                <c:pt idx="310">
                  <c:v>34.01</c:v>
                </c:pt>
                <c:pt idx="311">
                  <c:v>36.83</c:v>
                </c:pt>
              </c:numCache>
            </c:numRef>
          </c:xVal>
          <c:yVal>
            <c:numRef>
              <c:f>Sheet1!$B$2:$B$313</c:f>
              <c:numCache>
                <c:formatCode>General</c:formatCode>
                <c:ptCount val="312"/>
                <c:pt idx="0">
                  <c:v>11.621</c:v>
                </c:pt>
                <c:pt idx="1">
                  <c:v>12.212</c:v>
                </c:pt>
                <c:pt idx="2">
                  <c:v>12.468</c:v>
                </c:pt>
                <c:pt idx="3">
                  <c:v>12.545999999999999</c:v>
                </c:pt>
                <c:pt idx="4">
                  <c:v>11.554</c:v>
                </c:pt>
                <c:pt idx="5">
                  <c:v>12.510999999999999</c:v>
                </c:pt>
                <c:pt idx="6">
                  <c:v>12.452999999999999</c:v>
                </c:pt>
                <c:pt idx="7">
                  <c:v>12.345000000000001</c:v>
                </c:pt>
                <c:pt idx="8">
                  <c:v>12.542999999999999</c:v>
                </c:pt>
                <c:pt idx="9">
                  <c:v>12.462</c:v>
                </c:pt>
                <c:pt idx="10">
                  <c:v>13.012</c:v>
                </c:pt>
                <c:pt idx="11">
                  <c:v>12.663</c:v>
                </c:pt>
                <c:pt idx="12">
                  <c:v>12.754</c:v>
                </c:pt>
                <c:pt idx="13">
                  <c:v>13.375999999999999</c:v>
                </c:pt>
                <c:pt idx="14">
                  <c:v>12.763999999999999</c:v>
                </c:pt>
                <c:pt idx="15">
                  <c:v>13.561</c:v>
                </c:pt>
                <c:pt idx="16">
                  <c:v>12.872</c:v>
                </c:pt>
                <c:pt idx="17">
                  <c:v>12.903</c:v>
                </c:pt>
                <c:pt idx="18">
                  <c:v>12.531000000000001</c:v>
                </c:pt>
                <c:pt idx="19">
                  <c:v>12.36</c:v>
                </c:pt>
                <c:pt idx="20">
                  <c:v>11.852</c:v>
                </c:pt>
                <c:pt idx="21">
                  <c:v>12.843</c:v>
                </c:pt>
                <c:pt idx="22">
                  <c:v>12.75</c:v>
                </c:pt>
                <c:pt idx="23">
                  <c:v>12.544</c:v>
                </c:pt>
                <c:pt idx="24">
                  <c:v>12.558</c:v>
                </c:pt>
                <c:pt idx="25">
                  <c:v>12.667</c:v>
                </c:pt>
                <c:pt idx="26">
                  <c:v>13.214</c:v>
                </c:pt>
                <c:pt idx="27">
                  <c:v>13.224</c:v>
                </c:pt>
                <c:pt idx="28">
                  <c:v>12.805999999999999</c:v>
                </c:pt>
                <c:pt idx="29">
                  <c:v>13.571999999999999</c:v>
                </c:pt>
                <c:pt idx="30">
                  <c:v>13.118</c:v>
                </c:pt>
                <c:pt idx="31">
                  <c:v>12.957000000000001</c:v>
                </c:pt>
                <c:pt idx="32">
                  <c:v>13.506</c:v>
                </c:pt>
                <c:pt idx="33">
                  <c:v>13.343999999999999</c:v>
                </c:pt>
                <c:pt idx="34">
                  <c:v>13.34</c:v>
                </c:pt>
                <c:pt idx="35">
                  <c:v>13.538</c:v>
                </c:pt>
                <c:pt idx="36">
                  <c:v>12.599</c:v>
                </c:pt>
                <c:pt idx="37">
                  <c:v>13.742000000000001</c:v>
                </c:pt>
                <c:pt idx="38">
                  <c:v>13.157</c:v>
                </c:pt>
                <c:pt idx="39">
                  <c:v>12.862</c:v>
                </c:pt>
                <c:pt idx="40">
                  <c:v>13.182</c:v>
                </c:pt>
                <c:pt idx="41">
                  <c:v>13.273999999999999</c:v>
                </c:pt>
                <c:pt idx="42">
                  <c:v>13.587999999999999</c:v>
                </c:pt>
                <c:pt idx="43">
                  <c:v>13.473000000000001</c:v>
                </c:pt>
                <c:pt idx="44">
                  <c:v>13.544</c:v>
                </c:pt>
                <c:pt idx="45">
                  <c:v>13.19</c:v>
                </c:pt>
                <c:pt idx="46">
                  <c:v>13.32</c:v>
                </c:pt>
                <c:pt idx="47">
                  <c:v>13.587999999999999</c:v>
                </c:pt>
                <c:pt idx="48">
                  <c:v>12.763</c:v>
                </c:pt>
                <c:pt idx="49">
                  <c:v>14.119</c:v>
                </c:pt>
                <c:pt idx="50">
                  <c:v>12.925000000000001</c:v>
                </c:pt>
                <c:pt idx="51">
                  <c:v>13.715</c:v>
                </c:pt>
                <c:pt idx="52">
                  <c:v>13.426</c:v>
                </c:pt>
                <c:pt idx="53">
                  <c:v>13.157999999999999</c:v>
                </c:pt>
                <c:pt idx="54">
                  <c:v>13.096</c:v>
                </c:pt>
                <c:pt idx="55">
                  <c:v>13.887</c:v>
                </c:pt>
                <c:pt idx="56">
                  <c:v>13.587999999999999</c:v>
                </c:pt>
                <c:pt idx="57">
                  <c:v>13.420999999999999</c:v>
                </c:pt>
                <c:pt idx="58">
                  <c:v>13.723000000000001</c:v>
                </c:pt>
                <c:pt idx="59">
                  <c:v>13.525</c:v>
                </c:pt>
                <c:pt idx="60">
                  <c:v>13.909000000000001</c:v>
                </c:pt>
                <c:pt idx="61">
                  <c:v>13.493</c:v>
                </c:pt>
                <c:pt idx="62">
                  <c:v>13.135</c:v>
                </c:pt>
                <c:pt idx="63">
                  <c:v>13.888</c:v>
                </c:pt>
                <c:pt idx="64">
                  <c:v>13.904999999999999</c:v>
                </c:pt>
                <c:pt idx="65">
                  <c:v>13.760999999999999</c:v>
                </c:pt>
                <c:pt idx="66">
                  <c:v>13.819000000000001</c:v>
                </c:pt>
                <c:pt idx="67">
                  <c:v>13.733000000000001</c:v>
                </c:pt>
                <c:pt idx="68">
                  <c:v>13.54</c:v>
                </c:pt>
                <c:pt idx="69">
                  <c:v>13.448</c:v>
                </c:pt>
                <c:pt idx="70">
                  <c:v>13.08</c:v>
                </c:pt>
                <c:pt idx="71">
                  <c:v>13.207000000000001</c:v>
                </c:pt>
                <c:pt idx="72">
                  <c:v>13.226000000000001</c:v>
                </c:pt>
                <c:pt idx="73">
                  <c:v>13.12</c:v>
                </c:pt>
                <c:pt idx="74">
                  <c:v>13.571</c:v>
                </c:pt>
                <c:pt idx="75">
                  <c:v>13.807</c:v>
                </c:pt>
                <c:pt idx="76">
                  <c:v>13.939</c:v>
                </c:pt>
                <c:pt idx="77">
                  <c:v>13.263</c:v>
                </c:pt>
                <c:pt idx="78">
                  <c:v>13.602</c:v>
                </c:pt>
                <c:pt idx="79">
                  <c:v>13.284000000000001</c:v>
                </c:pt>
                <c:pt idx="80">
                  <c:v>13.76</c:v>
                </c:pt>
                <c:pt idx="81">
                  <c:v>13.912000000000001</c:v>
                </c:pt>
                <c:pt idx="82">
                  <c:v>13.253</c:v>
                </c:pt>
                <c:pt idx="83">
                  <c:v>13.689</c:v>
                </c:pt>
                <c:pt idx="84">
                  <c:v>14.433</c:v>
                </c:pt>
                <c:pt idx="85">
                  <c:v>13.435</c:v>
                </c:pt>
                <c:pt idx="86">
                  <c:v>13.295</c:v>
                </c:pt>
                <c:pt idx="87">
                  <c:v>14.015000000000001</c:v>
                </c:pt>
                <c:pt idx="88">
                  <c:v>14.004</c:v>
                </c:pt>
                <c:pt idx="89">
                  <c:v>13.079000000000001</c:v>
                </c:pt>
                <c:pt idx="90">
                  <c:v>13.215</c:v>
                </c:pt>
                <c:pt idx="91">
                  <c:v>13.991</c:v>
                </c:pt>
                <c:pt idx="92">
                  <c:v>13.44</c:v>
                </c:pt>
                <c:pt idx="93">
                  <c:v>13.971</c:v>
                </c:pt>
                <c:pt idx="94">
                  <c:v>14.27</c:v>
                </c:pt>
                <c:pt idx="95">
                  <c:v>13.75</c:v>
                </c:pt>
                <c:pt idx="96">
                  <c:v>14.273</c:v>
                </c:pt>
                <c:pt idx="97">
                  <c:v>13.353999999999999</c:v>
                </c:pt>
                <c:pt idx="98">
                  <c:v>14.092000000000001</c:v>
                </c:pt>
                <c:pt idx="99">
                  <c:v>13.93</c:v>
                </c:pt>
                <c:pt idx="100">
                  <c:v>13.31</c:v>
                </c:pt>
                <c:pt idx="101">
                  <c:v>14.484999999999999</c:v>
                </c:pt>
                <c:pt idx="102">
                  <c:v>13.909000000000001</c:v>
                </c:pt>
                <c:pt idx="103">
                  <c:v>13.852</c:v>
                </c:pt>
                <c:pt idx="104">
                  <c:v>13.954000000000001</c:v>
                </c:pt>
                <c:pt idx="105">
                  <c:v>14.205</c:v>
                </c:pt>
                <c:pt idx="106">
                  <c:v>13.044</c:v>
                </c:pt>
                <c:pt idx="107">
                  <c:v>13.582000000000001</c:v>
                </c:pt>
                <c:pt idx="108">
                  <c:v>14.286</c:v>
                </c:pt>
                <c:pt idx="109">
                  <c:v>14.099</c:v>
                </c:pt>
                <c:pt idx="110">
                  <c:v>13.933</c:v>
                </c:pt>
                <c:pt idx="111">
                  <c:v>13.715999999999999</c:v>
                </c:pt>
                <c:pt idx="112">
                  <c:v>14.086</c:v>
                </c:pt>
                <c:pt idx="113">
                  <c:v>14.225</c:v>
                </c:pt>
                <c:pt idx="114">
                  <c:v>13.613</c:v>
                </c:pt>
                <c:pt idx="115">
                  <c:v>14.082000000000001</c:v>
                </c:pt>
                <c:pt idx="116">
                  <c:v>14.252000000000001</c:v>
                </c:pt>
                <c:pt idx="117">
                  <c:v>14.180999999999999</c:v>
                </c:pt>
                <c:pt idx="118">
                  <c:v>14.265000000000001</c:v>
                </c:pt>
                <c:pt idx="119">
                  <c:v>14.113</c:v>
                </c:pt>
                <c:pt idx="120">
                  <c:v>14.092000000000001</c:v>
                </c:pt>
                <c:pt idx="121">
                  <c:v>14.417999999999999</c:v>
                </c:pt>
                <c:pt idx="122">
                  <c:v>14.369</c:v>
                </c:pt>
                <c:pt idx="123">
                  <c:v>14.169</c:v>
                </c:pt>
                <c:pt idx="124">
                  <c:v>14.586</c:v>
                </c:pt>
                <c:pt idx="125">
                  <c:v>13.792999999999999</c:v>
                </c:pt>
                <c:pt idx="126">
                  <c:v>13.481999999999999</c:v>
                </c:pt>
                <c:pt idx="127">
                  <c:v>14.634</c:v>
                </c:pt>
                <c:pt idx="128">
                  <c:v>14.513999999999999</c:v>
                </c:pt>
                <c:pt idx="129">
                  <c:v>14.794</c:v>
                </c:pt>
                <c:pt idx="130">
                  <c:v>14.63</c:v>
                </c:pt>
                <c:pt idx="131">
                  <c:v>14.205</c:v>
                </c:pt>
                <c:pt idx="132">
                  <c:v>14.294</c:v>
                </c:pt>
                <c:pt idx="133">
                  <c:v>13.587</c:v>
                </c:pt>
                <c:pt idx="134">
                  <c:v>13.644</c:v>
                </c:pt>
                <c:pt idx="135">
                  <c:v>14.436999999999999</c:v>
                </c:pt>
                <c:pt idx="136">
                  <c:v>14.117000000000001</c:v>
                </c:pt>
                <c:pt idx="137">
                  <c:v>14.018000000000001</c:v>
                </c:pt>
                <c:pt idx="138">
                  <c:v>14.023999999999999</c:v>
                </c:pt>
                <c:pt idx="139">
                  <c:v>13.86</c:v>
                </c:pt>
                <c:pt idx="140">
                  <c:v>13.847</c:v>
                </c:pt>
                <c:pt idx="141">
                  <c:v>13.984</c:v>
                </c:pt>
                <c:pt idx="142">
                  <c:v>14.109</c:v>
                </c:pt>
                <c:pt idx="143">
                  <c:v>14.303000000000001</c:v>
                </c:pt>
                <c:pt idx="144">
                  <c:v>13.811</c:v>
                </c:pt>
                <c:pt idx="145">
                  <c:v>14.582000000000001</c:v>
                </c:pt>
                <c:pt idx="146">
                  <c:v>13.792</c:v>
                </c:pt>
                <c:pt idx="147">
                  <c:v>13.71</c:v>
                </c:pt>
                <c:pt idx="148">
                  <c:v>13.92</c:v>
                </c:pt>
                <c:pt idx="149">
                  <c:v>14.063000000000001</c:v>
                </c:pt>
                <c:pt idx="150">
                  <c:v>14.170999999999999</c:v>
                </c:pt>
                <c:pt idx="151">
                  <c:v>15.116</c:v>
                </c:pt>
                <c:pt idx="152">
                  <c:v>14.654999999999999</c:v>
                </c:pt>
                <c:pt idx="153">
                  <c:v>14.307</c:v>
                </c:pt>
                <c:pt idx="154">
                  <c:v>13.538</c:v>
                </c:pt>
                <c:pt idx="155">
                  <c:v>13.535</c:v>
                </c:pt>
                <c:pt idx="156">
                  <c:v>14.545</c:v>
                </c:pt>
                <c:pt idx="157">
                  <c:v>14.467000000000001</c:v>
                </c:pt>
                <c:pt idx="158">
                  <c:v>14.387</c:v>
                </c:pt>
                <c:pt idx="159">
                  <c:v>14.048999999999999</c:v>
                </c:pt>
                <c:pt idx="160">
                  <c:v>13.984</c:v>
                </c:pt>
                <c:pt idx="161">
                  <c:v>14.515000000000001</c:v>
                </c:pt>
                <c:pt idx="162">
                  <c:v>14.82</c:v>
                </c:pt>
                <c:pt idx="163">
                  <c:v>14.036</c:v>
                </c:pt>
                <c:pt idx="164">
                  <c:v>13.878</c:v>
                </c:pt>
                <c:pt idx="165">
                  <c:v>14.52</c:v>
                </c:pt>
                <c:pt idx="166">
                  <c:v>14.747999999999999</c:v>
                </c:pt>
                <c:pt idx="167">
                  <c:v>14.31</c:v>
                </c:pt>
                <c:pt idx="168">
                  <c:v>14.129</c:v>
                </c:pt>
                <c:pt idx="169">
                  <c:v>14.558</c:v>
                </c:pt>
                <c:pt idx="170">
                  <c:v>14.48</c:v>
                </c:pt>
                <c:pt idx="171">
                  <c:v>13.917999999999999</c:v>
                </c:pt>
                <c:pt idx="172">
                  <c:v>14.472</c:v>
                </c:pt>
                <c:pt idx="173">
                  <c:v>14.323</c:v>
                </c:pt>
                <c:pt idx="174">
                  <c:v>15.170999999999999</c:v>
                </c:pt>
                <c:pt idx="175">
                  <c:v>14.374000000000001</c:v>
                </c:pt>
                <c:pt idx="176">
                  <c:v>14.314</c:v>
                </c:pt>
                <c:pt idx="177">
                  <c:v>14.35</c:v>
                </c:pt>
                <c:pt idx="178">
                  <c:v>14.925000000000001</c:v>
                </c:pt>
                <c:pt idx="179">
                  <c:v>13.766999999999999</c:v>
                </c:pt>
                <c:pt idx="180">
                  <c:v>14.91</c:v>
                </c:pt>
                <c:pt idx="181">
                  <c:v>14.644</c:v>
                </c:pt>
                <c:pt idx="182">
                  <c:v>14.717000000000001</c:v>
                </c:pt>
                <c:pt idx="183">
                  <c:v>14.47</c:v>
                </c:pt>
                <c:pt idx="184">
                  <c:v>14.444000000000001</c:v>
                </c:pt>
                <c:pt idx="185">
                  <c:v>14.991</c:v>
                </c:pt>
                <c:pt idx="186">
                  <c:v>13.978</c:v>
                </c:pt>
                <c:pt idx="187">
                  <c:v>14.449</c:v>
                </c:pt>
                <c:pt idx="188">
                  <c:v>14.308999999999999</c:v>
                </c:pt>
                <c:pt idx="189">
                  <c:v>14.045999999999999</c:v>
                </c:pt>
                <c:pt idx="190">
                  <c:v>14.647</c:v>
                </c:pt>
                <c:pt idx="191">
                  <c:v>14.335000000000001</c:v>
                </c:pt>
                <c:pt idx="192">
                  <c:v>13.967000000000001</c:v>
                </c:pt>
                <c:pt idx="193">
                  <c:v>14.241</c:v>
                </c:pt>
                <c:pt idx="194">
                  <c:v>14.481999999999999</c:v>
                </c:pt>
                <c:pt idx="195">
                  <c:v>15.221</c:v>
                </c:pt>
                <c:pt idx="196">
                  <c:v>13.87</c:v>
                </c:pt>
                <c:pt idx="197">
                  <c:v>14.010999999999999</c:v>
                </c:pt>
                <c:pt idx="198">
                  <c:v>15.161</c:v>
                </c:pt>
                <c:pt idx="199">
                  <c:v>14.978999999999999</c:v>
                </c:pt>
                <c:pt idx="200">
                  <c:v>14.772</c:v>
                </c:pt>
                <c:pt idx="201">
                  <c:v>14.497999999999999</c:v>
                </c:pt>
                <c:pt idx="202">
                  <c:v>14.619</c:v>
                </c:pt>
                <c:pt idx="203">
                  <c:v>14.599</c:v>
                </c:pt>
                <c:pt idx="204">
                  <c:v>14.804</c:v>
                </c:pt>
                <c:pt idx="205">
                  <c:v>14.156000000000001</c:v>
                </c:pt>
                <c:pt idx="206">
                  <c:v>14.272</c:v>
                </c:pt>
                <c:pt idx="207">
                  <c:v>14.869</c:v>
                </c:pt>
                <c:pt idx="208">
                  <c:v>14.476000000000001</c:v>
                </c:pt>
                <c:pt idx="209">
                  <c:v>15.036</c:v>
                </c:pt>
                <c:pt idx="210">
                  <c:v>14.7</c:v>
                </c:pt>
                <c:pt idx="211">
                  <c:v>14.032999999999999</c:v>
                </c:pt>
                <c:pt idx="212">
                  <c:v>14.058999999999999</c:v>
                </c:pt>
                <c:pt idx="213">
                  <c:v>14.801</c:v>
                </c:pt>
                <c:pt idx="214">
                  <c:v>14.319000000000001</c:v>
                </c:pt>
                <c:pt idx="215">
                  <c:v>14.816000000000001</c:v>
                </c:pt>
                <c:pt idx="216">
                  <c:v>14.632999999999999</c:v>
                </c:pt>
                <c:pt idx="217">
                  <c:v>15.115</c:v>
                </c:pt>
                <c:pt idx="218">
                  <c:v>14.72</c:v>
                </c:pt>
                <c:pt idx="219">
                  <c:v>15.073</c:v>
                </c:pt>
                <c:pt idx="220">
                  <c:v>15.132999999999999</c:v>
                </c:pt>
                <c:pt idx="221">
                  <c:v>15.416</c:v>
                </c:pt>
                <c:pt idx="222">
                  <c:v>15.039</c:v>
                </c:pt>
                <c:pt idx="223">
                  <c:v>15.071999999999999</c:v>
                </c:pt>
                <c:pt idx="224">
                  <c:v>14.423</c:v>
                </c:pt>
                <c:pt idx="225">
                  <c:v>15.345000000000001</c:v>
                </c:pt>
                <c:pt idx="226">
                  <c:v>15.076000000000001</c:v>
                </c:pt>
                <c:pt idx="227">
                  <c:v>14.673</c:v>
                </c:pt>
                <c:pt idx="228">
                  <c:v>14.286</c:v>
                </c:pt>
                <c:pt idx="229">
                  <c:v>14.135999999999999</c:v>
                </c:pt>
                <c:pt idx="230">
                  <c:v>14.792999999999999</c:v>
                </c:pt>
                <c:pt idx="231">
                  <c:v>15.433999999999999</c:v>
                </c:pt>
                <c:pt idx="232">
                  <c:v>15.048</c:v>
                </c:pt>
                <c:pt idx="233">
                  <c:v>15.298999999999999</c:v>
                </c:pt>
                <c:pt idx="234">
                  <c:v>15.17</c:v>
                </c:pt>
                <c:pt idx="235">
                  <c:v>14.853999999999999</c:v>
                </c:pt>
                <c:pt idx="236">
                  <c:v>14.81</c:v>
                </c:pt>
                <c:pt idx="237">
                  <c:v>14.757</c:v>
                </c:pt>
                <c:pt idx="238">
                  <c:v>14.489000000000001</c:v>
                </c:pt>
                <c:pt idx="239">
                  <c:v>14.552</c:v>
                </c:pt>
                <c:pt idx="240">
                  <c:v>15.353999999999999</c:v>
                </c:pt>
                <c:pt idx="241">
                  <c:v>15.817</c:v>
                </c:pt>
                <c:pt idx="242">
                  <c:v>14.893000000000001</c:v>
                </c:pt>
                <c:pt idx="243">
                  <c:v>14.478</c:v>
                </c:pt>
                <c:pt idx="244">
                  <c:v>14.884</c:v>
                </c:pt>
                <c:pt idx="245">
                  <c:v>15.053000000000001</c:v>
                </c:pt>
                <c:pt idx="246">
                  <c:v>14.888</c:v>
                </c:pt>
                <c:pt idx="247">
                  <c:v>15.628</c:v>
                </c:pt>
                <c:pt idx="248">
                  <c:v>14.848000000000001</c:v>
                </c:pt>
                <c:pt idx="249">
                  <c:v>14.994</c:v>
                </c:pt>
                <c:pt idx="250">
                  <c:v>15.428000000000001</c:v>
                </c:pt>
                <c:pt idx="251">
                  <c:v>14.901</c:v>
                </c:pt>
                <c:pt idx="252">
                  <c:v>15.038</c:v>
                </c:pt>
                <c:pt idx="253">
                  <c:v>14.538</c:v>
                </c:pt>
                <c:pt idx="254">
                  <c:v>15.138</c:v>
                </c:pt>
                <c:pt idx="255">
                  <c:v>15.427</c:v>
                </c:pt>
                <c:pt idx="256">
                  <c:v>16.143000000000001</c:v>
                </c:pt>
                <c:pt idx="257">
                  <c:v>15.225</c:v>
                </c:pt>
                <c:pt idx="258">
                  <c:v>16.058</c:v>
                </c:pt>
                <c:pt idx="259">
                  <c:v>15.709</c:v>
                </c:pt>
                <c:pt idx="260">
                  <c:v>14.898</c:v>
                </c:pt>
                <c:pt idx="261">
                  <c:v>15.635</c:v>
                </c:pt>
                <c:pt idx="262">
                  <c:v>15.041</c:v>
                </c:pt>
                <c:pt idx="263">
                  <c:v>15.888</c:v>
                </c:pt>
                <c:pt idx="264">
                  <c:v>15.064</c:v>
                </c:pt>
                <c:pt idx="265">
                  <c:v>15.144</c:v>
                </c:pt>
                <c:pt idx="266">
                  <c:v>14.86</c:v>
                </c:pt>
                <c:pt idx="267">
                  <c:v>15.763</c:v>
                </c:pt>
                <c:pt idx="268">
                  <c:v>15.217000000000001</c:v>
                </c:pt>
                <c:pt idx="269">
                  <c:v>15.702999999999999</c:v>
                </c:pt>
                <c:pt idx="270">
                  <c:v>15.843</c:v>
                </c:pt>
                <c:pt idx="271">
                  <c:v>16.007999999999999</c:v>
                </c:pt>
                <c:pt idx="272">
                  <c:v>15.648</c:v>
                </c:pt>
                <c:pt idx="273">
                  <c:v>15.114000000000001</c:v>
                </c:pt>
                <c:pt idx="274">
                  <c:v>15.939</c:v>
                </c:pt>
                <c:pt idx="275">
                  <c:v>15.833</c:v>
                </c:pt>
                <c:pt idx="276">
                  <c:v>15.16</c:v>
                </c:pt>
                <c:pt idx="277">
                  <c:v>15.263</c:v>
                </c:pt>
                <c:pt idx="278">
                  <c:v>15.797000000000001</c:v>
                </c:pt>
                <c:pt idx="279">
                  <c:v>15.105</c:v>
                </c:pt>
                <c:pt idx="280">
                  <c:v>15.625</c:v>
                </c:pt>
                <c:pt idx="281">
                  <c:v>15.54</c:v>
                </c:pt>
                <c:pt idx="282">
                  <c:v>15.544</c:v>
                </c:pt>
                <c:pt idx="283">
                  <c:v>15.803000000000001</c:v>
                </c:pt>
                <c:pt idx="284">
                  <c:v>15.786</c:v>
                </c:pt>
                <c:pt idx="285">
                  <c:v>15.635</c:v>
                </c:pt>
                <c:pt idx="286">
                  <c:v>15.72</c:v>
                </c:pt>
                <c:pt idx="287">
                  <c:v>15.532999999999999</c:v>
                </c:pt>
                <c:pt idx="288">
                  <c:v>16.084</c:v>
                </c:pt>
                <c:pt idx="289">
                  <c:v>15.42</c:v>
                </c:pt>
                <c:pt idx="290">
                  <c:v>15.552</c:v>
                </c:pt>
                <c:pt idx="291">
                  <c:v>15.571</c:v>
                </c:pt>
                <c:pt idx="292">
                  <c:v>15.891999999999999</c:v>
                </c:pt>
                <c:pt idx="293">
                  <c:v>15.846</c:v>
                </c:pt>
                <c:pt idx="294">
                  <c:v>15.379</c:v>
                </c:pt>
                <c:pt idx="295">
                  <c:v>16.045000000000002</c:v>
                </c:pt>
                <c:pt idx="296">
                  <c:v>16.172000000000001</c:v>
                </c:pt>
                <c:pt idx="297">
                  <c:v>16.334</c:v>
                </c:pt>
                <c:pt idx="298">
                  <c:v>15.994999999999999</c:v>
                </c:pt>
                <c:pt idx="299">
                  <c:v>17.102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F67-4815-B180-14F750A4A4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Manik's IC Curve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317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9.49</c:v>
                </c:pt>
                <c:pt idx="301">
                  <c:v>10.17</c:v>
                </c:pt>
                <c:pt idx="302">
                  <c:v>10.8</c:v>
                </c:pt>
                <c:pt idx="303">
                  <c:v>11.4</c:v>
                </c:pt>
                <c:pt idx="304">
                  <c:v>11.97</c:v>
                </c:pt>
                <c:pt idx="305">
                  <c:v>12.52</c:v>
                </c:pt>
                <c:pt idx="306">
                  <c:v>18.89</c:v>
                </c:pt>
                <c:pt idx="307">
                  <c:v>23.59</c:v>
                </c:pt>
                <c:pt idx="308">
                  <c:v>27.51</c:v>
                </c:pt>
                <c:pt idx="309">
                  <c:v>30.93</c:v>
                </c:pt>
                <c:pt idx="310">
                  <c:v>34.01</c:v>
                </c:pt>
                <c:pt idx="311">
                  <c:v>36.83</c:v>
                </c:pt>
              </c:numCache>
            </c:numRef>
          </c:xVal>
          <c:yVal>
            <c:numRef>
              <c:f>Sheet1!$C$2:$C$313</c:f>
              <c:numCache>
                <c:formatCode>General</c:formatCode>
                <c:ptCount val="312"/>
                <c:pt idx="300">
                  <c:v>13.56</c:v>
                </c:pt>
                <c:pt idx="301">
                  <c:v>13.76</c:v>
                </c:pt>
                <c:pt idx="302">
                  <c:v>13.96</c:v>
                </c:pt>
                <c:pt idx="303">
                  <c:v>14.16</c:v>
                </c:pt>
                <c:pt idx="304">
                  <c:v>14.36</c:v>
                </c:pt>
                <c:pt idx="305">
                  <c:v>14.56</c:v>
                </c:pt>
                <c:pt idx="306">
                  <c:v>17.559999999999999</c:v>
                </c:pt>
                <c:pt idx="307">
                  <c:v>20.56</c:v>
                </c:pt>
                <c:pt idx="308">
                  <c:v>23.56</c:v>
                </c:pt>
                <c:pt idx="309">
                  <c:v>26.56</c:v>
                </c:pt>
                <c:pt idx="310">
                  <c:v>29.56</c:v>
                </c:pt>
                <c:pt idx="311">
                  <c:v>32.56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67-4815-B180-14F750A4A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0"/>
          <c:min val="0"/>
        </c:scaling>
        <c:delete val="0"/>
        <c:axPos val="b"/>
        <c:majorGridlines>
          <c:spPr>
            <a:ln w="12700" cap="flat">
              <a:solidFill>
                <a:srgbClr val="EEF2F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RISK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10"/>
      </c:val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RETURN</a:t>
                </a:r>
              </a:p>
            </c:rich>
          </c:tx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B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Utility Curve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0</c:v>
                </c:pt>
                <c:pt idx="15">
                  <c:v>4</c:v>
                </c:pt>
                <c:pt idx="16">
                  <c:v>7</c:v>
                </c:pt>
                <c:pt idx="17">
                  <c:v>7</c:v>
                </c:pt>
                <c:pt idx="18">
                  <c:v>8</c:v>
                </c:pt>
                <c:pt idx="19">
                  <c:v>10</c:v>
                </c:pt>
                <c:pt idx="20">
                  <c:v>15</c:v>
                </c:pt>
                <c:pt idx="21">
                  <c:v>20</c:v>
                </c:pt>
                <c:pt idx="22">
                  <c:v>0</c:v>
                </c:pt>
                <c:pt idx="23">
                  <c:v>8.3699999999999992</c:v>
                </c:pt>
                <c:pt idx="24">
                  <c:v>14.23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7.44</c:v>
                </c:pt>
                <c:pt idx="1">
                  <c:v>7.63</c:v>
                </c:pt>
                <c:pt idx="2">
                  <c:v>7.63</c:v>
                </c:pt>
                <c:pt idx="3">
                  <c:v>8.6300000000000008</c:v>
                </c:pt>
                <c:pt idx="4">
                  <c:v>9.19</c:v>
                </c:pt>
                <c:pt idx="5">
                  <c:v>9.19</c:v>
                </c:pt>
                <c:pt idx="6">
                  <c:v>9.84</c:v>
                </c:pt>
                <c:pt idx="7">
                  <c:v>10.24</c:v>
                </c:pt>
                <c:pt idx="8">
                  <c:v>10.63</c:v>
                </c:pt>
                <c:pt idx="9">
                  <c:v>7.16</c:v>
                </c:pt>
                <c:pt idx="10">
                  <c:v>8.67</c:v>
                </c:pt>
                <c:pt idx="11">
                  <c:v>10.74</c:v>
                </c:pt>
                <c:pt idx="12">
                  <c:v>10.63</c:v>
                </c:pt>
                <c:pt idx="1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AC-4EC1-BDB0-2822CFE018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 Utility Curve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0</c:v>
                </c:pt>
                <c:pt idx="15">
                  <c:v>4</c:v>
                </c:pt>
                <c:pt idx="16">
                  <c:v>7</c:v>
                </c:pt>
                <c:pt idx="17">
                  <c:v>7</c:v>
                </c:pt>
                <c:pt idx="18">
                  <c:v>8</c:v>
                </c:pt>
                <c:pt idx="19">
                  <c:v>10</c:v>
                </c:pt>
                <c:pt idx="20">
                  <c:v>15</c:v>
                </c:pt>
                <c:pt idx="21">
                  <c:v>20</c:v>
                </c:pt>
                <c:pt idx="22">
                  <c:v>0</c:v>
                </c:pt>
                <c:pt idx="23">
                  <c:v>8.3699999999999992</c:v>
                </c:pt>
                <c:pt idx="24">
                  <c:v>14.23</c:v>
                </c:pt>
              </c:numCache>
            </c:numRef>
          </c:xVal>
          <c:yVal>
            <c:numRef>
              <c:f>Sheet1!$C$2:$C$26</c:f>
              <c:numCache>
                <c:formatCode>General</c:formatCode>
                <c:ptCount val="25"/>
                <c:pt idx="14">
                  <c:v>5</c:v>
                </c:pt>
                <c:pt idx="15">
                  <c:v>8.26</c:v>
                </c:pt>
                <c:pt idx="16">
                  <c:v>7.27</c:v>
                </c:pt>
                <c:pt idx="17">
                  <c:v>9.27</c:v>
                </c:pt>
                <c:pt idx="18">
                  <c:v>10.039999999999999</c:v>
                </c:pt>
                <c:pt idx="19">
                  <c:v>8.5</c:v>
                </c:pt>
                <c:pt idx="20">
                  <c:v>8.6300000000000008</c:v>
                </c:pt>
                <c:pt idx="21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6AC-4EC1-BDB0-2822CFE018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 (Utility) Line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0</c:v>
                </c:pt>
                <c:pt idx="15">
                  <c:v>4</c:v>
                </c:pt>
                <c:pt idx="16">
                  <c:v>7</c:v>
                </c:pt>
                <c:pt idx="17">
                  <c:v>7</c:v>
                </c:pt>
                <c:pt idx="18">
                  <c:v>8</c:v>
                </c:pt>
                <c:pt idx="19">
                  <c:v>10</c:v>
                </c:pt>
                <c:pt idx="20">
                  <c:v>15</c:v>
                </c:pt>
                <c:pt idx="21">
                  <c:v>20</c:v>
                </c:pt>
                <c:pt idx="22">
                  <c:v>0</c:v>
                </c:pt>
                <c:pt idx="23">
                  <c:v>8.3699999999999992</c:v>
                </c:pt>
                <c:pt idx="24">
                  <c:v>14.23</c:v>
                </c:pt>
              </c:numCache>
            </c:numRef>
          </c:xVal>
          <c:yVal>
            <c:numRef>
              <c:f>Sheet1!$D$2:$D$26</c:f>
              <c:numCache>
                <c:formatCode>General</c:formatCode>
                <c:ptCount val="25"/>
                <c:pt idx="22">
                  <c:v>7.5</c:v>
                </c:pt>
                <c:pt idx="23">
                  <c:v>13.24</c:v>
                </c:pt>
                <c:pt idx="24">
                  <c:v>16.84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6AC-4EC1-BDB0-2822CFE01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5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Standard Deviation (SD)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  <c:majorUnit val="5"/>
      </c:val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Utility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&quot;%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Portfolio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3E5C99"/>
              </a:solidFill>
              <a:ln w="3175" cap="flat">
                <a:solidFill>
                  <a:srgbClr val="3E5C99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9.49</c:v>
                </c:pt>
                <c:pt idx="301">
                  <c:v>10.17</c:v>
                </c:pt>
                <c:pt idx="302">
                  <c:v>10.8</c:v>
                </c:pt>
                <c:pt idx="303">
                  <c:v>11.4</c:v>
                </c:pt>
                <c:pt idx="304">
                  <c:v>11.97</c:v>
                </c:pt>
                <c:pt idx="305">
                  <c:v>12.52</c:v>
                </c:pt>
                <c:pt idx="306">
                  <c:v>18.89</c:v>
                </c:pt>
                <c:pt idx="307">
                  <c:v>23.59</c:v>
                </c:pt>
                <c:pt idx="308">
                  <c:v>27.51</c:v>
                </c:pt>
                <c:pt idx="309">
                  <c:v>30.93</c:v>
                </c:pt>
                <c:pt idx="310">
                  <c:v>34.01</c:v>
                </c:pt>
                <c:pt idx="311">
                  <c:v>36.83</c:v>
                </c:pt>
              </c:numCache>
            </c:numRef>
          </c:xVal>
          <c:yVal>
            <c:numRef>
              <c:f>Sheet1!$B$2:$B$313</c:f>
              <c:numCache>
                <c:formatCode>General</c:formatCode>
                <c:ptCount val="312"/>
                <c:pt idx="0">
                  <c:v>11.621</c:v>
                </c:pt>
                <c:pt idx="1">
                  <c:v>12.212</c:v>
                </c:pt>
                <c:pt idx="2">
                  <c:v>12.468</c:v>
                </c:pt>
                <c:pt idx="3">
                  <c:v>12.545999999999999</c:v>
                </c:pt>
                <c:pt idx="4">
                  <c:v>11.554</c:v>
                </c:pt>
                <c:pt idx="5">
                  <c:v>12.510999999999999</c:v>
                </c:pt>
                <c:pt idx="6">
                  <c:v>12.452999999999999</c:v>
                </c:pt>
                <c:pt idx="7">
                  <c:v>12.345000000000001</c:v>
                </c:pt>
                <c:pt idx="8">
                  <c:v>12.542999999999999</c:v>
                </c:pt>
                <c:pt idx="9">
                  <c:v>12.462</c:v>
                </c:pt>
                <c:pt idx="10">
                  <c:v>13.012</c:v>
                </c:pt>
                <c:pt idx="11">
                  <c:v>12.663</c:v>
                </c:pt>
                <c:pt idx="12">
                  <c:v>12.754</c:v>
                </c:pt>
                <c:pt idx="13">
                  <c:v>13.375999999999999</c:v>
                </c:pt>
                <c:pt idx="14">
                  <c:v>12.763999999999999</c:v>
                </c:pt>
                <c:pt idx="15">
                  <c:v>13.561</c:v>
                </c:pt>
                <c:pt idx="16">
                  <c:v>12.872</c:v>
                </c:pt>
                <c:pt idx="17">
                  <c:v>12.903</c:v>
                </c:pt>
                <c:pt idx="18">
                  <c:v>12.531000000000001</c:v>
                </c:pt>
                <c:pt idx="19">
                  <c:v>12.36</c:v>
                </c:pt>
                <c:pt idx="20">
                  <c:v>11.852</c:v>
                </c:pt>
                <c:pt idx="21">
                  <c:v>12.843</c:v>
                </c:pt>
                <c:pt idx="22">
                  <c:v>12.75</c:v>
                </c:pt>
                <c:pt idx="23">
                  <c:v>12.544</c:v>
                </c:pt>
                <c:pt idx="24">
                  <c:v>12.558</c:v>
                </c:pt>
                <c:pt idx="25">
                  <c:v>12.667</c:v>
                </c:pt>
                <c:pt idx="26">
                  <c:v>13.214</c:v>
                </c:pt>
                <c:pt idx="27">
                  <c:v>13.224</c:v>
                </c:pt>
                <c:pt idx="28">
                  <c:v>12.805999999999999</c:v>
                </c:pt>
                <c:pt idx="29">
                  <c:v>13.571999999999999</c:v>
                </c:pt>
                <c:pt idx="30">
                  <c:v>13.118</c:v>
                </c:pt>
                <c:pt idx="31">
                  <c:v>12.957000000000001</c:v>
                </c:pt>
                <c:pt idx="32">
                  <c:v>13.506</c:v>
                </c:pt>
                <c:pt idx="33">
                  <c:v>13.343999999999999</c:v>
                </c:pt>
                <c:pt idx="34">
                  <c:v>13.34</c:v>
                </c:pt>
                <c:pt idx="35">
                  <c:v>13.538</c:v>
                </c:pt>
                <c:pt idx="36">
                  <c:v>12.599</c:v>
                </c:pt>
                <c:pt idx="37">
                  <c:v>13.742000000000001</c:v>
                </c:pt>
                <c:pt idx="38">
                  <c:v>13.157</c:v>
                </c:pt>
                <c:pt idx="39">
                  <c:v>12.862</c:v>
                </c:pt>
                <c:pt idx="40">
                  <c:v>13.182</c:v>
                </c:pt>
                <c:pt idx="41">
                  <c:v>13.273999999999999</c:v>
                </c:pt>
                <c:pt idx="42">
                  <c:v>13.587999999999999</c:v>
                </c:pt>
                <c:pt idx="43">
                  <c:v>13.473000000000001</c:v>
                </c:pt>
                <c:pt idx="44">
                  <c:v>13.544</c:v>
                </c:pt>
                <c:pt idx="45">
                  <c:v>13.19</c:v>
                </c:pt>
                <c:pt idx="46">
                  <c:v>13.32</c:v>
                </c:pt>
                <c:pt idx="47">
                  <c:v>13.587999999999999</c:v>
                </c:pt>
                <c:pt idx="48">
                  <c:v>12.763</c:v>
                </c:pt>
                <c:pt idx="49">
                  <c:v>14.119</c:v>
                </c:pt>
                <c:pt idx="50">
                  <c:v>12.925000000000001</c:v>
                </c:pt>
                <c:pt idx="51">
                  <c:v>13.715</c:v>
                </c:pt>
                <c:pt idx="52">
                  <c:v>13.426</c:v>
                </c:pt>
                <c:pt idx="53">
                  <c:v>13.157999999999999</c:v>
                </c:pt>
                <c:pt idx="54">
                  <c:v>13.096</c:v>
                </c:pt>
                <c:pt idx="55">
                  <c:v>13.887</c:v>
                </c:pt>
                <c:pt idx="56">
                  <c:v>13.587999999999999</c:v>
                </c:pt>
                <c:pt idx="57">
                  <c:v>13.420999999999999</c:v>
                </c:pt>
                <c:pt idx="58">
                  <c:v>13.723000000000001</c:v>
                </c:pt>
                <c:pt idx="59">
                  <c:v>13.525</c:v>
                </c:pt>
                <c:pt idx="60">
                  <c:v>13.909000000000001</c:v>
                </c:pt>
                <c:pt idx="61">
                  <c:v>13.493</c:v>
                </c:pt>
                <c:pt idx="62">
                  <c:v>13.135</c:v>
                </c:pt>
                <c:pt idx="63">
                  <c:v>13.888</c:v>
                </c:pt>
                <c:pt idx="64">
                  <c:v>13.904999999999999</c:v>
                </c:pt>
                <c:pt idx="65">
                  <c:v>13.760999999999999</c:v>
                </c:pt>
                <c:pt idx="66">
                  <c:v>13.819000000000001</c:v>
                </c:pt>
                <c:pt idx="67">
                  <c:v>13.733000000000001</c:v>
                </c:pt>
                <c:pt idx="68">
                  <c:v>13.54</c:v>
                </c:pt>
                <c:pt idx="69">
                  <c:v>13.448</c:v>
                </c:pt>
                <c:pt idx="70">
                  <c:v>13.08</c:v>
                </c:pt>
                <c:pt idx="71">
                  <c:v>13.207000000000001</c:v>
                </c:pt>
                <c:pt idx="72">
                  <c:v>13.226000000000001</c:v>
                </c:pt>
                <c:pt idx="73">
                  <c:v>13.12</c:v>
                </c:pt>
                <c:pt idx="74">
                  <c:v>13.571</c:v>
                </c:pt>
                <c:pt idx="75">
                  <c:v>13.807</c:v>
                </c:pt>
                <c:pt idx="76">
                  <c:v>13.939</c:v>
                </c:pt>
                <c:pt idx="77">
                  <c:v>13.263</c:v>
                </c:pt>
                <c:pt idx="78">
                  <c:v>13.602</c:v>
                </c:pt>
                <c:pt idx="79">
                  <c:v>13.284000000000001</c:v>
                </c:pt>
                <c:pt idx="80">
                  <c:v>13.76</c:v>
                </c:pt>
                <c:pt idx="81">
                  <c:v>13.912000000000001</c:v>
                </c:pt>
                <c:pt idx="82">
                  <c:v>13.253</c:v>
                </c:pt>
                <c:pt idx="83">
                  <c:v>13.689</c:v>
                </c:pt>
                <c:pt idx="84">
                  <c:v>14.433</c:v>
                </c:pt>
                <c:pt idx="85">
                  <c:v>13.435</c:v>
                </c:pt>
                <c:pt idx="86">
                  <c:v>13.295</c:v>
                </c:pt>
                <c:pt idx="87">
                  <c:v>14.015000000000001</c:v>
                </c:pt>
                <c:pt idx="88">
                  <c:v>14.004</c:v>
                </c:pt>
                <c:pt idx="89">
                  <c:v>13.079000000000001</c:v>
                </c:pt>
                <c:pt idx="90">
                  <c:v>13.215</c:v>
                </c:pt>
                <c:pt idx="91">
                  <c:v>13.991</c:v>
                </c:pt>
                <c:pt idx="92">
                  <c:v>13.44</c:v>
                </c:pt>
                <c:pt idx="93">
                  <c:v>13.971</c:v>
                </c:pt>
                <c:pt idx="94">
                  <c:v>14.27</c:v>
                </c:pt>
                <c:pt idx="95">
                  <c:v>13.75</c:v>
                </c:pt>
                <c:pt idx="96">
                  <c:v>14.273</c:v>
                </c:pt>
                <c:pt idx="97">
                  <c:v>13.353999999999999</c:v>
                </c:pt>
                <c:pt idx="98">
                  <c:v>14.092000000000001</c:v>
                </c:pt>
                <c:pt idx="99">
                  <c:v>13.93</c:v>
                </c:pt>
                <c:pt idx="100">
                  <c:v>13.31</c:v>
                </c:pt>
                <c:pt idx="101">
                  <c:v>14.484999999999999</c:v>
                </c:pt>
                <c:pt idx="102">
                  <c:v>13.909000000000001</c:v>
                </c:pt>
                <c:pt idx="103">
                  <c:v>13.852</c:v>
                </c:pt>
                <c:pt idx="104">
                  <c:v>13.954000000000001</c:v>
                </c:pt>
                <c:pt idx="105">
                  <c:v>14.205</c:v>
                </c:pt>
                <c:pt idx="106">
                  <c:v>13.044</c:v>
                </c:pt>
                <c:pt idx="107">
                  <c:v>13.582000000000001</c:v>
                </c:pt>
                <c:pt idx="108">
                  <c:v>14.286</c:v>
                </c:pt>
                <c:pt idx="109">
                  <c:v>14.099</c:v>
                </c:pt>
                <c:pt idx="110">
                  <c:v>13.933</c:v>
                </c:pt>
                <c:pt idx="111">
                  <c:v>13.715999999999999</c:v>
                </c:pt>
                <c:pt idx="112">
                  <c:v>14.086</c:v>
                </c:pt>
                <c:pt idx="113">
                  <c:v>14.225</c:v>
                </c:pt>
                <c:pt idx="114">
                  <c:v>13.613</c:v>
                </c:pt>
                <c:pt idx="115">
                  <c:v>14.082000000000001</c:v>
                </c:pt>
                <c:pt idx="116">
                  <c:v>14.252000000000001</c:v>
                </c:pt>
                <c:pt idx="117">
                  <c:v>14.180999999999999</c:v>
                </c:pt>
                <c:pt idx="118">
                  <c:v>14.265000000000001</c:v>
                </c:pt>
                <c:pt idx="119">
                  <c:v>14.113</c:v>
                </c:pt>
                <c:pt idx="120">
                  <c:v>14.092000000000001</c:v>
                </c:pt>
                <c:pt idx="121">
                  <c:v>14.417999999999999</c:v>
                </c:pt>
                <c:pt idx="122">
                  <c:v>14.369</c:v>
                </c:pt>
                <c:pt idx="123">
                  <c:v>14.169</c:v>
                </c:pt>
                <c:pt idx="124">
                  <c:v>14.586</c:v>
                </c:pt>
                <c:pt idx="125">
                  <c:v>13.792999999999999</c:v>
                </c:pt>
                <c:pt idx="126">
                  <c:v>13.481999999999999</c:v>
                </c:pt>
                <c:pt idx="127">
                  <c:v>14.634</c:v>
                </c:pt>
                <c:pt idx="128">
                  <c:v>14.513999999999999</c:v>
                </c:pt>
                <c:pt idx="129">
                  <c:v>14.794</c:v>
                </c:pt>
                <c:pt idx="130">
                  <c:v>14.63</c:v>
                </c:pt>
                <c:pt idx="131">
                  <c:v>14.205</c:v>
                </c:pt>
                <c:pt idx="132">
                  <c:v>14.294</c:v>
                </c:pt>
                <c:pt idx="133">
                  <c:v>13.587</c:v>
                </c:pt>
                <c:pt idx="134">
                  <c:v>13.644</c:v>
                </c:pt>
                <c:pt idx="135">
                  <c:v>14.436999999999999</c:v>
                </c:pt>
                <c:pt idx="136">
                  <c:v>14.117000000000001</c:v>
                </c:pt>
                <c:pt idx="137">
                  <c:v>14.018000000000001</c:v>
                </c:pt>
                <c:pt idx="138">
                  <c:v>14.023999999999999</c:v>
                </c:pt>
                <c:pt idx="139">
                  <c:v>13.86</c:v>
                </c:pt>
                <c:pt idx="140">
                  <c:v>13.847</c:v>
                </c:pt>
                <c:pt idx="141">
                  <c:v>13.984</c:v>
                </c:pt>
                <c:pt idx="142">
                  <c:v>14.109</c:v>
                </c:pt>
                <c:pt idx="143">
                  <c:v>14.303000000000001</c:v>
                </c:pt>
                <c:pt idx="144">
                  <c:v>13.811</c:v>
                </c:pt>
                <c:pt idx="145">
                  <c:v>14.582000000000001</c:v>
                </c:pt>
                <c:pt idx="146">
                  <c:v>13.792</c:v>
                </c:pt>
                <c:pt idx="147">
                  <c:v>13.71</c:v>
                </c:pt>
                <c:pt idx="148">
                  <c:v>13.92</c:v>
                </c:pt>
                <c:pt idx="149">
                  <c:v>14.063000000000001</c:v>
                </c:pt>
                <c:pt idx="150">
                  <c:v>14.170999999999999</c:v>
                </c:pt>
                <c:pt idx="151">
                  <c:v>15.116</c:v>
                </c:pt>
                <c:pt idx="152">
                  <c:v>14.654999999999999</c:v>
                </c:pt>
                <c:pt idx="153">
                  <c:v>14.307</c:v>
                </c:pt>
                <c:pt idx="154">
                  <c:v>13.538</c:v>
                </c:pt>
                <c:pt idx="155">
                  <c:v>13.535</c:v>
                </c:pt>
                <c:pt idx="156">
                  <c:v>14.545</c:v>
                </c:pt>
                <c:pt idx="157">
                  <c:v>14.467000000000001</c:v>
                </c:pt>
                <c:pt idx="158">
                  <c:v>14.387</c:v>
                </c:pt>
                <c:pt idx="159">
                  <c:v>14.048999999999999</c:v>
                </c:pt>
                <c:pt idx="160">
                  <c:v>13.984</c:v>
                </c:pt>
                <c:pt idx="161">
                  <c:v>14.515000000000001</c:v>
                </c:pt>
                <c:pt idx="162">
                  <c:v>14.82</c:v>
                </c:pt>
                <c:pt idx="163">
                  <c:v>14.036</c:v>
                </c:pt>
                <c:pt idx="164">
                  <c:v>13.878</c:v>
                </c:pt>
                <c:pt idx="165">
                  <c:v>14.52</c:v>
                </c:pt>
                <c:pt idx="166">
                  <c:v>14.747999999999999</c:v>
                </c:pt>
                <c:pt idx="167">
                  <c:v>14.31</c:v>
                </c:pt>
                <c:pt idx="168">
                  <c:v>14.129</c:v>
                </c:pt>
                <c:pt idx="169">
                  <c:v>14.558</c:v>
                </c:pt>
                <c:pt idx="170">
                  <c:v>14.48</c:v>
                </c:pt>
                <c:pt idx="171">
                  <c:v>13.917999999999999</c:v>
                </c:pt>
                <c:pt idx="172">
                  <c:v>14.472</c:v>
                </c:pt>
                <c:pt idx="173">
                  <c:v>14.323</c:v>
                </c:pt>
                <c:pt idx="174">
                  <c:v>15.170999999999999</c:v>
                </c:pt>
                <c:pt idx="175">
                  <c:v>14.374000000000001</c:v>
                </c:pt>
                <c:pt idx="176">
                  <c:v>14.314</c:v>
                </c:pt>
                <c:pt idx="177">
                  <c:v>14.35</c:v>
                </c:pt>
                <c:pt idx="178">
                  <c:v>14.925000000000001</c:v>
                </c:pt>
                <c:pt idx="179">
                  <c:v>13.766999999999999</c:v>
                </c:pt>
                <c:pt idx="180">
                  <c:v>14.91</c:v>
                </c:pt>
                <c:pt idx="181">
                  <c:v>14.644</c:v>
                </c:pt>
                <c:pt idx="182">
                  <c:v>14.717000000000001</c:v>
                </c:pt>
                <c:pt idx="183">
                  <c:v>14.47</c:v>
                </c:pt>
                <c:pt idx="184">
                  <c:v>14.444000000000001</c:v>
                </c:pt>
                <c:pt idx="185">
                  <c:v>14.991</c:v>
                </c:pt>
                <c:pt idx="186">
                  <c:v>13.978</c:v>
                </c:pt>
                <c:pt idx="187">
                  <c:v>14.449</c:v>
                </c:pt>
                <c:pt idx="188">
                  <c:v>14.308999999999999</c:v>
                </c:pt>
                <c:pt idx="189">
                  <c:v>14.045999999999999</c:v>
                </c:pt>
                <c:pt idx="190">
                  <c:v>14.647</c:v>
                </c:pt>
                <c:pt idx="191">
                  <c:v>14.335000000000001</c:v>
                </c:pt>
                <c:pt idx="192">
                  <c:v>13.967000000000001</c:v>
                </c:pt>
                <c:pt idx="193">
                  <c:v>14.241</c:v>
                </c:pt>
                <c:pt idx="194">
                  <c:v>14.481999999999999</c:v>
                </c:pt>
                <c:pt idx="195">
                  <c:v>15.221</c:v>
                </c:pt>
                <c:pt idx="196">
                  <c:v>13.87</c:v>
                </c:pt>
                <c:pt idx="197">
                  <c:v>14.010999999999999</c:v>
                </c:pt>
                <c:pt idx="198">
                  <c:v>15.161</c:v>
                </c:pt>
                <c:pt idx="199">
                  <c:v>14.978999999999999</c:v>
                </c:pt>
                <c:pt idx="200">
                  <c:v>14.772</c:v>
                </c:pt>
                <c:pt idx="201">
                  <c:v>14.497999999999999</c:v>
                </c:pt>
                <c:pt idx="202">
                  <c:v>14.619</c:v>
                </c:pt>
                <c:pt idx="203">
                  <c:v>14.599</c:v>
                </c:pt>
                <c:pt idx="204">
                  <c:v>14.804</c:v>
                </c:pt>
                <c:pt idx="205">
                  <c:v>14.156000000000001</c:v>
                </c:pt>
                <c:pt idx="206">
                  <c:v>14.272</c:v>
                </c:pt>
                <c:pt idx="207">
                  <c:v>14.869</c:v>
                </c:pt>
                <c:pt idx="208">
                  <c:v>14.476000000000001</c:v>
                </c:pt>
                <c:pt idx="209">
                  <c:v>15.036</c:v>
                </c:pt>
                <c:pt idx="210">
                  <c:v>14.7</c:v>
                </c:pt>
                <c:pt idx="211">
                  <c:v>14.032999999999999</c:v>
                </c:pt>
                <c:pt idx="212">
                  <c:v>14.058999999999999</c:v>
                </c:pt>
                <c:pt idx="213">
                  <c:v>14.801</c:v>
                </c:pt>
                <c:pt idx="214">
                  <c:v>14.319000000000001</c:v>
                </c:pt>
                <c:pt idx="215">
                  <c:v>14.816000000000001</c:v>
                </c:pt>
                <c:pt idx="216">
                  <c:v>14.632999999999999</c:v>
                </c:pt>
                <c:pt idx="217">
                  <c:v>15.115</c:v>
                </c:pt>
                <c:pt idx="218">
                  <c:v>14.72</c:v>
                </c:pt>
                <c:pt idx="219">
                  <c:v>15.073</c:v>
                </c:pt>
                <c:pt idx="220">
                  <c:v>15.132999999999999</c:v>
                </c:pt>
                <c:pt idx="221">
                  <c:v>15.416</c:v>
                </c:pt>
                <c:pt idx="222">
                  <c:v>15.039</c:v>
                </c:pt>
                <c:pt idx="223">
                  <c:v>15.071999999999999</c:v>
                </c:pt>
                <c:pt idx="224">
                  <c:v>14.423</c:v>
                </c:pt>
                <c:pt idx="225">
                  <c:v>15.345000000000001</c:v>
                </c:pt>
                <c:pt idx="226">
                  <c:v>15.076000000000001</c:v>
                </c:pt>
                <c:pt idx="227">
                  <c:v>14.673</c:v>
                </c:pt>
                <c:pt idx="228">
                  <c:v>14.286</c:v>
                </c:pt>
                <c:pt idx="229">
                  <c:v>14.135999999999999</c:v>
                </c:pt>
                <c:pt idx="230">
                  <c:v>14.792999999999999</c:v>
                </c:pt>
                <c:pt idx="231">
                  <c:v>15.433999999999999</c:v>
                </c:pt>
                <c:pt idx="232">
                  <c:v>15.048</c:v>
                </c:pt>
                <c:pt idx="233">
                  <c:v>15.298999999999999</c:v>
                </c:pt>
                <c:pt idx="234">
                  <c:v>15.17</c:v>
                </c:pt>
                <c:pt idx="235">
                  <c:v>14.853999999999999</c:v>
                </c:pt>
                <c:pt idx="236">
                  <c:v>14.81</c:v>
                </c:pt>
                <c:pt idx="237">
                  <c:v>14.757</c:v>
                </c:pt>
                <c:pt idx="238">
                  <c:v>14.489000000000001</c:v>
                </c:pt>
                <c:pt idx="239">
                  <c:v>14.552</c:v>
                </c:pt>
                <c:pt idx="240">
                  <c:v>15.353999999999999</c:v>
                </c:pt>
                <c:pt idx="241">
                  <c:v>15.817</c:v>
                </c:pt>
                <c:pt idx="242">
                  <c:v>14.893000000000001</c:v>
                </c:pt>
                <c:pt idx="243">
                  <c:v>14.478</c:v>
                </c:pt>
                <c:pt idx="244">
                  <c:v>14.884</c:v>
                </c:pt>
                <c:pt idx="245">
                  <c:v>15.053000000000001</c:v>
                </c:pt>
                <c:pt idx="246">
                  <c:v>14.888</c:v>
                </c:pt>
                <c:pt idx="247">
                  <c:v>15.628</c:v>
                </c:pt>
                <c:pt idx="248">
                  <c:v>14.848000000000001</c:v>
                </c:pt>
                <c:pt idx="249">
                  <c:v>14.994</c:v>
                </c:pt>
                <c:pt idx="250">
                  <c:v>15.428000000000001</c:v>
                </c:pt>
                <c:pt idx="251">
                  <c:v>14.901</c:v>
                </c:pt>
                <c:pt idx="252">
                  <c:v>15.038</c:v>
                </c:pt>
                <c:pt idx="253">
                  <c:v>14.538</c:v>
                </c:pt>
                <c:pt idx="254">
                  <c:v>15.138</c:v>
                </c:pt>
                <c:pt idx="255">
                  <c:v>15.427</c:v>
                </c:pt>
                <c:pt idx="256">
                  <c:v>16.143000000000001</c:v>
                </c:pt>
                <c:pt idx="257">
                  <c:v>15.225</c:v>
                </c:pt>
                <c:pt idx="258">
                  <c:v>16.058</c:v>
                </c:pt>
                <c:pt idx="259">
                  <c:v>15.709</c:v>
                </c:pt>
                <c:pt idx="260">
                  <c:v>14.898</c:v>
                </c:pt>
                <c:pt idx="261">
                  <c:v>15.635</c:v>
                </c:pt>
                <c:pt idx="262">
                  <c:v>15.041</c:v>
                </c:pt>
                <c:pt idx="263">
                  <c:v>15.888</c:v>
                </c:pt>
                <c:pt idx="264">
                  <c:v>15.064</c:v>
                </c:pt>
                <c:pt idx="265">
                  <c:v>15.144</c:v>
                </c:pt>
                <c:pt idx="266">
                  <c:v>14.86</c:v>
                </c:pt>
                <c:pt idx="267">
                  <c:v>15.763</c:v>
                </c:pt>
                <c:pt idx="268">
                  <c:v>15.217000000000001</c:v>
                </c:pt>
                <c:pt idx="269">
                  <c:v>15.702999999999999</c:v>
                </c:pt>
                <c:pt idx="270">
                  <c:v>15.843</c:v>
                </c:pt>
                <c:pt idx="271">
                  <c:v>16.007999999999999</c:v>
                </c:pt>
                <c:pt idx="272">
                  <c:v>15.648</c:v>
                </c:pt>
                <c:pt idx="273">
                  <c:v>15.114000000000001</c:v>
                </c:pt>
                <c:pt idx="274">
                  <c:v>15.939</c:v>
                </c:pt>
                <c:pt idx="275">
                  <c:v>15.833</c:v>
                </c:pt>
                <c:pt idx="276">
                  <c:v>15.16</c:v>
                </c:pt>
                <c:pt idx="277">
                  <c:v>15.263</c:v>
                </c:pt>
                <c:pt idx="278">
                  <c:v>15.797000000000001</c:v>
                </c:pt>
                <c:pt idx="279">
                  <c:v>15.105</c:v>
                </c:pt>
                <c:pt idx="280">
                  <c:v>15.625</c:v>
                </c:pt>
                <c:pt idx="281">
                  <c:v>15.54</c:v>
                </c:pt>
                <c:pt idx="282">
                  <c:v>15.544</c:v>
                </c:pt>
                <c:pt idx="283">
                  <c:v>15.803000000000001</c:v>
                </c:pt>
                <c:pt idx="284">
                  <c:v>15.786</c:v>
                </c:pt>
                <c:pt idx="285">
                  <c:v>15.635</c:v>
                </c:pt>
                <c:pt idx="286">
                  <c:v>15.72</c:v>
                </c:pt>
                <c:pt idx="287">
                  <c:v>15.532999999999999</c:v>
                </c:pt>
                <c:pt idx="288">
                  <c:v>16.084</c:v>
                </c:pt>
                <c:pt idx="289">
                  <c:v>15.42</c:v>
                </c:pt>
                <c:pt idx="290">
                  <c:v>15.552</c:v>
                </c:pt>
                <c:pt idx="291">
                  <c:v>15.571</c:v>
                </c:pt>
                <c:pt idx="292">
                  <c:v>15.891999999999999</c:v>
                </c:pt>
                <c:pt idx="293">
                  <c:v>15.846</c:v>
                </c:pt>
                <c:pt idx="294">
                  <c:v>15.379</c:v>
                </c:pt>
                <c:pt idx="295">
                  <c:v>16.045000000000002</c:v>
                </c:pt>
                <c:pt idx="296">
                  <c:v>16.172000000000001</c:v>
                </c:pt>
                <c:pt idx="297">
                  <c:v>16.334</c:v>
                </c:pt>
                <c:pt idx="298">
                  <c:v>15.994999999999999</c:v>
                </c:pt>
                <c:pt idx="299">
                  <c:v>17.102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3D7-4193-807E-649F9EC2FA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Tarana's IC Curve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317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9.49</c:v>
                </c:pt>
                <c:pt idx="301">
                  <c:v>10.17</c:v>
                </c:pt>
                <c:pt idx="302">
                  <c:v>10.8</c:v>
                </c:pt>
                <c:pt idx="303">
                  <c:v>11.4</c:v>
                </c:pt>
                <c:pt idx="304">
                  <c:v>11.97</c:v>
                </c:pt>
                <c:pt idx="305">
                  <c:v>12.52</c:v>
                </c:pt>
                <c:pt idx="306">
                  <c:v>18.89</c:v>
                </c:pt>
                <c:pt idx="307">
                  <c:v>23.59</c:v>
                </c:pt>
                <c:pt idx="308">
                  <c:v>27.51</c:v>
                </c:pt>
                <c:pt idx="309">
                  <c:v>30.93</c:v>
                </c:pt>
                <c:pt idx="310">
                  <c:v>34.01</c:v>
                </c:pt>
                <c:pt idx="311">
                  <c:v>36.83</c:v>
                </c:pt>
              </c:numCache>
            </c:numRef>
          </c:xVal>
          <c:yVal>
            <c:numRef>
              <c:f>Sheet1!$C$2:$C$313</c:f>
              <c:numCache>
                <c:formatCode>General</c:formatCode>
                <c:ptCount val="312"/>
                <c:pt idx="300">
                  <c:v>13.56</c:v>
                </c:pt>
                <c:pt idx="301">
                  <c:v>13.76</c:v>
                </c:pt>
                <c:pt idx="302">
                  <c:v>13.96</c:v>
                </c:pt>
                <c:pt idx="303">
                  <c:v>14.16</c:v>
                </c:pt>
                <c:pt idx="304">
                  <c:v>14.36</c:v>
                </c:pt>
                <c:pt idx="305">
                  <c:v>14.56</c:v>
                </c:pt>
                <c:pt idx="306">
                  <c:v>17.559999999999999</c:v>
                </c:pt>
                <c:pt idx="307">
                  <c:v>20.56</c:v>
                </c:pt>
                <c:pt idx="308">
                  <c:v>23.56</c:v>
                </c:pt>
                <c:pt idx="309">
                  <c:v>26.56</c:v>
                </c:pt>
                <c:pt idx="310">
                  <c:v>29.56</c:v>
                </c:pt>
                <c:pt idx="311">
                  <c:v>32.56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3D7-4193-807E-649F9EC2F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0"/>
          <c:min val="0"/>
        </c:scaling>
        <c:delete val="0"/>
        <c:axPos val="b"/>
        <c:majorGridlines>
          <c:spPr>
            <a:ln w="12700" cap="flat">
              <a:solidFill>
                <a:srgbClr val="EEF2F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RISK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10"/>
      </c:val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RETURN</a:t>
                </a:r>
              </a:p>
            </c:rich>
          </c:tx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B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Utility Curve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1.5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9</c:v>
                </c:pt>
                <c:pt idx="19">
                  <c:v>16.5</c:v>
                </c:pt>
                <c:pt idx="20">
                  <c:v>16.5</c:v>
                </c:pt>
                <c:pt idx="21">
                  <c:v>0</c:v>
                </c:pt>
                <c:pt idx="22">
                  <c:v>8.3699999999999992</c:v>
                </c:pt>
                <c:pt idx="23">
                  <c:v>14.23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7.42</c:v>
                </c:pt>
                <c:pt idx="1">
                  <c:v>7.5</c:v>
                </c:pt>
                <c:pt idx="2">
                  <c:v>7.5</c:v>
                </c:pt>
                <c:pt idx="3">
                  <c:v>8.5</c:v>
                </c:pt>
                <c:pt idx="4">
                  <c:v>8.58</c:v>
                </c:pt>
                <c:pt idx="5">
                  <c:v>8.58</c:v>
                </c:pt>
                <c:pt idx="6">
                  <c:v>9.1199999999999992</c:v>
                </c:pt>
                <c:pt idx="7">
                  <c:v>9.4</c:v>
                </c:pt>
                <c:pt idx="8">
                  <c:v>9.5</c:v>
                </c:pt>
                <c:pt idx="9">
                  <c:v>5.88</c:v>
                </c:pt>
                <c:pt idx="10">
                  <c:v>7.22</c:v>
                </c:pt>
                <c:pt idx="11">
                  <c:v>8.32</c:v>
                </c:pt>
                <c:pt idx="12">
                  <c:v>7.5</c:v>
                </c:pt>
                <c:pt idx="13">
                  <c:v>-7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55-4ECE-A5A7-5E173E5B6F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 Utility Curve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1.5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9</c:v>
                </c:pt>
                <c:pt idx="19">
                  <c:v>16.5</c:v>
                </c:pt>
                <c:pt idx="20">
                  <c:v>16.5</c:v>
                </c:pt>
                <c:pt idx="21">
                  <c:v>0</c:v>
                </c:pt>
                <c:pt idx="22">
                  <c:v>8.3699999999999992</c:v>
                </c:pt>
                <c:pt idx="23">
                  <c:v>14.23</c:v>
                </c:pt>
              </c:numCache>
            </c:numRef>
          </c:xVal>
          <c:yVal>
            <c:numRef>
              <c:f>Sheet1!$C$2:$C$25</c:f>
              <c:numCache>
                <c:formatCode>General</c:formatCode>
                <c:ptCount val="24"/>
                <c:pt idx="14">
                  <c:v>6.46</c:v>
                </c:pt>
                <c:pt idx="15">
                  <c:v>9.52</c:v>
                </c:pt>
                <c:pt idx="16">
                  <c:v>10.52</c:v>
                </c:pt>
                <c:pt idx="17">
                  <c:v>8.02</c:v>
                </c:pt>
                <c:pt idx="18">
                  <c:v>7.38</c:v>
                </c:pt>
                <c:pt idx="19">
                  <c:v>9.5500000000000007</c:v>
                </c:pt>
                <c:pt idx="20">
                  <c:v>9.5500000000000007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555-4ECE-A5A7-5E173E5B6F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 (Utility) Line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11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22</c:v>
                </c:pt>
                <c:pt idx="12">
                  <c:v>25</c:v>
                </c:pt>
                <c:pt idx="13">
                  <c:v>40</c:v>
                </c:pt>
                <c:pt idx="14">
                  <c:v>1.5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9</c:v>
                </c:pt>
                <c:pt idx="19">
                  <c:v>16.5</c:v>
                </c:pt>
                <c:pt idx="20">
                  <c:v>16.5</c:v>
                </c:pt>
                <c:pt idx="21">
                  <c:v>0</c:v>
                </c:pt>
                <c:pt idx="22">
                  <c:v>8.3699999999999992</c:v>
                </c:pt>
                <c:pt idx="23">
                  <c:v>14.23</c:v>
                </c:pt>
              </c:numCache>
            </c:numRef>
          </c:xVal>
          <c:yVal>
            <c:numRef>
              <c:f>Sheet1!$D$2:$D$25</c:f>
              <c:numCache>
                <c:formatCode>General</c:formatCode>
                <c:ptCount val="24"/>
                <c:pt idx="21">
                  <c:v>7.5</c:v>
                </c:pt>
                <c:pt idx="22">
                  <c:v>13.24</c:v>
                </c:pt>
                <c:pt idx="23">
                  <c:v>16.84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555-4ECE-A5A7-5E173E5B6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5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Standard Deviation (SD)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  <c:majorUnit val="5"/>
      </c:valAx>
      <c:valAx>
        <c:axId val="2094734552"/>
        <c:scaling>
          <c:orientation val="minMax"/>
          <c:max val="20"/>
          <c:min val="-1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Utility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&quot;%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Portfolio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3E5C99"/>
              </a:solidFill>
              <a:ln w="3175" cap="flat">
                <a:solidFill>
                  <a:srgbClr val="3E5C99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9.6300000000000008</c:v>
                </c:pt>
                <c:pt idx="301">
                  <c:v>10.130000000000001</c:v>
                </c:pt>
                <c:pt idx="302">
                  <c:v>10.62</c:v>
                </c:pt>
                <c:pt idx="303">
                  <c:v>11.08</c:v>
                </c:pt>
                <c:pt idx="304">
                  <c:v>11.52</c:v>
                </c:pt>
                <c:pt idx="305">
                  <c:v>11.95</c:v>
                </c:pt>
                <c:pt idx="306">
                  <c:v>17.11</c:v>
                </c:pt>
                <c:pt idx="307">
                  <c:v>21.04</c:v>
                </c:pt>
                <c:pt idx="308">
                  <c:v>24.35</c:v>
                </c:pt>
                <c:pt idx="309">
                  <c:v>27.25</c:v>
                </c:pt>
                <c:pt idx="310">
                  <c:v>29.88</c:v>
                </c:pt>
                <c:pt idx="311">
                  <c:v>32.29</c:v>
                </c:pt>
              </c:numCache>
            </c:numRef>
          </c:xVal>
          <c:yVal>
            <c:numRef>
              <c:f>Sheet1!$B$2:$B$313</c:f>
              <c:numCache>
                <c:formatCode>General</c:formatCode>
                <c:ptCount val="312"/>
                <c:pt idx="0">
                  <c:v>11.621</c:v>
                </c:pt>
                <c:pt idx="1">
                  <c:v>12.212</c:v>
                </c:pt>
                <c:pt idx="2">
                  <c:v>12.468</c:v>
                </c:pt>
                <c:pt idx="3">
                  <c:v>12.545999999999999</c:v>
                </c:pt>
                <c:pt idx="4">
                  <c:v>11.554</c:v>
                </c:pt>
                <c:pt idx="5">
                  <c:v>12.510999999999999</c:v>
                </c:pt>
                <c:pt idx="6">
                  <c:v>12.452999999999999</c:v>
                </c:pt>
                <c:pt idx="7">
                  <c:v>12.345000000000001</c:v>
                </c:pt>
                <c:pt idx="8">
                  <c:v>12.542999999999999</c:v>
                </c:pt>
                <c:pt idx="9">
                  <c:v>12.462</c:v>
                </c:pt>
                <c:pt idx="10">
                  <c:v>13.012</c:v>
                </c:pt>
                <c:pt idx="11">
                  <c:v>12.663</c:v>
                </c:pt>
                <c:pt idx="12">
                  <c:v>12.754</c:v>
                </c:pt>
                <c:pt idx="13">
                  <c:v>13.375999999999999</c:v>
                </c:pt>
                <c:pt idx="14">
                  <c:v>12.763999999999999</c:v>
                </c:pt>
                <c:pt idx="15">
                  <c:v>13.561</c:v>
                </c:pt>
                <c:pt idx="16">
                  <c:v>12.872</c:v>
                </c:pt>
                <c:pt idx="17">
                  <c:v>12.903</c:v>
                </c:pt>
                <c:pt idx="18">
                  <c:v>12.531000000000001</c:v>
                </c:pt>
                <c:pt idx="19">
                  <c:v>12.36</c:v>
                </c:pt>
                <c:pt idx="20">
                  <c:v>11.852</c:v>
                </c:pt>
                <c:pt idx="21">
                  <c:v>12.843</c:v>
                </c:pt>
                <c:pt idx="22">
                  <c:v>12.75</c:v>
                </c:pt>
                <c:pt idx="23">
                  <c:v>12.544</c:v>
                </c:pt>
                <c:pt idx="24">
                  <c:v>12.558</c:v>
                </c:pt>
                <c:pt idx="25">
                  <c:v>12.667</c:v>
                </c:pt>
                <c:pt idx="26">
                  <c:v>13.214</c:v>
                </c:pt>
                <c:pt idx="27">
                  <c:v>13.224</c:v>
                </c:pt>
                <c:pt idx="28">
                  <c:v>12.805999999999999</c:v>
                </c:pt>
                <c:pt idx="29">
                  <c:v>13.571999999999999</c:v>
                </c:pt>
                <c:pt idx="30">
                  <c:v>13.118</c:v>
                </c:pt>
                <c:pt idx="31">
                  <c:v>12.957000000000001</c:v>
                </c:pt>
                <c:pt idx="32">
                  <c:v>13.506</c:v>
                </c:pt>
                <c:pt idx="33">
                  <c:v>13.343999999999999</c:v>
                </c:pt>
                <c:pt idx="34">
                  <c:v>13.34</c:v>
                </c:pt>
                <c:pt idx="35">
                  <c:v>13.538</c:v>
                </c:pt>
                <c:pt idx="36">
                  <c:v>12.599</c:v>
                </c:pt>
                <c:pt idx="37">
                  <c:v>13.742000000000001</c:v>
                </c:pt>
                <c:pt idx="38">
                  <c:v>13.157</c:v>
                </c:pt>
                <c:pt idx="39">
                  <c:v>12.862</c:v>
                </c:pt>
                <c:pt idx="40">
                  <c:v>13.182</c:v>
                </c:pt>
                <c:pt idx="41">
                  <c:v>13.273999999999999</c:v>
                </c:pt>
                <c:pt idx="42">
                  <c:v>13.587999999999999</c:v>
                </c:pt>
                <c:pt idx="43">
                  <c:v>13.473000000000001</c:v>
                </c:pt>
                <c:pt idx="44">
                  <c:v>13.544</c:v>
                </c:pt>
                <c:pt idx="45">
                  <c:v>13.19</c:v>
                </c:pt>
                <c:pt idx="46">
                  <c:v>13.32</c:v>
                </c:pt>
                <c:pt idx="47">
                  <c:v>13.587999999999999</c:v>
                </c:pt>
                <c:pt idx="48">
                  <c:v>12.763</c:v>
                </c:pt>
                <c:pt idx="49">
                  <c:v>14.119</c:v>
                </c:pt>
                <c:pt idx="50">
                  <c:v>12.925000000000001</c:v>
                </c:pt>
                <c:pt idx="51">
                  <c:v>13.715</c:v>
                </c:pt>
                <c:pt idx="52">
                  <c:v>13.426</c:v>
                </c:pt>
                <c:pt idx="53">
                  <c:v>13.157999999999999</c:v>
                </c:pt>
                <c:pt idx="54">
                  <c:v>13.096</c:v>
                </c:pt>
                <c:pt idx="55">
                  <c:v>13.887</c:v>
                </c:pt>
                <c:pt idx="56">
                  <c:v>13.587999999999999</c:v>
                </c:pt>
                <c:pt idx="57">
                  <c:v>13.420999999999999</c:v>
                </c:pt>
                <c:pt idx="58">
                  <c:v>13.723000000000001</c:v>
                </c:pt>
                <c:pt idx="59">
                  <c:v>13.525</c:v>
                </c:pt>
                <c:pt idx="60">
                  <c:v>13.909000000000001</c:v>
                </c:pt>
                <c:pt idx="61">
                  <c:v>13.493</c:v>
                </c:pt>
                <c:pt idx="62">
                  <c:v>13.135</c:v>
                </c:pt>
                <c:pt idx="63">
                  <c:v>13.888</c:v>
                </c:pt>
                <c:pt idx="64">
                  <c:v>13.904999999999999</c:v>
                </c:pt>
                <c:pt idx="65">
                  <c:v>13.760999999999999</c:v>
                </c:pt>
                <c:pt idx="66">
                  <c:v>13.819000000000001</c:v>
                </c:pt>
                <c:pt idx="67">
                  <c:v>13.733000000000001</c:v>
                </c:pt>
                <c:pt idx="68">
                  <c:v>13.54</c:v>
                </c:pt>
                <c:pt idx="69">
                  <c:v>13.448</c:v>
                </c:pt>
                <c:pt idx="70">
                  <c:v>13.08</c:v>
                </c:pt>
                <c:pt idx="71">
                  <c:v>13.207000000000001</c:v>
                </c:pt>
                <c:pt idx="72">
                  <c:v>13.226000000000001</c:v>
                </c:pt>
                <c:pt idx="73">
                  <c:v>13.12</c:v>
                </c:pt>
                <c:pt idx="74">
                  <c:v>13.571</c:v>
                </c:pt>
                <c:pt idx="75">
                  <c:v>13.807</c:v>
                </c:pt>
                <c:pt idx="76">
                  <c:v>13.939</c:v>
                </c:pt>
                <c:pt idx="77">
                  <c:v>13.263</c:v>
                </c:pt>
                <c:pt idx="78">
                  <c:v>13.602</c:v>
                </c:pt>
                <c:pt idx="79">
                  <c:v>13.284000000000001</c:v>
                </c:pt>
                <c:pt idx="80">
                  <c:v>13.76</c:v>
                </c:pt>
                <c:pt idx="81">
                  <c:v>13.912000000000001</c:v>
                </c:pt>
                <c:pt idx="82">
                  <c:v>13.253</c:v>
                </c:pt>
                <c:pt idx="83">
                  <c:v>13.689</c:v>
                </c:pt>
                <c:pt idx="84">
                  <c:v>14.433</c:v>
                </c:pt>
                <c:pt idx="85">
                  <c:v>13.435</c:v>
                </c:pt>
                <c:pt idx="86">
                  <c:v>13.295</c:v>
                </c:pt>
                <c:pt idx="87">
                  <c:v>14.015000000000001</c:v>
                </c:pt>
                <c:pt idx="88">
                  <c:v>14.004</c:v>
                </c:pt>
                <c:pt idx="89">
                  <c:v>13.079000000000001</c:v>
                </c:pt>
                <c:pt idx="90">
                  <c:v>13.215</c:v>
                </c:pt>
                <c:pt idx="91">
                  <c:v>13.991</c:v>
                </c:pt>
                <c:pt idx="92">
                  <c:v>13.44</c:v>
                </c:pt>
                <c:pt idx="93">
                  <c:v>13.971</c:v>
                </c:pt>
                <c:pt idx="94">
                  <c:v>14.27</c:v>
                </c:pt>
                <c:pt idx="95">
                  <c:v>13.75</c:v>
                </c:pt>
                <c:pt idx="96">
                  <c:v>14.273</c:v>
                </c:pt>
                <c:pt idx="97">
                  <c:v>13.353999999999999</c:v>
                </c:pt>
                <c:pt idx="98">
                  <c:v>14.092000000000001</c:v>
                </c:pt>
                <c:pt idx="99">
                  <c:v>13.93</c:v>
                </c:pt>
                <c:pt idx="100">
                  <c:v>13.31</c:v>
                </c:pt>
                <c:pt idx="101">
                  <c:v>14.484999999999999</c:v>
                </c:pt>
                <c:pt idx="102">
                  <c:v>13.909000000000001</c:v>
                </c:pt>
                <c:pt idx="103">
                  <c:v>13.852</c:v>
                </c:pt>
                <c:pt idx="104">
                  <c:v>13.954000000000001</c:v>
                </c:pt>
                <c:pt idx="105">
                  <c:v>14.205</c:v>
                </c:pt>
                <c:pt idx="106">
                  <c:v>13.044</c:v>
                </c:pt>
                <c:pt idx="107">
                  <c:v>13.582000000000001</c:v>
                </c:pt>
                <c:pt idx="108">
                  <c:v>14.286</c:v>
                </c:pt>
                <c:pt idx="109">
                  <c:v>14.099</c:v>
                </c:pt>
                <c:pt idx="110">
                  <c:v>13.933</c:v>
                </c:pt>
                <c:pt idx="111">
                  <c:v>13.715999999999999</c:v>
                </c:pt>
                <c:pt idx="112">
                  <c:v>14.086</c:v>
                </c:pt>
                <c:pt idx="113">
                  <c:v>14.225</c:v>
                </c:pt>
                <c:pt idx="114">
                  <c:v>13.613</c:v>
                </c:pt>
                <c:pt idx="115">
                  <c:v>14.082000000000001</c:v>
                </c:pt>
                <c:pt idx="116">
                  <c:v>14.252000000000001</c:v>
                </c:pt>
                <c:pt idx="117">
                  <c:v>14.180999999999999</c:v>
                </c:pt>
                <c:pt idx="118">
                  <c:v>14.265000000000001</c:v>
                </c:pt>
                <c:pt idx="119">
                  <c:v>14.113</c:v>
                </c:pt>
                <c:pt idx="120">
                  <c:v>14.092000000000001</c:v>
                </c:pt>
                <c:pt idx="121">
                  <c:v>14.417999999999999</c:v>
                </c:pt>
                <c:pt idx="122">
                  <c:v>14.369</c:v>
                </c:pt>
                <c:pt idx="123">
                  <c:v>14.169</c:v>
                </c:pt>
                <c:pt idx="124">
                  <c:v>14.586</c:v>
                </c:pt>
                <c:pt idx="125">
                  <c:v>13.792999999999999</c:v>
                </c:pt>
                <c:pt idx="126">
                  <c:v>13.481999999999999</c:v>
                </c:pt>
                <c:pt idx="127">
                  <c:v>14.634</c:v>
                </c:pt>
                <c:pt idx="128">
                  <c:v>14.513999999999999</c:v>
                </c:pt>
                <c:pt idx="129">
                  <c:v>14.794</c:v>
                </c:pt>
                <c:pt idx="130">
                  <c:v>14.63</c:v>
                </c:pt>
                <c:pt idx="131">
                  <c:v>14.205</c:v>
                </c:pt>
                <c:pt idx="132">
                  <c:v>14.294</c:v>
                </c:pt>
                <c:pt idx="133">
                  <c:v>13.587</c:v>
                </c:pt>
                <c:pt idx="134">
                  <c:v>13.644</c:v>
                </c:pt>
                <c:pt idx="135">
                  <c:v>14.436999999999999</c:v>
                </c:pt>
                <c:pt idx="136">
                  <c:v>14.117000000000001</c:v>
                </c:pt>
                <c:pt idx="137">
                  <c:v>14.018000000000001</c:v>
                </c:pt>
                <c:pt idx="138">
                  <c:v>14.023999999999999</c:v>
                </c:pt>
                <c:pt idx="139">
                  <c:v>13.86</c:v>
                </c:pt>
                <c:pt idx="140">
                  <c:v>13.847</c:v>
                </c:pt>
                <c:pt idx="141">
                  <c:v>13.984</c:v>
                </c:pt>
                <c:pt idx="142">
                  <c:v>14.109</c:v>
                </c:pt>
                <c:pt idx="143">
                  <c:v>14.303000000000001</c:v>
                </c:pt>
                <c:pt idx="144">
                  <c:v>13.811</c:v>
                </c:pt>
                <c:pt idx="145">
                  <c:v>14.582000000000001</c:v>
                </c:pt>
                <c:pt idx="146">
                  <c:v>13.792</c:v>
                </c:pt>
                <c:pt idx="147">
                  <c:v>13.71</c:v>
                </c:pt>
                <c:pt idx="148">
                  <c:v>13.92</c:v>
                </c:pt>
                <c:pt idx="149">
                  <c:v>14.063000000000001</c:v>
                </c:pt>
                <c:pt idx="150">
                  <c:v>14.170999999999999</c:v>
                </c:pt>
                <c:pt idx="151">
                  <c:v>15.116</c:v>
                </c:pt>
                <c:pt idx="152">
                  <c:v>14.654999999999999</c:v>
                </c:pt>
                <c:pt idx="153">
                  <c:v>14.307</c:v>
                </c:pt>
                <c:pt idx="154">
                  <c:v>13.538</c:v>
                </c:pt>
                <c:pt idx="155">
                  <c:v>13.535</c:v>
                </c:pt>
                <c:pt idx="156">
                  <c:v>14.545</c:v>
                </c:pt>
                <c:pt idx="157">
                  <c:v>14.467000000000001</c:v>
                </c:pt>
                <c:pt idx="158">
                  <c:v>14.387</c:v>
                </c:pt>
                <c:pt idx="159">
                  <c:v>14.048999999999999</c:v>
                </c:pt>
                <c:pt idx="160">
                  <c:v>13.984</c:v>
                </c:pt>
                <c:pt idx="161">
                  <c:v>14.515000000000001</c:v>
                </c:pt>
                <c:pt idx="162">
                  <c:v>14.82</c:v>
                </c:pt>
                <c:pt idx="163">
                  <c:v>14.036</c:v>
                </c:pt>
                <c:pt idx="164">
                  <c:v>13.878</c:v>
                </c:pt>
                <c:pt idx="165">
                  <c:v>14.52</c:v>
                </c:pt>
                <c:pt idx="166">
                  <c:v>14.747999999999999</c:v>
                </c:pt>
                <c:pt idx="167">
                  <c:v>14.31</c:v>
                </c:pt>
                <c:pt idx="168">
                  <c:v>14.129</c:v>
                </c:pt>
                <c:pt idx="169">
                  <c:v>14.558</c:v>
                </c:pt>
                <c:pt idx="170">
                  <c:v>14.48</c:v>
                </c:pt>
                <c:pt idx="171">
                  <c:v>13.917999999999999</c:v>
                </c:pt>
                <c:pt idx="172">
                  <c:v>14.472</c:v>
                </c:pt>
                <c:pt idx="173">
                  <c:v>14.323</c:v>
                </c:pt>
                <c:pt idx="174">
                  <c:v>15.170999999999999</c:v>
                </c:pt>
                <c:pt idx="175">
                  <c:v>14.374000000000001</c:v>
                </c:pt>
                <c:pt idx="176">
                  <c:v>14.314</c:v>
                </c:pt>
                <c:pt idx="177">
                  <c:v>14.35</c:v>
                </c:pt>
                <c:pt idx="178">
                  <c:v>14.925000000000001</c:v>
                </c:pt>
                <c:pt idx="179">
                  <c:v>13.766999999999999</c:v>
                </c:pt>
                <c:pt idx="180">
                  <c:v>14.91</c:v>
                </c:pt>
                <c:pt idx="181">
                  <c:v>14.644</c:v>
                </c:pt>
                <c:pt idx="182">
                  <c:v>14.717000000000001</c:v>
                </c:pt>
                <c:pt idx="183">
                  <c:v>14.47</c:v>
                </c:pt>
                <c:pt idx="184">
                  <c:v>14.444000000000001</c:v>
                </c:pt>
                <c:pt idx="185">
                  <c:v>14.991</c:v>
                </c:pt>
                <c:pt idx="186">
                  <c:v>13.978</c:v>
                </c:pt>
                <c:pt idx="187">
                  <c:v>14.449</c:v>
                </c:pt>
                <c:pt idx="188">
                  <c:v>14.308999999999999</c:v>
                </c:pt>
                <c:pt idx="189">
                  <c:v>14.045999999999999</c:v>
                </c:pt>
                <c:pt idx="190">
                  <c:v>14.647</c:v>
                </c:pt>
                <c:pt idx="191">
                  <c:v>14.335000000000001</c:v>
                </c:pt>
                <c:pt idx="192">
                  <c:v>13.967000000000001</c:v>
                </c:pt>
                <c:pt idx="193">
                  <c:v>14.241</c:v>
                </c:pt>
                <c:pt idx="194">
                  <c:v>14.481999999999999</c:v>
                </c:pt>
                <c:pt idx="195">
                  <c:v>15.221</c:v>
                </c:pt>
                <c:pt idx="196">
                  <c:v>13.87</c:v>
                </c:pt>
                <c:pt idx="197">
                  <c:v>14.010999999999999</c:v>
                </c:pt>
                <c:pt idx="198">
                  <c:v>15.161</c:v>
                </c:pt>
                <c:pt idx="199">
                  <c:v>14.978999999999999</c:v>
                </c:pt>
                <c:pt idx="200">
                  <c:v>14.772</c:v>
                </c:pt>
                <c:pt idx="201">
                  <c:v>14.497999999999999</c:v>
                </c:pt>
                <c:pt idx="202">
                  <c:v>14.619</c:v>
                </c:pt>
                <c:pt idx="203">
                  <c:v>14.599</c:v>
                </c:pt>
                <c:pt idx="204">
                  <c:v>14.804</c:v>
                </c:pt>
                <c:pt idx="205">
                  <c:v>14.156000000000001</c:v>
                </c:pt>
                <c:pt idx="206">
                  <c:v>14.272</c:v>
                </c:pt>
                <c:pt idx="207">
                  <c:v>14.869</c:v>
                </c:pt>
                <c:pt idx="208">
                  <c:v>14.476000000000001</c:v>
                </c:pt>
                <c:pt idx="209">
                  <c:v>15.036</c:v>
                </c:pt>
                <c:pt idx="210">
                  <c:v>14.7</c:v>
                </c:pt>
                <c:pt idx="211">
                  <c:v>14.032999999999999</c:v>
                </c:pt>
                <c:pt idx="212">
                  <c:v>14.058999999999999</c:v>
                </c:pt>
                <c:pt idx="213">
                  <c:v>14.801</c:v>
                </c:pt>
                <c:pt idx="214">
                  <c:v>14.319000000000001</c:v>
                </c:pt>
                <c:pt idx="215">
                  <c:v>14.816000000000001</c:v>
                </c:pt>
                <c:pt idx="216">
                  <c:v>14.632999999999999</c:v>
                </c:pt>
                <c:pt idx="217">
                  <c:v>15.115</c:v>
                </c:pt>
                <c:pt idx="218">
                  <c:v>14.72</c:v>
                </c:pt>
                <c:pt idx="219">
                  <c:v>15.073</c:v>
                </c:pt>
                <c:pt idx="220">
                  <c:v>15.132999999999999</c:v>
                </c:pt>
                <c:pt idx="221">
                  <c:v>15.416</c:v>
                </c:pt>
                <c:pt idx="222">
                  <c:v>15.039</c:v>
                </c:pt>
                <c:pt idx="223">
                  <c:v>15.071999999999999</c:v>
                </c:pt>
                <c:pt idx="224">
                  <c:v>14.423</c:v>
                </c:pt>
                <c:pt idx="225">
                  <c:v>15.345000000000001</c:v>
                </c:pt>
                <c:pt idx="226">
                  <c:v>15.076000000000001</c:v>
                </c:pt>
                <c:pt idx="227">
                  <c:v>14.673</c:v>
                </c:pt>
                <c:pt idx="228">
                  <c:v>14.286</c:v>
                </c:pt>
                <c:pt idx="229">
                  <c:v>14.135999999999999</c:v>
                </c:pt>
                <c:pt idx="230">
                  <c:v>14.792999999999999</c:v>
                </c:pt>
                <c:pt idx="231">
                  <c:v>15.433999999999999</c:v>
                </c:pt>
                <c:pt idx="232">
                  <c:v>15.048</c:v>
                </c:pt>
                <c:pt idx="233">
                  <c:v>15.298999999999999</c:v>
                </c:pt>
                <c:pt idx="234">
                  <c:v>15.17</c:v>
                </c:pt>
                <c:pt idx="235">
                  <c:v>14.853999999999999</c:v>
                </c:pt>
                <c:pt idx="236">
                  <c:v>14.81</c:v>
                </c:pt>
                <c:pt idx="237">
                  <c:v>14.757</c:v>
                </c:pt>
                <c:pt idx="238">
                  <c:v>14.489000000000001</c:v>
                </c:pt>
                <c:pt idx="239">
                  <c:v>14.552</c:v>
                </c:pt>
                <c:pt idx="240">
                  <c:v>15.353999999999999</c:v>
                </c:pt>
                <c:pt idx="241">
                  <c:v>15.817</c:v>
                </c:pt>
                <c:pt idx="242">
                  <c:v>14.893000000000001</c:v>
                </c:pt>
                <c:pt idx="243">
                  <c:v>14.478</c:v>
                </c:pt>
                <c:pt idx="244">
                  <c:v>14.884</c:v>
                </c:pt>
                <c:pt idx="245">
                  <c:v>15.053000000000001</c:v>
                </c:pt>
                <c:pt idx="246">
                  <c:v>14.888</c:v>
                </c:pt>
                <c:pt idx="247">
                  <c:v>15.628</c:v>
                </c:pt>
                <c:pt idx="248">
                  <c:v>14.848000000000001</c:v>
                </c:pt>
                <c:pt idx="249">
                  <c:v>14.994</c:v>
                </c:pt>
                <c:pt idx="250">
                  <c:v>15.428000000000001</c:v>
                </c:pt>
                <c:pt idx="251">
                  <c:v>14.901</c:v>
                </c:pt>
                <c:pt idx="252">
                  <c:v>15.038</c:v>
                </c:pt>
                <c:pt idx="253">
                  <c:v>14.538</c:v>
                </c:pt>
                <c:pt idx="254">
                  <c:v>15.138</c:v>
                </c:pt>
                <c:pt idx="255">
                  <c:v>15.427</c:v>
                </c:pt>
                <c:pt idx="256">
                  <c:v>16.143000000000001</c:v>
                </c:pt>
                <c:pt idx="257">
                  <c:v>15.225</c:v>
                </c:pt>
                <c:pt idx="258">
                  <c:v>16.058</c:v>
                </c:pt>
                <c:pt idx="259">
                  <c:v>15.709</c:v>
                </c:pt>
                <c:pt idx="260">
                  <c:v>14.898</c:v>
                </c:pt>
                <c:pt idx="261">
                  <c:v>15.635</c:v>
                </c:pt>
                <c:pt idx="262">
                  <c:v>15.041</c:v>
                </c:pt>
                <c:pt idx="263">
                  <c:v>15.888</c:v>
                </c:pt>
                <c:pt idx="264">
                  <c:v>15.064</c:v>
                </c:pt>
                <c:pt idx="265">
                  <c:v>15.144</c:v>
                </c:pt>
                <c:pt idx="266">
                  <c:v>14.86</c:v>
                </c:pt>
                <c:pt idx="267">
                  <c:v>15.763</c:v>
                </c:pt>
                <c:pt idx="268">
                  <c:v>15.217000000000001</c:v>
                </c:pt>
                <c:pt idx="269">
                  <c:v>15.702999999999999</c:v>
                </c:pt>
                <c:pt idx="270">
                  <c:v>15.843</c:v>
                </c:pt>
                <c:pt idx="271">
                  <c:v>16.007999999999999</c:v>
                </c:pt>
                <c:pt idx="272">
                  <c:v>15.648</c:v>
                </c:pt>
                <c:pt idx="273">
                  <c:v>15.114000000000001</c:v>
                </c:pt>
                <c:pt idx="274">
                  <c:v>15.939</c:v>
                </c:pt>
                <c:pt idx="275">
                  <c:v>15.833</c:v>
                </c:pt>
                <c:pt idx="276">
                  <c:v>15.16</c:v>
                </c:pt>
                <c:pt idx="277">
                  <c:v>15.263</c:v>
                </c:pt>
                <c:pt idx="278">
                  <c:v>15.797000000000001</c:v>
                </c:pt>
                <c:pt idx="279">
                  <c:v>15.105</c:v>
                </c:pt>
                <c:pt idx="280">
                  <c:v>15.625</c:v>
                </c:pt>
                <c:pt idx="281">
                  <c:v>15.54</c:v>
                </c:pt>
                <c:pt idx="282">
                  <c:v>15.544</c:v>
                </c:pt>
                <c:pt idx="283">
                  <c:v>15.803000000000001</c:v>
                </c:pt>
                <c:pt idx="284">
                  <c:v>15.786</c:v>
                </c:pt>
                <c:pt idx="285">
                  <c:v>15.635</c:v>
                </c:pt>
                <c:pt idx="286">
                  <c:v>15.72</c:v>
                </c:pt>
                <c:pt idx="287">
                  <c:v>15.532999999999999</c:v>
                </c:pt>
                <c:pt idx="288">
                  <c:v>16.084</c:v>
                </c:pt>
                <c:pt idx="289">
                  <c:v>15.42</c:v>
                </c:pt>
                <c:pt idx="290">
                  <c:v>15.552</c:v>
                </c:pt>
                <c:pt idx="291">
                  <c:v>15.571</c:v>
                </c:pt>
                <c:pt idx="292">
                  <c:v>15.891999999999999</c:v>
                </c:pt>
                <c:pt idx="293">
                  <c:v>15.846</c:v>
                </c:pt>
                <c:pt idx="294">
                  <c:v>15.379</c:v>
                </c:pt>
                <c:pt idx="295">
                  <c:v>16.045000000000002</c:v>
                </c:pt>
                <c:pt idx="296">
                  <c:v>16.172000000000001</c:v>
                </c:pt>
                <c:pt idx="297">
                  <c:v>16.334</c:v>
                </c:pt>
                <c:pt idx="298">
                  <c:v>15.994999999999999</c:v>
                </c:pt>
                <c:pt idx="299">
                  <c:v>17.102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0FC-4E27-8C22-F74B6C5913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Parth's IC Curve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317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Sheet1!$A$2:$A$313</c:f>
              <c:numCache>
                <c:formatCode>General</c:formatCode>
                <c:ptCount val="312"/>
                <c:pt idx="0">
                  <c:v>7.5609999999999999</c:v>
                </c:pt>
                <c:pt idx="1">
                  <c:v>8.1259999999999994</c:v>
                </c:pt>
                <c:pt idx="2">
                  <c:v>8.4440000000000008</c:v>
                </c:pt>
                <c:pt idx="3">
                  <c:v>8.5920000000000005</c:v>
                </c:pt>
                <c:pt idx="4">
                  <c:v>8.6959999999999997</c:v>
                </c:pt>
                <c:pt idx="5">
                  <c:v>8.7059999999999995</c:v>
                </c:pt>
                <c:pt idx="6">
                  <c:v>8.86</c:v>
                </c:pt>
                <c:pt idx="7">
                  <c:v>8.9280000000000008</c:v>
                </c:pt>
                <c:pt idx="8">
                  <c:v>8.9510000000000005</c:v>
                </c:pt>
                <c:pt idx="9">
                  <c:v>8.9909999999999997</c:v>
                </c:pt>
                <c:pt idx="10">
                  <c:v>9.2850000000000001</c:v>
                </c:pt>
                <c:pt idx="11">
                  <c:v>9.3179999999999996</c:v>
                </c:pt>
                <c:pt idx="12">
                  <c:v>9.4269999999999996</c:v>
                </c:pt>
                <c:pt idx="13">
                  <c:v>9.4350000000000005</c:v>
                </c:pt>
                <c:pt idx="14">
                  <c:v>9.4849999999999994</c:v>
                </c:pt>
                <c:pt idx="15">
                  <c:v>9.49</c:v>
                </c:pt>
                <c:pt idx="16">
                  <c:v>9.4969999999999999</c:v>
                </c:pt>
                <c:pt idx="17">
                  <c:v>9.5830000000000002</c:v>
                </c:pt>
                <c:pt idx="18">
                  <c:v>9.7080000000000002</c:v>
                </c:pt>
                <c:pt idx="19">
                  <c:v>9.8219999999999992</c:v>
                </c:pt>
                <c:pt idx="20">
                  <c:v>9.8689999999999998</c:v>
                </c:pt>
                <c:pt idx="21">
                  <c:v>9.9009999999999998</c:v>
                </c:pt>
                <c:pt idx="22">
                  <c:v>9.9390000000000001</c:v>
                </c:pt>
                <c:pt idx="23">
                  <c:v>9.9760000000000009</c:v>
                </c:pt>
                <c:pt idx="24">
                  <c:v>10.023999999999999</c:v>
                </c:pt>
                <c:pt idx="25">
                  <c:v>10.048</c:v>
                </c:pt>
                <c:pt idx="26">
                  <c:v>10.076000000000001</c:v>
                </c:pt>
                <c:pt idx="27">
                  <c:v>10.130000000000001</c:v>
                </c:pt>
                <c:pt idx="28">
                  <c:v>10.18</c:v>
                </c:pt>
                <c:pt idx="29">
                  <c:v>10.19</c:v>
                </c:pt>
                <c:pt idx="30">
                  <c:v>10.351000000000001</c:v>
                </c:pt>
                <c:pt idx="31">
                  <c:v>10.411</c:v>
                </c:pt>
                <c:pt idx="32">
                  <c:v>10.414999999999999</c:v>
                </c:pt>
                <c:pt idx="33">
                  <c:v>10.43</c:v>
                </c:pt>
                <c:pt idx="34">
                  <c:v>10.433</c:v>
                </c:pt>
                <c:pt idx="35">
                  <c:v>10.442</c:v>
                </c:pt>
                <c:pt idx="36">
                  <c:v>10.471</c:v>
                </c:pt>
                <c:pt idx="37">
                  <c:v>10.541</c:v>
                </c:pt>
                <c:pt idx="38">
                  <c:v>10.545999999999999</c:v>
                </c:pt>
                <c:pt idx="39">
                  <c:v>10.584</c:v>
                </c:pt>
                <c:pt idx="40">
                  <c:v>10.613</c:v>
                </c:pt>
                <c:pt idx="41">
                  <c:v>10.644</c:v>
                </c:pt>
                <c:pt idx="42">
                  <c:v>10.702</c:v>
                </c:pt>
                <c:pt idx="43">
                  <c:v>10.709</c:v>
                </c:pt>
                <c:pt idx="44">
                  <c:v>10.712</c:v>
                </c:pt>
                <c:pt idx="45">
                  <c:v>10.77</c:v>
                </c:pt>
                <c:pt idx="46">
                  <c:v>10.78</c:v>
                </c:pt>
                <c:pt idx="47">
                  <c:v>10.808</c:v>
                </c:pt>
                <c:pt idx="48">
                  <c:v>10.849</c:v>
                </c:pt>
                <c:pt idx="49">
                  <c:v>10.896000000000001</c:v>
                </c:pt>
                <c:pt idx="50">
                  <c:v>10.904999999999999</c:v>
                </c:pt>
                <c:pt idx="51">
                  <c:v>10.930999999999999</c:v>
                </c:pt>
                <c:pt idx="52">
                  <c:v>10.965</c:v>
                </c:pt>
                <c:pt idx="53">
                  <c:v>10.967000000000001</c:v>
                </c:pt>
                <c:pt idx="54">
                  <c:v>10.977</c:v>
                </c:pt>
                <c:pt idx="55">
                  <c:v>10.983000000000001</c:v>
                </c:pt>
                <c:pt idx="56">
                  <c:v>10.989000000000001</c:v>
                </c:pt>
                <c:pt idx="57">
                  <c:v>11.007</c:v>
                </c:pt>
                <c:pt idx="58">
                  <c:v>11.009</c:v>
                </c:pt>
                <c:pt idx="59">
                  <c:v>11.016</c:v>
                </c:pt>
                <c:pt idx="60">
                  <c:v>11.022</c:v>
                </c:pt>
                <c:pt idx="61">
                  <c:v>11.026</c:v>
                </c:pt>
                <c:pt idx="62">
                  <c:v>11.048999999999999</c:v>
                </c:pt>
                <c:pt idx="63">
                  <c:v>11.122</c:v>
                </c:pt>
                <c:pt idx="64">
                  <c:v>11.124000000000001</c:v>
                </c:pt>
                <c:pt idx="65">
                  <c:v>11.124000000000001</c:v>
                </c:pt>
                <c:pt idx="66">
                  <c:v>11.159000000000001</c:v>
                </c:pt>
                <c:pt idx="67">
                  <c:v>11.161</c:v>
                </c:pt>
                <c:pt idx="68">
                  <c:v>11.164</c:v>
                </c:pt>
                <c:pt idx="69">
                  <c:v>11.182</c:v>
                </c:pt>
                <c:pt idx="70">
                  <c:v>11.183</c:v>
                </c:pt>
                <c:pt idx="71">
                  <c:v>11.191000000000001</c:v>
                </c:pt>
                <c:pt idx="72">
                  <c:v>11.212999999999999</c:v>
                </c:pt>
                <c:pt idx="73">
                  <c:v>11.223000000000001</c:v>
                </c:pt>
                <c:pt idx="74">
                  <c:v>11.254</c:v>
                </c:pt>
                <c:pt idx="75">
                  <c:v>11.266999999999999</c:v>
                </c:pt>
                <c:pt idx="76">
                  <c:v>11.268000000000001</c:v>
                </c:pt>
                <c:pt idx="77">
                  <c:v>11.331</c:v>
                </c:pt>
                <c:pt idx="78">
                  <c:v>11.337999999999999</c:v>
                </c:pt>
                <c:pt idx="79">
                  <c:v>11.340999999999999</c:v>
                </c:pt>
                <c:pt idx="80">
                  <c:v>11.359</c:v>
                </c:pt>
                <c:pt idx="81">
                  <c:v>11.366</c:v>
                </c:pt>
                <c:pt idx="82">
                  <c:v>11.368</c:v>
                </c:pt>
                <c:pt idx="83">
                  <c:v>11.375999999999999</c:v>
                </c:pt>
                <c:pt idx="84">
                  <c:v>11.422000000000001</c:v>
                </c:pt>
                <c:pt idx="85">
                  <c:v>11.444000000000001</c:v>
                </c:pt>
                <c:pt idx="86">
                  <c:v>11.452</c:v>
                </c:pt>
                <c:pt idx="87">
                  <c:v>11.458</c:v>
                </c:pt>
                <c:pt idx="88">
                  <c:v>11.465999999999999</c:v>
                </c:pt>
                <c:pt idx="89">
                  <c:v>11.499000000000001</c:v>
                </c:pt>
                <c:pt idx="90">
                  <c:v>11.513</c:v>
                </c:pt>
                <c:pt idx="91">
                  <c:v>11.518000000000001</c:v>
                </c:pt>
                <c:pt idx="92">
                  <c:v>11.542999999999999</c:v>
                </c:pt>
                <c:pt idx="93">
                  <c:v>11.545</c:v>
                </c:pt>
                <c:pt idx="94">
                  <c:v>11.552</c:v>
                </c:pt>
                <c:pt idx="95">
                  <c:v>11.564</c:v>
                </c:pt>
                <c:pt idx="96">
                  <c:v>11.567</c:v>
                </c:pt>
                <c:pt idx="97">
                  <c:v>11.573</c:v>
                </c:pt>
                <c:pt idx="98">
                  <c:v>11.587</c:v>
                </c:pt>
                <c:pt idx="99">
                  <c:v>11.592000000000001</c:v>
                </c:pt>
                <c:pt idx="100">
                  <c:v>11.605</c:v>
                </c:pt>
                <c:pt idx="101">
                  <c:v>11.635</c:v>
                </c:pt>
                <c:pt idx="102">
                  <c:v>11.64</c:v>
                </c:pt>
                <c:pt idx="103">
                  <c:v>11.662000000000001</c:v>
                </c:pt>
                <c:pt idx="104">
                  <c:v>11.734</c:v>
                </c:pt>
                <c:pt idx="105">
                  <c:v>11.746</c:v>
                </c:pt>
                <c:pt idx="106">
                  <c:v>11.757</c:v>
                </c:pt>
                <c:pt idx="107">
                  <c:v>11.760999999999999</c:v>
                </c:pt>
                <c:pt idx="108">
                  <c:v>11.773999999999999</c:v>
                </c:pt>
                <c:pt idx="109">
                  <c:v>11.782999999999999</c:v>
                </c:pt>
                <c:pt idx="110">
                  <c:v>11.785</c:v>
                </c:pt>
                <c:pt idx="111">
                  <c:v>11.79</c:v>
                </c:pt>
                <c:pt idx="112">
                  <c:v>11.795</c:v>
                </c:pt>
                <c:pt idx="113">
                  <c:v>11.832000000000001</c:v>
                </c:pt>
                <c:pt idx="114">
                  <c:v>11.834</c:v>
                </c:pt>
                <c:pt idx="115">
                  <c:v>11.835000000000001</c:v>
                </c:pt>
                <c:pt idx="116">
                  <c:v>11.871</c:v>
                </c:pt>
                <c:pt idx="117">
                  <c:v>11.879</c:v>
                </c:pt>
                <c:pt idx="118">
                  <c:v>11.893000000000001</c:v>
                </c:pt>
                <c:pt idx="119">
                  <c:v>11.914</c:v>
                </c:pt>
                <c:pt idx="120">
                  <c:v>11.96</c:v>
                </c:pt>
                <c:pt idx="121">
                  <c:v>11.973000000000001</c:v>
                </c:pt>
                <c:pt idx="122">
                  <c:v>11.976000000000001</c:v>
                </c:pt>
                <c:pt idx="123">
                  <c:v>12.006</c:v>
                </c:pt>
                <c:pt idx="124">
                  <c:v>12.010999999999999</c:v>
                </c:pt>
                <c:pt idx="125">
                  <c:v>12.036</c:v>
                </c:pt>
                <c:pt idx="126">
                  <c:v>12.066000000000001</c:v>
                </c:pt>
                <c:pt idx="127">
                  <c:v>12.066000000000001</c:v>
                </c:pt>
                <c:pt idx="128">
                  <c:v>12.093</c:v>
                </c:pt>
                <c:pt idx="129">
                  <c:v>12.096</c:v>
                </c:pt>
                <c:pt idx="130">
                  <c:v>12.137</c:v>
                </c:pt>
                <c:pt idx="131">
                  <c:v>12.159000000000001</c:v>
                </c:pt>
                <c:pt idx="132">
                  <c:v>12.204000000000001</c:v>
                </c:pt>
                <c:pt idx="133">
                  <c:v>12.207000000000001</c:v>
                </c:pt>
                <c:pt idx="134">
                  <c:v>12.211</c:v>
                </c:pt>
                <c:pt idx="135">
                  <c:v>12.222</c:v>
                </c:pt>
                <c:pt idx="136">
                  <c:v>12.228</c:v>
                </c:pt>
                <c:pt idx="137">
                  <c:v>12.24</c:v>
                </c:pt>
                <c:pt idx="138">
                  <c:v>12.241</c:v>
                </c:pt>
                <c:pt idx="139">
                  <c:v>12.25</c:v>
                </c:pt>
                <c:pt idx="140">
                  <c:v>12.253</c:v>
                </c:pt>
                <c:pt idx="141">
                  <c:v>12.265000000000001</c:v>
                </c:pt>
                <c:pt idx="142">
                  <c:v>12.276999999999999</c:v>
                </c:pt>
                <c:pt idx="143">
                  <c:v>12.286</c:v>
                </c:pt>
                <c:pt idx="144">
                  <c:v>12.304</c:v>
                </c:pt>
                <c:pt idx="145">
                  <c:v>12.305</c:v>
                </c:pt>
                <c:pt idx="146">
                  <c:v>12.311</c:v>
                </c:pt>
                <c:pt idx="147">
                  <c:v>12.315</c:v>
                </c:pt>
                <c:pt idx="148">
                  <c:v>12.317</c:v>
                </c:pt>
                <c:pt idx="149">
                  <c:v>12.321</c:v>
                </c:pt>
                <c:pt idx="150">
                  <c:v>12.323</c:v>
                </c:pt>
                <c:pt idx="151">
                  <c:v>12.359</c:v>
                </c:pt>
                <c:pt idx="152">
                  <c:v>12.38</c:v>
                </c:pt>
                <c:pt idx="153">
                  <c:v>12.401</c:v>
                </c:pt>
                <c:pt idx="154">
                  <c:v>12.411</c:v>
                </c:pt>
                <c:pt idx="155">
                  <c:v>12.412000000000001</c:v>
                </c:pt>
                <c:pt idx="156">
                  <c:v>12.427</c:v>
                </c:pt>
                <c:pt idx="157">
                  <c:v>12.436999999999999</c:v>
                </c:pt>
                <c:pt idx="158">
                  <c:v>12.444000000000001</c:v>
                </c:pt>
                <c:pt idx="159">
                  <c:v>12.462</c:v>
                </c:pt>
                <c:pt idx="160">
                  <c:v>12.465999999999999</c:v>
                </c:pt>
                <c:pt idx="161">
                  <c:v>12.478999999999999</c:v>
                </c:pt>
                <c:pt idx="162">
                  <c:v>12.493</c:v>
                </c:pt>
                <c:pt idx="163">
                  <c:v>12.500999999999999</c:v>
                </c:pt>
                <c:pt idx="164">
                  <c:v>12.510999999999999</c:v>
                </c:pt>
                <c:pt idx="165">
                  <c:v>12.523</c:v>
                </c:pt>
                <c:pt idx="166">
                  <c:v>12.535</c:v>
                </c:pt>
                <c:pt idx="167">
                  <c:v>12.537000000000001</c:v>
                </c:pt>
                <c:pt idx="168">
                  <c:v>12.539</c:v>
                </c:pt>
                <c:pt idx="169">
                  <c:v>12.576000000000001</c:v>
                </c:pt>
                <c:pt idx="170">
                  <c:v>12.58</c:v>
                </c:pt>
                <c:pt idx="171">
                  <c:v>12.587999999999999</c:v>
                </c:pt>
                <c:pt idx="172">
                  <c:v>12.590999999999999</c:v>
                </c:pt>
                <c:pt idx="173">
                  <c:v>12.606999999999999</c:v>
                </c:pt>
                <c:pt idx="174">
                  <c:v>12.615</c:v>
                </c:pt>
                <c:pt idx="175">
                  <c:v>12.616</c:v>
                </c:pt>
                <c:pt idx="176">
                  <c:v>12.625</c:v>
                </c:pt>
                <c:pt idx="177">
                  <c:v>12.629</c:v>
                </c:pt>
                <c:pt idx="178">
                  <c:v>12.669</c:v>
                </c:pt>
                <c:pt idx="179">
                  <c:v>12.677</c:v>
                </c:pt>
                <c:pt idx="180">
                  <c:v>12.699</c:v>
                </c:pt>
                <c:pt idx="181">
                  <c:v>12.718999999999999</c:v>
                </c:pt>
                <c:pt idx="182">
                  <c:v>12.718999999999999</c:v>
                </c:pt>
                <c:pt idx="183">
                  <c:v>12.752000000000001</c:v>
                </c:pt>
                <c:pt idx="184">
                  <c:v>12.789</c:v>
                </c:pt>
                <c:pt idx="185">
                  <c:v>12.802</c:v>
                </c:pt>
                <c:pt idx="186">
                  <c:v>12.802</c:v>
                </c:pt>
                <c:pt idx="187">
                  <c:v>12.819000000000001</c:v>
                </c:pt>
                <c:pt idx="188">
                  <c:v>12.840999999999999</c:v>
                </c:pt>
                <c:pt idx="189">
                  <c:v>12.856999999999999</c:v>
                </c:pt>
                <c:pt idx="190">
                  <c:v>12.888</c:v>
                </c:pt>
                <c:pt idx="191">
                  <c:v>12.914999999999999</c:v>
                </c:pt>
                <c:pt idx="192">
                  <c:v>12.917999999999999</c:v>
                </c:pt>
                <c:pt idx="193">
                  <c:v>12.935</c:v>
                </c:pt>
                <c:pt idx="194">
                  <c:v>12.946</c:v>
                </c:pt>
                <c:pt idx="195">
                  <c:v>13.015000000000001</c:v>
                </c:pt>
                <c:pt idx="196">
                  <c:v>13.064</c:v>
                </c:pt>
                <c:pt idx="197">
                  <c:v>13.077999999999999</c:v>
                </c:pt>
                <c:pt idx="198">
                  <c:v>13.087</c:v>
                </c:pt>
                <c:pt idx="199">
                  <c:v>13.109</c:v>
                </c:pt>
                <c:pt idx="200">
                  <c:v>13.122999999999999</c:v>
                </c:pt>
                <c:pt idx="201">
                  <c:v>13.132999999999999</c:v>
                </c:pt>
                <c:pt idx="202">
                  <c:v>13.166</c:v>
                </c:pt>
                <c:pt idx="203">
                  <c:v>13.183</c:v>
                </c:pt>
                <c:pt idx="204">
                  <c:v>13.237</c:v>
                </c:pt>
                <c:pt idx="205">
                  <c:v>13.269</c:v>
                </c:pt>
                <c:pt idx="206">
                  <c:v>13.27</c:v>
                </c:pt>
                <c:pt idx="207">
                  <c:v>13.313000000000001</c:v>
                </c:pt>
                <c:pt idx="208">
                  <c:v>13.319000000000001</c:v>
                </c:pt>
                <c:pt idx="209">
                  <c:v>13.324999999999999</c:v>
                </c:pt>
                <c:pt idx="210">
                  <c:v>13.326000000000001</c:v>
                </c:pt>
                <c:pt idx="211">
                  <c:v>13.348000000000001</c:v>
                </c:pt>
                <c:pt idx="212">
                  <c:v>13.385999999999999</c:v>
                </c:pt>
                <c:pt idx="213">
                  <c:v>13.388</c:v>
                </c:pt>
                <c:pt idx="214">
                  <c:v>13.39</c:v>
                </c:pt>
                <c:pt idx="215">
                  <c:v>13.407</c:v>
                </c:pt>
                <c:pt idx="216">
                  <c:v>13.433</c:v>
                </c:pt>
                <c:pt idx="217">
                  <c:v>13.438000000000001</c:v>
                </c:pt>
                <c:pt idx="218">
                  <c:v>13.44</c:v>
                </c:pt>
                <c:pt idx="219">
                  <c:v>13.462999999999999</c:v>
                </c:pt>
                <c:pt idx="220">
                  <c:v>13.481999999999999</c:v>
                </c:pt>
                <c:pt idx="221">
                  <c:v>13.502000000000001</c:v>
                </c:pt>
                <c:pt idx="222">
                  <c:v>13.545</c:v>
                </c:pt>
                <c:pt idx="223">
                  <c:v>13.552</c:v>
                </c:pt>
                <c:pt idx="224">
                  <c:v>13.561999999999999</c:v>
                </c:pt>
                <c:pt idx="225">
                  <c:v>13.565</c:v>
                </c:pt>
                <c:pt idx="226">
                  <c:v>13.584</c:v>
                </c:pt>
                <c:pt idx="227">
                  <c:v>13.585000000000001</c:v>
                </c:pt>
                <c:pt idx="228">
                  <c:v>13.641</c:v>
                </c:pt>
                <c:pt idx="229">
                  <c:v>13.672000000000001</c:v>
                </c:pt>
                <c:pt idx="230">
                  <c:v>13.685</c:v>
                </c:pt>
                <c:pt idx="231">
                  <c:v>13.689</c:v>
                </c:pt>
                <c:pt idx="232">
                  <c:v>13.72</c:v>
                </c:pt>
                <c:pt idx="233">
                  <c:v>13.731999999999999</c:v>
                </c:pt>
                <c:pt idx="234">
                  <c:v>13.739000000000001</c:v>
                </c:pt>
                <c:pt idx="235">
                  <c:v>13.747999999999999</c:v>
                </c:pt>
                <c:pt idx="236">
                  <c:v>13.755000000000001</c:v>
                </c:pt>
                <c:pt idx="237">
                  <c:v>13.78</c:v>
                </c:pt>
                <c:pt idx="238">
                  <c:v>13.789</c:v>
                </c:pt>
                <c:pt idx="239">
                  <c:v>13.827999999999999</c:v>
                </c:pt>
                <c:pt idx="240">
                  <c:v>13.833</c:v>
                </c:pt>
                <c:pt idx="241">
                  <c:v>13.842000000000001</c:v>
                </c:pt>
                <c:pt idx="242">
                  <c:v>13.916</c:v>
                </c:pt>
                <c:pt idx="243">
                  <c:v>13.925000000000001</c:v>
                </c:pt>
                <c:pt idx="244">
                  <c:v>13.932</c:v>
                </c:pt>
                <c:pt idx="245">
                  <c:v>13.933999999999999</c:v>
                </c:pt>
                <c:pt idx="246">
                  <c:v>13.95</c:v>
                </c:pt>
                <c:pt idx="247">
                  <c:v>13.983000000000001</c:v>
                </c:pt>
                <c:pt idx="248">
                  <c:v>13.997</c:v>
                </c:pt>
                <c:pt idx="249">
                  <c:v>13.999000000000001</c:v>
                </c:pt>
                <c:pt idx="250">
                  <c:v>14.016999999999999</c:v>
                </c:pt>
                <c:pt idx="251">
                  <c:v>14.02</c:v>
                </c:pt>
                <c:pt idx="252">
                  <c:v>14.048</c:v>
                </c:pt>
                <c:pt idx="253">
                  <c:v>14.095000000000001</c:v>
                </c:pt>
                <c:pt idx="254">
                  <c:v>14.103</c:v>
                </c:pt>
                <c:pt idx="255">
                  <c:v>14.157999999999999</c:v>
                </c:pt>
                <c:pt idx="256">
                  <c:v>14.183999999999999</c:v>
                </c:pt>
                <c:pt idx="257">
                  <c:v>14.195</c:v>
                </c:pt>
                <c:pt idx="258">
                  <c:v>14.198</c:v>
                </c:pt>
                <c:pt idx="259">
                  <c:v>14.204000000000001</c:v>
                </c:pt>
                <c:pt idx="260">
                  <c:v>14.253</c:v>
                </c:pt>
                <c:pt idx="261">
                  <c:v>14.287000000000001</c:v>
                </c:pt>
                <c:pt idx="262">
                  <c:v>14.29</c:v>
                </c:pt>
                <c:pt idx="263">
                  <c:v>14.343999999999999</c:v>
                </c:pt>
                <c:pt idx="264">
                  <c:v>14.362</c:v>
                </c:pt>
                <c:pt idx="265">
                  <c:v>14.37</c:v>
                </c:pt>
                <c:pt idx="266">
                  <c:v>14.401</c:v>
                </c:pt>
                <c:pt idx="267">
                  <c:v>14.41</c:v>
                </c:pt>
                <c:pt idx="268">
                  <c:v>14.42</c:v>
                </c:pt>
                <c:pt idx="269">
                  <c:v>14.481999999999999</c:v>
                </c:pt>
                <c:pt idx="270">
                  <c:v>14.484</c:v>
                </c:pt>
                <c:pt idx="271">
                  <c:v>14.496</c:v>
                </c:pt>
                <c:pt idx="272">
                  <c:v>14.565</c:v>
                </c:pt>
                <c:pt idx="273">
                  <c:v>14.583</c:v>
                </c:pt>
                <c:pt idx="274">
                  <c:v>14.646000000000001</c:v>
                </c:pt>
                <c:pt idx="275">
                  <c:v>14.706</c:v>
                </c:pt>
                <c:pt idx="276">
                  <c:v>14.759</c:v>
                </c:pt>
                <c:pt idx="277">
                  <c:v>14.837</c:v>
                </c:pt>
                <c:pt idx="278">
                  <c:v>14.85</c:v>
                </c:pt>
                <c:pt idx="279">
                  <c:v>14.856</c:v>
                </c:pt>
                <c:pt idx="280">
                  <c:v>14.92</c:v>
                </c:pt>
                <c:pt idx="281">
                  <c:v>14.956</c:v>
                </c:pt>
                <c:pt idx="282">
                  <c:v>14.984</c:v>
                </c:pt>
                <c:pt idx="283">
                  <c:v>14.994999999999999</c:v>
                </c:pt>
                <c:pt idx="284">
                  <c:v>15.065</c:v>
                </c:pt>
                <c:pt idx="285">
                  <c:v>15.135</c:v>
                </c:pt>
                <c:pt idx="286">
                  <c:v>15.157</c:v>
                </c:pt>
                <c:pt idx="287">
                  <c:v>15.188000000000001</c:v>
                </c:pt>
                <c:pt idx="288">
                  <c:v>15.295999999999999</c:v>
                </c:pt>
                <c:pt idx="289">
                  <c:v>15.439</c:v>
                </c:pt>
                <c:pt idx="290">
                  <c:v>15.497999999999999</c:v>
                </c:pt>
                <c:pt idx="291">
                  <c:v>15.621</c:v>
                </c:pt>
                <c:pt idx="292">
                  <c:v>15.622999999999999</c:v>
                </c:pt>
                <c:pt idx="293">
                  <c:v>15.68</c:v>
                </c:pt>
                <c:pt idx="294">
                  <c:v>15.711</c:v>
                </c:pt>
                <c:pt idx="295">
                  <c:v>16.010999999999999</c:v>
                </c:pt>
                <c:pt idx="296">
                  <c:v>16.294</c:v>
                </c:pt>
                <c:pt idx="297">
                  <c:v>16.422000000000001</c:v>
                </c:pt>
                <c:pt idx="298">
                  <c:v>16.459</c:v>
                </c:pt>
                <c:pt idx="299">
                  <c:v>17.829999999999998</c:v>
                </c:pt>
                <c:pt idx="300">
                  <c:v>9.6300000000000008</c:v>
                </c:pt>
                <c:pt idx="301">
                  <c:v>10.130000000000001</c:v>
                </c:pt>
                <c:pt idx="302">
                  <c:v>10.62</c:v>
                </c:pt>
                <c:pt idx="303">
                  <c:v>11.08</c:v>
                </c:pt>
                <c:pt idx="304">
                  <c:v>11.52</c:v>
                </c:pt>
                <c:pt idx="305">
                  <c:v>11.95</c:v>
                </c:pt>
                <c:pt idx="306">
                  <c:v>17.11</c:v>
                </c:pt>
                <c:pt idx="307">
                  <c:v>21.04</c:v>
                </c:pt>
                <c:pt idx="308">
                  <c:v>24.35</c:v>
                </c:pt>
                <c:pt idx="309">
                  <c:v>27.25</c:v>
                </c:pt>
                <c:pt idx="310">
                  <c:v>29.88</c:v>
                </c:pt>
                <c:pt idx="311">
                  <c:v>32.29</c:v>
                </c:pt>
              </c:numCache>
            </c:numRef>
          </c:xVal>
          <c:yVal>
            <c:numRef>
              <c:f>Sheet1!$C$2:$C$313</c:f>
              <c:numCache>
                <c:formatCode>General</c:formatCode>
                <c:ptCount val="312"/>
                <c:pt idx="300">
                  <c:v>13.67</c:v>
                </c:pt>
                <c:pt idx="301">
                  <c:v>13.87</c:v>
                </c:pt>
                <c:pt idx="302">
                  <c:v>14.07</c:v>
                </c:pt>
                <c:pt idx="303">
                  <c:v>14.27</c:v>
                </c:pt>
                <c:pt idx="304">
                  <c:v>14.47</c:v>
                </c:pt>
                <c:pt idx="305">
                  <c:v>14.67</c:v>
                </c:pt>
                <c:pt idx="306">
                  <c:v>17.670000000000002</c:v>
                </c:pt>
                <c:pt idx="307">
                  <c:v>20.67</c:v>
                </c:pt>
                <c:pt idx="308">
                  <c:v>23.67</c:v>
                </c:pt>
                <c:pt idx="309">
                  <c:v>26.67</c:v>
                </c:pt>
                <c:pt idx="310">
                  <c:v>29.67</c:v>
                </c:pt>
                <c:pt idx="311">
                  <c:v>32.67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0FC-4E27-8C22-F74B6C591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0"/>
          <c:min val="0"/>
        </c:scaling>
        <c:delete val="0"/>
        <c:axPos val="b"/>
        <c:majorGridlines>
          <c:spPr>
            <a:ln w="12700" cap="flat">
              <a:solidFill>
                <a:srgbClr val="EEF2F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RISK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  <c:majorUnit val="10"/>
      </c:val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F6B85"/>
                    </a:solidFill>
                    <a:latin typeface="Calibri"/>
                  </a:defRPr>
                </a:pPr>
                <a:r>
                  <a:rPr lang="en-IN" sz="950" b="0" i="0" u="none" strike="noStrike">
                    <a:solidFill>
                      <a:srgbClr val="5F6B85"/>
                    </a:solidFill>
                    <a:latin typeface="Calibri"/>
                  </a:rPr>
                  <a:t>RETURN</a:t>
                </a:r>
              </a:p>
            </c:rich>
          </c:tx>
          <c:overlay val="0"/>
        </c:title>
        <c:numFmt formatCode="0&quot;%&quot;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B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shortfall vs CAL (pp)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Parth</c:v>
                </c:pt>
                <c:pt idx="1">
                  <c:v>Deven</c:v>
                </c:pt>
                <c:pt idx="2">
                  <c:v>Tarana</c:v>
                </c:pt>
                <c:pt idx="3">
                  <c:v>Jai</c:v>
                </c:pt>
                <c:pt idx="4">
                  <c:v>Manik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3.28</c:v>
                </c:pt>
                <c:pt idx="1">
                  <c:v>3.88</c:v>
                </c:pt>
                <c:pt idx="2">
                  <c:v>4.0199999999999996</c:v>
                </c:pt>
                <c:pt idx="3">
                  <c:v>4.53</c:v>
                </c:pt>
                <c:pt idx="4">
                  <c:v>5.31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71-404B-8D66-3C7989BF88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Worst single product (pp)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Parth</c:v>
                </c:pt>
                <c:pt idx="1">
                  <c:v>Deven</c:v>
                </c:pt>
                <c:pt idx="2">
                  <c:v>Tarana</c:v>
                </c:pt>
                <c:pt idx="3">
                  <c:v>Jai</c:v>
                </c:pt>
                <c:pt idx="4">
                  <c:v>Manik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5.05</c:v>
                </c:pt>
                <c:pt idx="1">
                  <c:v>7.05</c:v>
                </c:pt>
                <c:pt idx="2">
                  <c:v>7.05</c:v>
                </c:pt>
                <c:pt idx="3">
                  <c:v>6.6</c:v>
                </c:pt>
                <c:pt idx="4">
                  <c:v>7.88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71-404B-8D66-3C7989BF88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Percentage points below the CAL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.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= 1  Deven, Jai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Govt Bonds</c:v>
                </c:pt>
                <c:pt idx="1">
                  <c:v>Corp Bonds</c:v>
                </c:pt>
                <c:pt idx="2">
                  <c:v>Large Cap</c:v>
                </c:pt>
                <c:pt idx="3">
                  <c:v>MF L&amp;M</c:v>
                </c:pt>
                <c:pt idx="4">
                  <c:v>REIT</c:v>
                </c:pt>
                <c:pt idx="5">
                  <c:v>Small Cap</c:v>
                </c:pt>
                <c:pt idx="6">
                  <c:v>Mid Cap</c:v>
                </c:pt>
                <c:pt idx="7">
                  <c:v>Gold</c:v>
                </c:pt>
                <c:pt idx="8">
                  <c:v>Multi-Asset</c:v>
                </c:pt>
                <c:pt idx="9">
                  <c:v>L-S AIF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1.03</c:v>
                </c:pt>
                <c:pt idx="1">
                  <c:v>0.77</c:v>
                </c:pt>
                <c:pt idx="2">
                  <c:v>8.76</c:v>
                </c:pt>
                <c:pt idx="3">
                  <c:v>2.58</c:v>
                </c:pt>
                <c:pt idx="4">
                  <c:v>6.96</c:v>
                </c:pt>
                <c:pt idx="5">
                  <c:v>23.2</c:v>
                </c:pt>
                <c:pt idx="6">
                  <c:v>23.45</c:v>
                </c:pt>
                <c:pt idx="7">
                  <c:v>0.26</c:v>
                </c:pt>
                <c:pt idx="8">
                  <c:v>11.34</c:v>
                </c:pt>
                <c:pt idx="9">
                  <c:v>21.65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7-4515-A775-C133407B9F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= 3  Manik, Tarana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Govt Bonds</c:v>
                </c:pt>
                <c:pt idx="1">
                  <c:v>Corp Bonds</c:v>
                </c:pt>
                <c:pt idx="2">
                  <c:v>Large Cap</c:v>
                </c:pt>
                <c:pt idx="3">
                  <c:v>MF L&amp;M</c:v>
                </c:pt>
                <c:pt idx="4">
                  <c:v>REIT</c:v>
                </c:pt>
                <c:pt idx="5">
                  <c:v>Small Cap</c:v>
                </c:pt>
                <c:pt idx="6">
                  <c:v>Mid Cap</c:v>
                </c:pt>
                <c:pt idx="7">
                  <c:v>Gold</c:v>
                </c:pt>
                <c:pt idx="8">
                  <c:v>Multi-Asset</c:v>
                </c:pt>
                <c:pt idx="9">
                  <c:v>L-S AIF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6.93</c:v>
                </c:pt>
                <c:pt idx="2">
                  <c:v>2.4</c:v>
                </c:pt>
                <c:pt idx="3">
                  <c:v>4</c:v>
                </c:pt>
                <c:pt idx="4">
                  <c:v>2.67</c:v>
                </c:pt>
                <c:pt idx="5">
                  <c:v>23.47</c:v>
                </c:pt>
                <c:pt idx="6">
                  <c:v>11.2</c:v>
                </c:pt>
                <c:pt idx="7">
                  <c:v>19.2</c:v>
                </c:pt>
                <c:pt idx="8">
                  <c:v>6.4</c:v>
                </c:pt>
                <c:pt idx="9">
                  <c:v>21.33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57-4515-A775-C133407B9F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 = 4  Parth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Govt Bonds</c:v>
                </c:pt>
                <c:pt idx="1">
                  <c:v>Corp Bonds</c:v>
                </c:pt>
                <c:pt idx="2">
                  <c:v>Large Cap</c:v>
                </c:pt>
                <c:pt idx="3">
                  <c:v>MF L&amp;M</c:v>
                </c:pt>
                <c:pt idx="4">
                  <c:v>REIT</c:v>
                </c:pt>
                <c:pt idx="5">
                  <c:v>Small Cap</c:v>
                </c:pt>
                <c:pt idx="6">
                  <c:v>Mid Cap</c:v>
                </c:pt>
                <c:pt idx="7">
                  <c:v>Gold</c:v>
                </c:pt>
                <c:pt idx="8">
                  <c:v>Multi-Asset</c:v>
                </c:pt>
                <c:pt idx="9">
                  <c:v>L-S AIF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3.72</c:v>
                </c:pt>
                <c:pt idx="1">
                  <c:v>20.25</c:v>
                </c:pt>
                <c:pt idx="2">
                  <c:v>2.48</c:v>
                </c:pt>
                <c:pt idx="3">
                  <c:v>3.31</c:v>
                </c:pt>
                <c:pt idx="4">
                  <c:v>0.83</c:v>
                </c:pt>
                <c:pt idx="5">
                  <c:v>18.39</c:v>
                </c:pt>
                <c:pt idx="6">
                  <c:v>7.02</c:v>
                </c:pt>
                <c:pt idx="7">
                  <c:v>19.010000000000002</c:v>
                </c:pt>
                <c:pt idx="8">
                  <c:v>9.5</c:v>
                </c:pt>
                <c:pt idx="9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57-4515-A775-C133407B9F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180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Portfolio weight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Aggressive (A = 1)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Equity</c:v>
                </c:pt>
                <c:pt idx="1">
                  <c:v>Fixed Income</c:v>
                </c:pt>
                <c:pt idx="2">
                  <c:v>Alternatives</c:v>
                </c:pt>
                <c:pt idx="3">
                  <c:v>Commodities (Gold)</c:v>
                </c:pt>
                <c:pt idx="4">
                  <c:v>Multi-Asset</c:v>
                </c:pt>
                <c:pt idx="5">
                  <c:v>REITs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10</c:v>
                </c:pt>
                <c:pt idx="2">
                  <c:v>15</c:v>
                </c:pt>
                <c:pt idx="3">
                  <c:v>10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80-4D33-B610-ED336BEEC0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(A = 3 / 4)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Equity</c:v>
                </c:pt>
                <c:pt idx="1">
                  <c:v>Fixed Income</c:v>
                </c:pt>
                <c:pt idx="2">
                  <c:v>Alternatives</c:v>
                </c:pt>
                <c:pt idx="3">
                  <c:v>Commodities (Gold)</c:v>
                </c:pt>
                <c:pt idx="4">
                  <c:v>Multi-Asset</c:v>
                </c:pt>
                <c:pt idx="5">
                  <c:v>REITs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30</c:v>
                </c:pt>
                <c:pt idx="2">
                  <c:v>0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80-4D33-B610-ED336BEEC0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Target allocation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1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Group 5, Section B. The deck moves from the market universe, to optimisation, to the five individual client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stages. Note the deliberate narrowing: 14 assets are profiled, but only 10 enter the optimiser because correlation data is unavailable for four insurance/retirement wrappers.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rises with risk across the universe, but not proportionally — the return/risk ratio peaks in small and mid cap equity, not in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is negatively correlated with all four equity lines while staying positively correlated with bonds — which is exactly why it appears at a 40% weight in the tangency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one recommended portfolio cannot serve all five clients — the same asset is best-in-class for Deven and value-destroying for Parth.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tangency portfolio raises Sharpe from 0.452 to 0.728 for 4.7 percentage points more risk. Gold at 40% is doing the heavy lifting because of its negative equity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portfolios respect a 40% single-asset cap. The MVP is the defensive anchor; the tangency portfolio is the reward-per-unit-of-risk maximiser.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Ages 22 to 24, horizons 30 to 40 years. Risk aversion is the main differentiator, not age or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Deven Saboo: client's own return and risk beliefs for every product they are aware of, scored as U = E(R) - 0.5 x 1 x SD^2, against the market utility of the same product. The chart plots the market utility curve (orange), the client's own utility curve (blue) and the CAL utility line (green).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Deven Saboo: market utility of all 14 assets sorted by market SD, and the indifference curve running through the client's own highest-utility portfolio (U0 = 13.20%). The chart plots the 5,000-portfolio market set against that indifference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Jai Kumar Agarwal: client's own return and risk beliefs for every product they are aware of, scored as U = E(R) - 0.5 x 1 x SD^2, against the market utility of the same product. The chart plots the market utility curve (orange), the client's own utility curve (blue) and the CAL utility line (green).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Jai Kumar Agarwal: market utility of all 14 assets sorted by market SD, and the indifference curve running through the client's own highest-utility portfolio (U0 = 13.11%). The chart plots the 5,000-portfolio market set against that indifference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Manik Ratty: client's own return and risk beliefs for every product they are aware of, scored as U = E(R) - 0.5 x 3 x SD^2, against the market utility of the same product. The chart plots the market utility curve (orange), the client's own utility curve (blue) and the CAL utility line (green).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Manik Ratty: market utility of all 14 assets sorted by market SD, and the indifference curve running through the client's own highest-utility portfolio (U0 = 12.21%). The chart plots the 5,000-portfolio market set against that indifference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Tarana Bansal: client's own return and risk beliefs for every product they are aware of, scored as U = E(R) - 0.5 x 3 x SD^2, against the market utility of the same product. The chart plots the market utility curve (orange), the client's own utility curve (blue) and the CAL utility line (green).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Tarana Bansal: market utility of all 14 assets sorted by market SD, and the indifference curve running through the client's own highest-utility portfolio (U0 = 12.21%). The chart plots the 5,000-portfolio market set against that indifference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Parth Gupta: client's own return and risk beliefs for every product they are aware of, scored as U = E(R) - 0.5 x 4 x SD^2, against the market utility of the same product. The chart plots the market utility curve (orange), the client's own utility curve (blue) and the CAL utility line (green).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Parth Gupta: market utility of all 14 assets sorted by market SD, and the indifference curve running through the client's own highest-utility portfolio (U0 = 11.81%). The chart plots the 5,000-portfolio market set against that indifference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exception to the pessimism is the alternatives bucket: Manik and Parth both materially overestimate the Long-Short AIF, because they underestimate its 40% volatility.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Deven and Jai share a portfolio because they share A=1; Manik and Tarana share the A=3 optimum. Only Parth at A=4 gets a separate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SAA is the policy anchor; the scenario optimiser is the implementation within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actions, ordered by client impact. The first is the core advisory value-add; the last is an internal data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204575"/>
            <a:ext cx="12191695" cy="68580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78089" y="321116"/>
            <a:ext cx="2377440" cy="237744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04120" y="915476"/>
            <a:ext cx="1188720" cy="1188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70639" y="2033912"/>
            <a:ext cx="1371600" cy="1371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6E82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17988" y="331453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Risk Profiling and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Optimisation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17988" y="1940391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14-asset investment universe, mean-variance optimisation and a 5,000-scenario search, applied to five real client profiles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914" y="3021974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93867" y="28903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7.50%   ·   14 assets, 10 optimised   ·   5 clients with Risk Aversion Score (A = 1, 3, 4)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33249F-FEDB-1F45-A28F-1F668063E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8" y="3724836"/>
            <a:ext cx="1687552" cy="21697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C2A146-7465-C1AB-7CAF-BFA125B8C3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33" t="27061" r="15035" b="33186"/>
          <a:stretch>
            <a:fillRect/>
          </a:stretch>
        </p:blipFill>
        <p:spPr>
          <a:xfrm rot="16200000">
            <a:off x="4764010" y="4070474"/>
            <a:ext cx="1894960" cy="16875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029FB4-053C-07C9-953A-887871C006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897" t="26863" r="13987" b="30412"/>
          <a:stretch>
            <a:fillRect/>
          </a:stretch>
        </p:blipFill>
        <p:spPr>
          <a:xfrm rot="16200000">
            <a:off x="6937494" y="3886178"/>
            <a:ext cx="1996798" cy="19543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AAE550-F2C4-CF5A-63F7-DC872BA9D3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967" b="23265"/>
          <a:stretch>
            <a:fillRect/>
          </a:stretch>
        </p:blipFill>
        <p:spPr>
          <a:xfrm>
            <a:off x="2788024" y="4035027"/>
            <a:ext cx="1528802" cy="18267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1BB3B4-0A9B-6A86-E230-31A072BF920A}"/>
              </a:ext>
            </a:extLst>
          </p:cNvPr>
          <p:cNvSpPr txBox="1"/>
          <p:nvPr/>
        </p:nvSpPr>
        <p:spPr>
          <a:xfrm>
            <a:off x="745569" y="5992085"/>
            <a:ext cx="157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Parth Gupta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F205B9-A9A8-1142-5313-26FB77E18E5C}"/>
              </a:ext>
            </a:extLst>
          </p:cNvPr>
          <p:cNvSpPr txBox="1"/>
          <p:nvPr/>
        </p:nvSpPr>
        <p:spPr>
          <a:xfrm>
            <a:off x="2977435" y="5965109"/>
            <a:ext cx="157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Jai Kumar 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EBB96F-8ED5-1EA9-2B59-C6F52B89A1A6}"/>
              </a:ext>
            </a:extLst>
          </p:cNvPr>
          <p:cNvSpPr txBox="1"/>
          <p:nvPr/>
        </p:nvSpPr>
        <p:spPr>
          <a:xfrm>
            <a:off x="4980067" y="5928525"/>
            <a:ext cx="157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Manik Ratty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2CFD58-3887-37BF-E6A0-A13A298D0FBD}"/>
              </a:ext>
            </a:extLst>
          </p:cNvPr>
          <p:cNvSpPr txBox="1"/>
          <p:nvPr/>
        </p:nvSpPr>
        <p:spPr>
          <a:xfrm>
            <a:off x="7125650" y="5928525"/>
            <a:ext cx="1575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Deven Saboo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013ADC-8F7E-8C05-079A-94637AAE6CB4}"/>
              </a:ext>
            </a:extLst>
          </p:cNvPr>
          <p:cNvSpPr txBox="1"/>
          <p:nvPr/>
        </p:nvSpPr>
        <p:spPr>
          <a:xfrm>
            <a:off x="9357516" y="5922415"/>
            <a:ext cx="2050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Tarana</a:t>
            </a:r>
            <a:r>
              <a:rPr lang="en-US" sz="2000" b="1" dirty="0">
                <a:solidFill>
                  <a:schemeClr val="bg1"/>
                </a:solidFill>
              </a:rPr>
              <a:t> Bansal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7E1D16-26FD-55C7-2A41-49FCA8CFCFDE}"/>
              </a:ext>
            </a:extLst>
          </p:cNvPr>
          <p:cNvSpPr txBox="1"/>
          <p:nvPr/>
        </p:nvSpPr>
        <p:spPr>
          <a:xfrm>
            <a:off x="521451" y="3463606"/>
            <a:ext cx="157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Clients: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360FF8C-5065-9ABF-9EA3-DB662E653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200" y="3925271"/>
            <a:ext cx="2029840" cy="19024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760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626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Analytical Framework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83351"/>
            <a:ext cx="2093976" cy="3554705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784520"/>
            <a:ext cx="566928" cy="56692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49808" y="19125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49808" y="2479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Universe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26948" y="3215182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asset classes 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expected return, standard deviation and return/risk ratio; Risk-free rate fixed at 7.50%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61488" y="1583352"/>
            <a:ext cx="2093976" cy="3554704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62656" y="1784520"/>
            <a:ext cx="566928" cy="56692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962656" y="19125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962656" y="2479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Covariance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2884932" y="3215182"/>
            <a:ext cx="1892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10x10 correlation matrix 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covariance (Cov = p x SDi x SDj) for the 10 assets with reliable data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74336" y="1583352"/>
            <a:ext cx="2093976" cy="3554704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75504" y="1784520"/>
            <a:ext cx="566928" cy="56692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175504" y="19125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175504" y="2479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Utility Scoring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3206038"/>
            <a:ext cx="1892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E(R) - 0.5 x A x SD^2 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at A = 1 to 6, giving the market view of every asset at every risk appetite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87184" y="1583352"/>
            <a:ext cx="2093976" cy="3554704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88352" y="1784520"/>
            <a:ext cx="566928" cy="56692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88352" y="19125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373838" y="2479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Frontier &amp; CAL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7328511" y="3215182"/>
            <a:ext cx="188607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Variance and Tangency portfolios solved, 12 frontier points plotted, Capital Allocation Line drawn from rf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00032" y="1583351"/>
            <a:ext cx="2093976" cy="3554703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601200" y="1784520"/>
            <a:ext cx="566928" cy="56692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9601200" y="19125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9514116" y="2479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Search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11356" y="3206038"/>
            <a:ext cx="1856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randomly weighted portfolios scored on return, risk, Sharpe and utility; the highest-utility scenario per A is selected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77240" y="573111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utility equation:</a:t>
            </a:r>
            <a:r>
              <a:rPr lang="en-US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= E(R) − 0.5 × A × σ²</a:t>
            </a:r>
            <a:r>
              <a:rPr lang="en-US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Indifference curve:  Return = U₀ + 0.5 × A × σ²     </a:t>
            </a:r>
          </a:p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Sharpe = (Rp − 7.50%) ÷ σp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447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Universe: 14 Assets, 7.5% to 25% Return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89937612"/>
              </p:ext>
            </p:extLst>
          </p:nvPr>
        </p:nvGraphicFramePr>
        <p:xfrm>
          <a:off x="548640" y="1298447"/>
          <a:ext cx="7406640" cy="4318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13488" y="1371600"/>
            <a:ext cx="3962400" cy="5011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leads on efficiency: 0.50 return per unit of risk (20.0% return, 25.0% SD), ahead of Mid Cap at 0.477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Long-Short AIF has the highest raw return (25.0%) but the worst risk drag : 40.0% SD pushes its ratio down to 0.4375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Bonds anchor the low end at 7.5% return and 2.0% SD, effectively the risk-free proxy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wrappers: ULIPs, Child Education Plan, Hybrid Debt Fund, Pension Plan  have zero client awareness across all five clients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315757" y="5807886"/>
            <a:ext cx="3997960" cy="658368"/>
          </a:xfrm>
          <a:prstGeom prst="roundRect">
            <a:avLst>
              <a:gd name="adj" fmla="val 11111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2571789" y="5899326"/>
            <a:ext cx="3726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Return/risk ratio range: 0.50 (Small Cap) down to 0.10 (Hybrid Debt, Pension Plan)</a:t>
            </a:r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3880" y="43891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Structure: Gold Is the Only True Diversifier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38245921"/>
              </p:ext>
            </p:extLst>
          </p:nvPr>
        </p:nvGraphicFramePr>
        <p:xfrm>
          <a:off x="319314" y="1325880"/>
          <a:ext cx="7087326" cy="4685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Text 2">
            <a:extLst>
              <a:ext uri="{FF2B5EF4-FFF2-40B4-BE49-F238E27FC236}">
                <a16:creationId xmlns:a16="http://schemas.microsoft.com/office/drawing/2014/main" id="{3BCCF301-FE9A-E6F2-93F2-73482AEED9DE}"/>
              </a:ext>
            </a:extLst>
          </p:cNvPr>
          <p:cNvSpPr txBox="1"/>
          <p:nvPr/>
        </p:nvSpPr>
        <p:spPr>
          <a:xfrm>
            <a:off x="7777945" y="1530935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10-asset optimisation set, equity is effectively one bet. Small Cap and Mid Cap correlate at 0.954, Large Cap and the Large &amp; Mid Cap fund at 0.927, and Multi-Asset tracks Large Cap at 0.945  blending them adds names, not diversification.</a:t>
            </a:r>
            <a:endParaRPr lang="en-US" sz="1600" b="1" dirty="0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4A9481D2-6370-75CA-1475-B6271E37BF09}"/>
              </a:ext>
            </a:extLst>
          </p:cNvPr>
          <p:cNvSpPr/>
          <p:nvPr/>
        </p:nvSpPr>
        <p:spPr>
          <a:xfrm>
            <a:off x="7777945" y="3268295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BDCEBFCE-5E34-271D-6B69-CD27A9149907}"/>
              </a:ext>
            </a:extLst>
          </p:cNvPr>
          <p:cNvSpPr txBox="1"/>
          <p:nvPr/>
        </p:nvSpPr>
        <p:spPr>
          <a:xfrm>
            <a:off x="7960825" y="3387167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220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EF3DB649-88B4-133C-53F7-9EEEE77D8703}"/>
              </a:ext>
            </a:extLst>
          </p:cNvPr>
          <p:cNvSpPr txBox="1"/>
          <p:nvPr/>
        </p:nvSpPr>
        <p:spPr>
          <a:xfrm>
            <a:off x="9423865" y="3432887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vs Mid Cap</a:t>
            </a:r>
            <a:endParaRPr lang="en-US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04D7934F-142E-F350-DCEF-D2C4EFCB8943}"/>
              </a:ext>
            </a:extLst>
          </p:cNvPr>
          <p:cNvSpPr txBox="1"/>
          <p:nvPr/>
        </p:nvSpPr>
        <p:spPr>
          <a:xfrm>
            <a:off x="9423865" y="3743783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pair in the matrix</a:t>
            </a:r>
            <a:endParaRPr lang="en-US" sz="1600" dirty="0"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25F65C4E-3478-2AF1-1A5B-E14A2EE203CA}"/>
              </a:ext>
            </a:extLst>
          </p:cNvPr>
          <p:cNvSpPr/>
          <p:nvPr/>
        </p:nvSpPr>
        <p:spPr>
          <a:xfrm>
            <a:off x="7777945" y="4402151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8BE54E4F-C26A-9660-0100-B29521172BD7}"/>
              </a:ext>
            </a:extLst>
          </p:cNvPr>
          <p:cNvSpPr txBox="1"/>
          <p:nvPr/>
        </p:nvSpPr>
        <p:spPr>
          <a:xfrm>
            <a:off x="7960825" y="4521023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−0.229</a:t>
            </a:r>
            <a:endParaRPr lang="en-US" sz="2200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184A4DA3-41AC-8E4C-8341-E79D8D65DF23}"/>
              </a:ext>
            </a:extLst>
          </p:cNvPr>
          <p:cNvSpPr txBox="1"/>
          <p:nvPr/>
        </p:nvSpPr>
        <p:spPr>
          <a:xfrm>
            <a:off x="9423865" y="4566743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vs Mid Cap</a:t>
            </a:r>
            <a:endParaRPr lang="en-US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B3E3B90D-7F9B-52D5-CFD6-7E0D59934EFF}"/>
              </a:ext>
            </a:extLst>
          </p:cNvPr>
          <p:cNvSpPr txBox="1"/>
          <p:nvPr/>
        </p:nvSpPr>
        <p:spPr>
          <a:xfrm>
            <a:off x="9423865" y="4877639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pair</a:t>
            </a:r>
            <a:endParaRPr lang="en-US" sz="1600" dirty="0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3C51C127-DEB8-4565-5EF0-D01EC93C4081}"/>
              </a:ext>
            </a:extLst>
          </p:cNvPr>
          <p:cNvSpPr/>
          <p:nvPr/>
        </p:nvSpPr>
        <p:spPr>
          <a:xfrm>
            <a:off x="7777945" y="5590871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890EBEA4-AABA-ACB3-A741-789709EA6278}"/>
              </a:ext>
            </a:extLst>
          </p:cNvPr>
          <p:cNvSpPr txBox="1"/>
          <p:nvPr/>
        </p:nvSpPr>
        <p:spPr>
          <a:xfrm>
            <a:off x="7960825" y="565487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0.919</a:t>
            </a:r>
            <a:endParaRPr lang="en-US" sz="2200" dirty="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76EF8F4B-3617-9D3F-14FE-B2BF379A122D}"/>
              </a:ext>
            </a:extLst>
          </p:cNvPr>
          <p:cNvSpPr txBox="1"/>
          <p:nvPr/>
        </p:nvSpPr>
        <p:spPr>
          <a:xfrm>
            <a:off x="9114971" y="5700599"/>
            <a:ext cx="24577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vs Corporate Bonds</a:t>
            </a:r>
            <a:endParaRPr lang="en-US" dirty="0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5ECCF55E-1D2E-7B9F-0E33-B2157BC2E529}"/>
              </a:ext>
            </a:extLst>
          </p:cNvPr>
          <p:cNvSpPr txBox="1"/>
          <p:nvPr/>
        </p:nvSpPr>
        <p:spPr>
          <a:xfrm>
            <a:off x="9114971" y="6011494"/>
            <a:ext cx="2457734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 moves together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33829" y="494213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Collapses as Risk Aversion Rises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51726886"/>
              </p:ext>
            </p:extLst>
          </p:nvPr>
        </p:nvGraphicFramePr>
        <p:xfrm>
          <a:off x="232229" y="1560286"/>
          <a:ext cx="7448731" cy="4535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79" y="1307738"/>
            <a:ext cx="400449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Utility penalises variance quadratically, so the ranking of assets is not fixed, it is a function of the investor. The Long-Short AIF is the single most attractive asset at A = 1 (17.0% utility) and the single worst at A = 4 and above, where its 40% volatility turns utility negative at −7.0%</a:t>
            </a:r>
            <a:endParaRPr lang="en-US" b="1" dirty="0"/>
          </a:p>
        </p:txBody>
      </p:sp>
      <p:sp>
        <p:nvSpPr>
          <p:cNvPr id="6" name="Shape 3"/>
          <p:cNvSpPr/>
          <p:nvPr/>
        </p:nvSpPr>
        <p:spPr>
          <a:xfrm>
            <a:off x="8187505" y="385862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333809" y="3968351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3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333809" y="4535279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point for Long-Short AIF</a:t>
            </a:r>
            <a:endParaRPr lang="en-US" sz="1600" b="1" dirty="0"/>
          </a:p>
        </p:txBody>
      </p:sp>
      <p:sp>
        <p:nvSpPr>
          <p:cNvPr id="9" name="Text 6"/>
          <p:cNvSpPr txBox="1"/>
          <p:nvPr/>
        </p:nvSpPr>
        <p:spPr>
          <a:xfrm>
            <a:off x="8333809" y="4809599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E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falls to just 1.0%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87505" y="5184502"/>
            <a:ext cx="3657600" cy="1586413"/>
          </a:xfrm>
          <a:prstGeom prst="roundRect">
            <a:avLst>
              <a:gd name="adj" fmla="val 5333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333809" y="5294231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 pp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333809" y="5919215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utility range for Govt Bonds across A = 1 to 6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33809" y="6324161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E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means near-flat utility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35280" y="47897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Frontier and the Capital Allocation 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369896"/>
              </p:ext>
            </p:extLst>
          </p:nvPr>
        </p:nvGraphicFramePr>
        <p:xfrm>
          <a:off x="335280" y="1495116"/>
          <a:ext cx="7254240" cy="461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23494" y="1857974"/>
            <a:ext cx="3992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is built from 12 optimised points spanning 3.66% to 24.30% risk. </a:t>
            </a:r>
            <a:r>
              <a:rPr lang="en-US" sz="20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CAL, drawn from the 7.50% risk-free rate through the tangency portfolio, dominates every individual asset; the benchmark every client portfolio is measured against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023494" y="4093023"/>
            <a:ext cx="3749040" cy="2641605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206374" y="4321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Variance Portfolio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06374" y="4595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</a:t>
            </a: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9.15%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Risk </a:t>
            </a: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3.66%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Sharpe </a:t>
            </a: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0.452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06374" y="5098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Tangency Portfolio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06374" y="5373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</a:t>
            </a: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13.59%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Risk </a:t>
            </a: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8.37%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Sharpe </a:t>
            </a: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06374" y="58761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Tangency holds Gold 40.0%, Corporate Bonds 32.0%, Small Cap 21.8%, Long-Short AIF 6.2%.</a:t>
            </a:r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03497" y="502919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Variance versus Tangency Portfolio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936673773"/>
              </p:ext>
            </p:extLst>
          </p:nvPr>
        </p:nvGraphicFramePr>
        <p:xfrm>
          <a:off x="403497" y="1737359"/>
          <a:ext cx="6766560" cy="4300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89371" y="1226530"/>
            <a:ext cx="470262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variance portfolio is 80% fixed income and holds no equity beyond a 7.7% mutual fund position  it delivers 9.15% for almost no volatility. Moving to the tangency portfolio means selling all government bonds, tripling gold and introducing a 21.8% small cap position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932056" y="3800566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078360" y="3885039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+61%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078360" y="450625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Sharpe ratio, MVP to Tangency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10014567" y="4638838"/>
            <a:ext cx="145317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E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0.452 → 0.728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32056" y="5126446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078360" y="5163604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+4.44 pp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078360" y="573053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expected return earned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8078360" y="605057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E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+4.71 pp of additional risk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931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Cohort: Five Profiles, Three Risk Appetites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40974"/>
            <a:ext cx="2093976" cy="4405086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413110"/>
            <a:ext cx="457200" cy="457200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" y="150455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45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Deven Saboo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8687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24     A = 1  Aggressive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9808" y="3300187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12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Cafe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12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60 lakh / 15 yrs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</a:t>
            </a:r>
            <a:r>
              <a:rPr lang="en-US" sz="12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14.82%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26948" y="5251993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61488" y="1240974"/>
            <a:ext cx="2093976" cy="4405086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2962656" y="1355058"/>
            <a:ext cx="457200" cy="457200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962656" y="14464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962656" y="193113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 K. Agarwal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962656" y="248688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23     A = 1  Aggressive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880360" y="3300187"/>
            <a:ext cx="1856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 crore / 30 yrs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15.37%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939796" y="5251993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974336" y="1240974"/>
            <a:ext cx="2093976" cy="4405086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75504" y="1355058"/>
            <a:ext cx="457200" cy="457200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175504" y="14464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175504" y="193113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Manik Ratty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48688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24     A = 3  Moderate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175504" y="3300187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 crore / 20 yrs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21.65%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093208" y="5263975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exceeds ability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187184" y="1240974"/>
            <a:ext cx="2093976" cy="4405086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88352" y="1355058"/>
            <a:ext cx="457200" cy="457200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388352" y="14464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388352" y="193113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Tarana Bansal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388352" y="248688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22     A = 3  Moderate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388352" y="3298155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/ House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50 lakh / 10 yrs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10.01%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357582" y="5276457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400032" y="1240974"/>
            <a:ext cx="2093976" cy="4405086"/>
          </a:xfrm>
          <a:prstGeom prst="roundRect">
            <a:avLst>
              <a:gd name="adj" fmla="val 349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601200" y="1355058"/>
            <a:ext cx="457200" cy="457200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601200" y="14464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601200" y="193113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 Gupta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0" y="248688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23     A = 4  Moderate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601200" y="3298155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Creation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 crore / 30 yrs</a:t>
            </a: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return</a:t>
            </a: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17.88%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9578340" y="5261943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929086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five goals are fundable at the returns the optimised portfolios deliver. Manik is the exception: a Rs 3 crore corpus in 20 years on a Rs 10,000 monthly SIP demands 21.65% a year, above anything in the feasible set; so, the SIP amount, the target or the horizon has to move.</a:t>
            </a:r>
            <a:endParaRPr 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Deven Saboo : Client Utility vs Market Utility (A = 1)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618156"/>
              </p:ext>
            </p:extLst>
          </p:nvPr>
        </p:nvGraphicFramePr>
        <p:xfrm>
          <a:off x="318589" y="1393154"/>
          <a:ext cx="7133771" cy="5101728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7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Return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Risk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of an Investor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Risk from Market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Return from Market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 A=1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+0.81%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+1.16%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7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11.94%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-3.06%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9.76%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11.55%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7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effectLst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+2.00%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4589" y="5790039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Positive Difference = the client over-estimates the product versus the market view.  Negative = the client under-estimates it.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46315732"/>
              </p:ext>
            </p:extLst>
          </p:nvPr>
        </p:nvGraphicFramePr>
        <p:xfrm>
          <a:off x="7684589" y="1485535"/>
          <a:ext cx="42976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 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Deven Saboo : Market Utility Ranking and Indifference Curve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384759"/>
              </p:ext>
            </p:extLst>
          </p:nvPr>
        </p:nvGraphicFramePr>
        <p:xfrm>
          <a:off x="278527" y="1088571"/>
          <a:ext cx="3470513" cy="5329646"/>
        </p:xfrm>
        <a:graphic>
          <a:graphicData uri="http://schemas.openxmlformats.org/drawingml/2006/table">
            <a:tbl>
              <a:tblPr/>
              <a:tblGrid>
                <a:gridCol w="1879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(market, sorted by SD)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Product Utility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Debt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ULIPs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Education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11.55%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463288"/>
              </p:ext>
            </p:extLst>
          </p:nvPr>
        </p:nvGraphicFramePr>
        <p:xfrm>
          <a:off x="3931920" y="1216152"/>
          <a:ext cx="2514600" cy="4041647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9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3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931920" y="5376089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Winning portfolio: Return 13.67%, Risk 9.63%, Utility 13.20%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82064" y="5806440"/>
            <a:ext cx="6096000" cy="942703"/>
          </a:xfrm>
          <a:prstGeom prst="roundRect">
            <a:avLst>
              <a:gd name="adj" fmla="val 1618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6039032" y="5961887"/>
            <a:ext cx="5982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Deven will choose the highest-utility products: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Long-Short AIF (17.00%)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Equity - Small Cap (16.88%)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the two assets with the highest market utility at A = 1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537293786"/>
              </p:ext>
            </p:extLst>
          </p:nvPr>
        </p:nvGraphicFramePr>
        <p:xfrm>
          <a:off x="6629399" y="1216152"/>
          <a:ext cx="5448665" cy="459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 Kumar Agarwal : Client Utility vs Market Utility (A = 1)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50019"/>
              </p:ext>
            </p:extLst>
          </p:nvPr>
        </p:nvGraphicFramePr>
        <p:xfrm>
          <a:off x="232229" y="1325880"/>
          <a:ext cx="7220131" cy="5118460"/>
        </p:xfrm>
        <a:graphic>
          <a:graphicData uri="http://schemas.openxmlformats.org/drawingml/2006/table">
            <a:tbl>
              <a:tblPr/>
              <a:tblGrid>
                <a:gridCol w="1750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2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7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035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Return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of an Investor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Risk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Return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 A=1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7895771" y="5869851"/>
            <a:ext cx="3636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Positive Difference = the client over-estimates the product versus the market view.  Negative = the client under-estimates it.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923671427"/>
              </p:ext>
            </p:extLst>
          </p:nvPr>
        </p:nvGraphicFramePr>
        <p:xfrm>
          <a:off x="7619999" y="1529076"/>
          <a:ext cx="4420324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 2 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 Kumar Agarwal : Market Utility Ranking and Indifference Curve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355274"/>
              </p:ext>
            </p:extLst>
          </p:nvPr>
        </p:nvGraphicFramePr>
        <p:xfrm>
          <a:off x="142966" y="1103086"/>
          <a:ext cx="3664130" cy="5513133"/>
        </p:xfrm>
        <a:graphic>
          <a:graphicData uri="http://schemas.openxmlformats.org/drawingml/2006/table">
            <a:tbl>
              <a:tblPr/>
              <a:tblGrid>
                <a:gridCol w="198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6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(market, sorted by SD)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Debt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ULIPs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Education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3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3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03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9.72%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11.55%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319308"/>
              </p:ext>
            </p:extLst>
          </p:nvPr>
        </p:nvGraphicFramePr>
        <p:xfrm>
          <a:off x="3931920" y="1325880"/>
          <a:ext cx="2514600" cy="4297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Indifference Curve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3950208" y="5609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Winning portfolio: Return 13.56%, Risk 9.49%, Utility 13.11%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175826" y="5916168"/>
            <a:ext cx="5873208" cy="812294"/>
          </a:xfrm>
          <a:prstGeom prst="roundRect">
            <a:avLst>
              <a:gd name="adj" fmla="val 8421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6333817" y="6098320"/>
            <a:ext cx="5846208" cy="54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Jai will choose the highest utility products: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Long-Short AIF (17.00%)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Equity - Small Cap (16.88%)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the two assets with the highest market utility at A = 1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722027433"/>
              </p:ext>
            </p:extLst>
          </p:nvPr>
        </p:nvGraphicFramePr>
        <p:xfrm>
          <a:off x="6629400" y="1216152"/>
          <a:ext cx="5313098" cy="459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 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Manik Ratty : Client Utility vs Market Utility (A = 3)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69669"/>
              </p:ext>
            </p:extLst>
          </p:nvPr>
        </p:nvGraphicFramePr>
        <p:xfrm>
          <a:off x="166187" y="1216152"/>
          <a:ext cx="7431315" cy="5221094"/>
        </p:xfrm>
        <a:graphic>
          <a:graphicData uri="http://schemas.openxmlformats.org/drawingml/2006/table">
            <a:tbl>
              <a:tblPr/>
              <a:tblGrid>
                <a:gridCol w="1549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9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Return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of an Investor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Risk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Return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 A=3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8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3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8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3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3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8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3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3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3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790403521"/>
              </p:ext>
            </p:extLst>
          </p:nvPr>
        </p:nvGraphicFramePr>
        <p:xfrm>
          <a:off x="7757158" y="1369422"/>
          <a:ext cx="42976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2">
            <a:extLst>
              <a:ext uri="{FF2B5EF4-FFF2-40B4-BE49-F238E27FC236}">
                <a16:creationId xmlns:a16="http://schemas.microsoft.com/office/drawing/2014/main" id="{1422F5E6-39AA-F22A-F4FB-BC38B25DADAE}"/>
              </a:ext>
            </a:extLst>
          </p:cNvPr>
          <p:cNvSpPr txBox="1"/>
          <p:nvPr/>
        </p:nvSpPr>
        <p:spPr>
          <a:xfrm>
            <a:off x="7997371" y="5627617"/>
            <a:ext cx="3912326" cy="9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Positive Difference = the client over-estimates the product versus the market view.  Negative = the client under-estimates it.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 3 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Manik Ratty : Market Utility Ranking and Indifference Curve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57858"/>
              </p:ext>
            </p:extLst>
          </p:nvPr>
        </p:nvGraphicFramePr>
        <p:xfrm>
          <a:off x="126736" y="1103085"/>
          <a:ext cx="3622304" cy="5519061"/>
        </p:xfrm>
        <a:graphic>
          <a:graphicData uri="http://schemas.openxmlformats.org/drawingml/2006/table">
            <a:tbl>
              <a:tblPr/>
              <a:tblGrid>
                <a:gridCol w="196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7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(market, sorted by SD)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Debt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ULIPs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Education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41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1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41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85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784133"/>
              </p:ext>
            </p:extLst>
          </p:nvPr>
        </p:nvGraphicFramePr>
        <p:xfrm>
          <a:off x="3931920" y="1325880"/>
          <a:ext cx="2514600" cy="4297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Indifference Curve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931920" y="5662023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Winning portfolio: Return 13.56%, Risk 9.49%, Utility 12.21%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78916" y="5753463"/>
            <a:ext cx="5586348" cy="868680"/>
          </a:xfrm>
          <a:prstGeom prst="roundRect">
            <a:avLst>
              <a:gd name="adj" fmla="val 8421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4"/>
          <p:cNvSpPr txBox="1"/>
          <p:nvPr/>
        </p:nvSpPr>
        <p:spPr>
          <a:xfrm>
            <a:off x="6667780" y="5890623"/>
            <a:ext cx="5397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Manik will choose the highest utility products: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Equity - Mid Cap (10.74%)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- Large &amp; Mid Cap (10.63%)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the two assets with the highest market utility at A = 3 (Equity - Small Cap ties at 10.63%)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629400" y="1325880"/>
          <a:ext cx="50749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4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Tarana Bansal : Client Utility vs Market Utility (A = 3)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709455"/>
              </p:ext>
            </p:extLst>
          </p:nvPr>
        </p:nvGraphicFramePr>
        <p:xfrm>
          <a:off x="188686" y="1325880"/>
          <a:ext cx="7387771" cy="5001770"/>
        </p:xfrm>
        <a:graphic>
          <a:graphicData uri="http://schemas.openxmlformats.org/drawingml/2006/table">
            <a:tbl>
              <a:tblPr/>
              <a:tblGrid>
                <a:gridCol w="153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8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78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83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620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Return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of an Investor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Risk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Return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 A=3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3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3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3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3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5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3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05867136"/>
              </p:ext>
            </p:extLst>
          </p:nvPr>
        </p:nvGraphicFramePr>
        <p:xfrm>
          <a:off x="7705634" y="1325880"/>
          <a:ext cx="42976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2">
            <a:extLst>
              <a:ext uri="{FF2B5EF4-FFF2-40B4-BE49-F238E27FC236}">
                <a16:creationId xmlns:a16="http://schemas.microsoft.com/office/drawing/2014/main" id="{34992349-36FA-5715-E00B-F929826133B9}"/>
              </a:ext>
            </a:extLst>
          </p:cNvPr>
          <p:cNvSpPr txBox="1"/>
          <p:nvPr/>
        </p:nvSpPr>
        <p:spPr>
          <a:xfrm>
            <a:off x="7898311" y="5532120"/>
            <a:ext cx="3912326" cy="9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Positive Difference = the client over-estimates the product versus the market view.  Negative = the client under-estimates 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 4 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Tarana Bansal : Market Utility Ranking and Indifference Curve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808952"/>
              </p:ext>
            </p:extLst>
          </p:nvPr>
        </p:nvGraphicFramePr>
        <p:xfrm>
          <a:off x="143703" y="1216152"/>
          <a:ext cx="3605337" cy="5410080"/>
        </p:xfrm>
        <a:graphic>
          <a:graphicData uri="http://schemas.openxmlformats.org/drawingml/2006/table">
            <a:tbl>
              <a:tblPr/>
              <a:tblGrid>
                <a:gridCol w="1952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(market, sorted by SD)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SD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Debt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ULIPs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Education Plan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9.19%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10.74%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7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45389"/>
              </p:ext>
            </p:extLst>
          </p:nvPr>
        </p:nvGraphicFramePr>
        <p:xfrm>
          <a:off x="3931920" y="1325880"/>
          <a:ext cx="2514600" cy="4297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(SD)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Indifference Curve Return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9.49%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10.17%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10.80%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11.97%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12.52%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18.89%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23.59%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30.93%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36.83%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32.56%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12.21%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957591" y="566275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Winning portfolio: Return 13.56%, Risk 9.49%, Utility 12.21%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46520" y="5824727"/>
            <a:ext cx="5601777" cy="942559"/>
          </a:xfrm>
          <a:prstGeom prst="roundRect">
            <a:avLst>
              <a:gd name="adj" fmla="val 13434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6613686" y="5824728"/>
            <a:ext cx="5404130" cy="85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Tarana will choose the highest utility products: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Equity - Mid Cap (10.74%)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- Large &amp; Mid Cap (10.63%)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the two assets with the highest market utility at A = 3 (Equity - Small Cap ties at 10.63%).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784266757"/>
              </p:ext>
            </p:extLst>
          </p:nvPr>
        </p:nvGraphicFramePr>
        <p:xfrm>
          <a:off x="6629399" y="1216152"/>
          <a:ext cx="5388417" cy="459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5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 Gupta : Client Utility vs Market Utility (A = 4)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115297"/>
              </p:ext>
            </p:extLst>
          </p:nvPr>
        </p:nvGraphicFramePr>
        <p:xfrm>
          <a:off x="311331" y="1311366"/>
          <a:ext cx="7329714" cy="5161418"/>
        </p:xfrm>
        <a:graphic>
          <a:graphicData uri="http://schemas.openxmlformats.org/drawingml/2006/table">
            <a:tbl>
              <a:tblPr/>
              <a:tblGrid>
                <a:gridCol w="138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54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1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45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Return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Exp.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of an Investor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Risk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Return from 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 A=4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1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8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+15.02%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006859559"/>
              </p:ext>
            </p:extLst>
          </p:nvPr>
        </p:nvGraphicFramePr>
        <p:xfrm>
          <a:off x="7807236" y="1441992"/>
          <a:ext cx="42976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E534A037-02AA-2E58-0D0D-19BDBD0C0A4A}"/>
              </a:ext>
            </a:extLst>
          </p:cNvPr>
          <p:cNvSpPr txBox="1"/>
          <p:nvPr/>
        </p:nvSpPr>
        <p:spPr>
          <a:xfrm>
            <a:off x="7999913" y="5595531"/>
            <a:ext cx="3912326" cy="9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Positive Difference = the client over-estimates the product versus the market view.  Negative = the client under-estimates it.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 5 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 Gupta : Market Utility Ranking and Indifference Curve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723554"/>
              </p:ext>
            </p:extLst>
          </p:nvPr>
        </p:nvGraphicFramePr>
        <p:xfrm>
          <a:off x="128451" y="1172610"/>
          <a:ext cx="3664132" cy="5430668"/>
        </p:xfrm>
        <a:graphic>
          <a:graphicData uri="http://schemas.openxmlformats.org/drawingml/2006/table">
            <a:tbl>
              <a:tblPr/>
              <a:tblGrid>
                <a:gridCol w="198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(market, sorted by SD)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Utility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Bonds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Debt 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Pension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Bonds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Education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Commodity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5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Multi-Asset Allocation 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5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Fund - Large &amp; Mid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5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Embassy Office Parks REIT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Large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Mid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- Small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Long-Short AIF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315408"/>
              </p:ext>
            </p:extLst>
          </p:nvPr>
        </p:nvGraphicFramePr>
        <p:xfrm>
          <a:off x="3931920" y="1151712"/>
          <a:ext cx="2514600" cy="4297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Indifference Curve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931920" y="5488217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Winning portfolio: Return 13.67%, Risk 9.63%, Utility 11.81%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117771" y="5869576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6318939" y="600673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Parth will choose the highest utility products: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- Large &amp; Mid Cap (9.50%)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Allocation Fund (9.40%)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the two assets with the highest market utility at A = 4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022302461"/>
              </p:ext>
            </p:extLst>
          </p:nvPr>
        </p:nvGraphicFramePr>
        <p:xfrm>
          <a:off x="6629399" y="1151712"/>
          <a:ext cx="5403669" cy="465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02336" y="34986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Client, Every Product, Prices Below the Market Line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199105716"/>
              </p:ext>
            </p:extLst>
          </p:nvPr>
        </p:nvGraphicFramePr>
        <p:xfrm>
          <a:off x="232229" y="1415142"/>
          <a:ext cx="7159897" cy="4405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59" y="1798320"/>
            <a:ext cx="4336867" cy="118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44 client product assessments in the cohort, not one sits above the Capital Allocation Line. The pattern is systematic rather than random: risk estimates track the market reasonably well, but return expectations are consistently understated. This is under-confidence about achievable return, not excess caution about risk.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855131" y="3945708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001435" y="405543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44 / 44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001435" y="462236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below the CAL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8001435" y="489668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 exceptions across five clients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55131" y="5271588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855131" y="5285304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+15.02 pp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001435" y="588786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Parth's overestimate of Long-Short AIF utility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01435" y="625841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belief gap in the cohort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886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Portfolios: One Optimum per Risk Appetite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84383358"/>
              </p:ext>
            </p:extLst>
          </p:nvPr>
        </p:nvGraphicFramePr>
        <p:xfrm>
          <a:off x="502919" y="1120140"/>
          <a:ext cx="7360921" cy="3954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37160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" name="Text 3"/>
          <p:cNvSpPr txBox="1"/>
          <p:nvPr/>
        </p:nvSpPr>
        <p:spPr>
          <a:xfrm>
            <a:off x="8275320" y="1481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1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7532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18.17%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Risk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19.83%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121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0.538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092440" y="2670048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Text 7"/>
          <p:cNvSpPr txBox="1"/>
          <p:nvPr/>
        </p:nvSpPr>
        <p:spPr>
          <a:xfrm>
            <a:off x="8275320" y="2779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3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27532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17.13%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Risk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15.85%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92440" y="3968496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4" name="Text 11"/>
          <p:cNvSpPr txBox="1"/>
          <p:nvPr/>
        </p:nvSpPr>
        <p:spPr>
          <a:xfrm>
            <a:off x="827532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4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275320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15.29%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Risk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12.45%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718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0.626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33829" y="5654621"/>
            <a:ext cx="115243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risk aversion rises, the optimiser rotates out of mid cap equity and into gold and corporate bonds: gold moves from 0.3% at A = 1 to 19.0% at A = 4, and corporate bonds from 0.8% to 20.3%. Expected return falls 2.88 percentage points, but risk falls 7.38 points, so, the Sharpe ratio actually improves from 0.538 to 0.626, as the mandate becomes more conservative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2844" y="417867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Asset Allocation by Risk Band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15739755"/>
              </p:ext>
            </p:extLst>
          </p:nvPr>
        </p:nvGraphicFramePr>
        <p:xfrm>
          <a:off x="275771" y="1371599"/>
          <a:ext cx="7130869" cy="4376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Aggressive mandate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09988" y="1749696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1, horizons of 35 to 37 years and low liquidity needs justify a 55% equity core plus 15% in alternatives. Fixed income is held at 10% purely as ballast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8530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mandate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680959" y="3532776"/>
            <a:ext cx="41772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= 3 or 4 with loss tolerance of 20% to 30% cuts equity to 35% and triples fixed income to 30%. Gold rises to 15% as the stabiliser, and alternatives drop out entirely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622900" y="5110332"/>
            <a:ext cx="4235269" cy="1463040"/>
          </a:xfrm>
          <a:prstGeom prst="roundRect">
            <a:avLst>
              <a:gd name="adj" fmla="val 6667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950924" y="53572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tactical optimiser output on the previous slide sits inside these strategic bands and is rebalanced back to them annually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</a:rPr>
              <a:t>Key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5440680" cy="1704413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5" name="Shape 3"/>
          <p:cNvSpPr/>
          <p:nvPr/>
        </p:nvSpPr>
        <p:spPr>
          <a:xfrm>
            <a:off x="633696" y="1454479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" name="Text 4"/>
          <p:cNvSpPr txBox="1"/>
          <p:nvPr/>
        </p:nvSpPr>
        <p:spPr>
          <a:xfrm>
            <a:off x="633696" y="15039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5800" y="1552738"/>
            <a:ext cx="5001768" cy="249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Managing Equity Risk</a:t>
            </a:r>
            <a:endParaRPr lang="en-US" sz="2000" b="1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2012695"/>
            <a:ext cx="522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We also learned that investing when equity prices are relatively low can improve the risk-adjusted return and help increase the </a:t>
            </a:r>
            <a:r>
              <a:rPr lang="en-IN" sz="1600" b="1" dirty="0"/>
              <a:t>Sharpe ratio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0488" y="1371018"/>
            <a:ext cx="5440680" cy="1668419"/>
          </a:xfrm>
          <a:prstGeom prst="roundRect">
            <a:avLst>
              <a:gd name="adj" fmla="val 4938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0" name="Shape 8"/>
          <p:cNvSpPr/>
          <p:nvPr/>
        </p:nvSpPr>
        <p:spPr>
          <a:xfrm>
            <a:off x="6391656" y="1599621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 txBox="1"/>
          <p:nvPr/>
        </p:nvSpPr>
        <p:spPr>
          <a:xfrm>
            <a:off x="6391656" y="1647519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903720" y="1644395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Finding the Optimal Portfolio</a:t>
            </a:r>
            <a:endParaRPr lang="en-US" sz="2000" b="1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097896"/>
            <a:ext cx="5050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We learned that the optimal portfolio is the one with the </a:t>
            </a:r>
            <a:r>
              <a:rPr lang="en-IN" sz="1600" b="1" dirty="0"/>
              <a:t>maximum Sharpe ratio</a:t>
            </a:r>
            <a:r>
              <a:rPr lang="en-IN" sz="1600" dirty="0"/>
              <a:t>, as it provides the best risk-adjusted return.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58309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5" name="Shape 13"/>
          <p:cNvSpPr/>
          <p:nvPr/>
        </p:nvSpPr>
        <p:spPr>
          <a:xfrm>
            <a:off x="749808" y="3359477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6" name="Text 14"/>
          <p:cNvSpPr txBox="1"/>
          <p:nvPr/>
        </p:nvSpPr>
        <p:spPr>
          <a:xfrm>
            <a:off x="749808" y="342348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61872" y="3341189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Managing Risk Aversion</a:t>
            </a:r>
            <a:endParaRPr lang="en-US" sz="2000" b="1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757457"/>
            <a:ext cx="5038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We learned that if a client cannot achieve their required rate of return, we can reduce their risk aversion (A-score), educate them about suitable products, and improve their overall asset utility.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0488" y="3158309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0" name="Shape 18"/>
          <p:cNvSpPr/>
          <p:nvPr/>
        </p:nvSpPr>
        <p:spPr>
          <a:xfrm>
            <a:off x="6391656" y="3359477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1" name="Text 19"/>
          <p:cNvSpPr txBox="1"/>
          <p:nvPr/>
        </p:nvSpPr>
        <p:spPr>
          <a:xfrm>
            <a:off x="6391656" y="342348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903720" y="3341189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Minimizing the Utility Gap</a:t>
            </a:r>
            <a:endParaRPr lang="en-US" sz="2000" b="1" dirty="0"/>
          </a:p>
        </p:txBody>
      </p:sp>
      <p:sp>
        <p:nvSpPr>
          <p:cNvPr id="23" name="Text 21"/>
          <p:cNvSpPr txBox="1"/>
          <p:nvPr/>
        </p:nvSpPr>
        <p:spPr>
          <a:xfrm>
            <a:off x="6391656" y="3742943"/>
            <a:ext cx="5221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We learned that we should minimize the gap between </a:t>
            </a:r>
            <a:r>
              <a:rPr lang="en-IN" sz="1600" b="1" dirty="0"/>
              <a:t>client utility and market utility</a:t>
            </a:r>
            <a:r>
              <a:rPr lang="en-IN" sz="1600" dirty="0"/>
              <a:t> to create a portfolio that better aligns with the client's preferences and market opportunities.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874621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5" name="Shape 23"/>
          <p:cNvSpPr/>
          <p:nvPr/>
        </p:nvSpPr>
        <p:spPr>
          <a:xfrm>
            <a:off x="749808" y="5075789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6" name="Text 24"/>
          <p:cNvSpPr txBox="1"/>
          <p:nvPr/>
        </p:nvSpPr>
        <p:spPr>
          <a:xfrm>
            <a:off x="749808" y="513979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261872" y="5137985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/>
              <a:t>Selecting Assets Based on Utility</a:t>
            </a:r>
            <a:endParaRPr lang="en-US" sz="2000" b="1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519273"/>
            <a:ext cx="5038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We learned that clients should invest more in the asset that provides the </a:t>
            </a:r>
            <a:r>
              <a:rPr lang="en-IN" sz="1600" b="1" dirty="0"/>
              <a:t>highest utility</a:t>
            </a:r>
            <a:r>
              <a:rPr lang="en-IN" sz="1600" dirty="0"/>
              <a:t> for their specific risk-aversion level, rather than focusing only on expected returns.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0488" y="4874621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EAEFF7"/>
          </a:solidFill>
          <a:ln w="12700">
            <a:solidFill>
              <a:srgbClr val="EAEFF7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0" name="Shape 28"/>
          <p:cNvSpPr/>
          <p:nvPr/>
        </p:nvSpPr>
        <p:spPr>
          <a:xfrm>
            <a:off x="6391656" y="5075789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1" name="Text 29"/>
          <p:cNvSpPr txBox="1"/>
          <p:nvPr/>
        </p:nvSpPr>
        <p:spPr>
          <a:xfrm>
            <a:off x="6391656" y="513979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903720" y="5057501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correlation dataset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391656" y="5459255"/>
            <a:ext cx="5050536" cy="839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four excluded products were dropped for missing correlation data, not unsuitability. Sourcing it would widen the optimisable set from 10 to 14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463040"/>
            <a:ext cx="2651760" cy="265176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784080" y="2194560"/>
            <a:ext cx="1188720" cy="11887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549640" y="3886200"/>
            <a:ext cx="1280160" cy="1280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6E82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34993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  ·  Section B  ·  Group 5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4851</Words>
  <Application>Microsoft Office PowerPoint</Application>
  <PresentationFormat>Widescreen</PresentationFormat>
  <Paragraphs>1065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Risk Profiling &amp; Portfolio Optimisation</dc:title>
  <dc:subject>PptxGenJS Presentation</dc:subject>
  <dc:creator>WM Section B - Group 5</dc:creator>
  <cp:lastModifiedBy>Jai agarwal</cp:lastModifiedBy>
  <cp:revision>13</cp:revision>
  <dcterms:created xsi:type="dcterms:W3CDTF">2026-08-31T11:28:40Z</dcterms:created>
  <dcterms:modified xsi:type="dcterms:W3CDTF">2026-09-02T06:22:58Z</dcterms:modified>
</cp:coreProperties>
</file>