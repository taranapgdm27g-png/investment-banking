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56" r:id="rId3"/>
    <p:sldId id="257" r:id="rId4"/>
    <p:sldId id="277" r:id="rId5"/>
    <p:sldId id="278" r:id="rId6"/>
    <p:sldId id="279" r:id="rId7"/>
    <p:sldId id="282" r:id="rId8"/>
    <p:sldId id="283" r:id="rId9"/>
    <p:sldId id="285" r:id="rId10"/>
    <p:sldId id="284" r:id="rId11"/>
    <p:sldId id="270" r:id="rId12"/>
    <p:sldId id="28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8893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59040" y="0"/>
            <a:ext cx="4632960" cy="6858000"/>
          </a:xfrm>
          <a:prstGeom prst="rect">
            <a:avLst/>
          </a:prstGeom>
          <a:solidFill>
            <a:srgbClr val="242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1234440"/>
            <a:ext cx="4145280" cy="4145280"/>
          </a:xfrm>
          <a:prstGeom prst="ellipse">
            <a:avLst/>
          </a:prstGeom>
          <a:noFill/>
          <a:ln w="25400">
            <a:solidFill>
              <a:srgbClr val="D9A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2057400"/>
            <a:ext cx="2682240" cy="2682240"/>
          </a:xfrm>
          <a:prstGeom prst="ellipse">
            <a:avLst/>
          </a:prstGeom>
          <a:noFill/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0000" y="1750000"/>
            <a:ext cx="67056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spc="200">
                <a:solidFill>
                  <a:srgbClr val="D9A62E"/>
                </a:solidFill>
                <a:latin typeface="Calibri"/>
              </a:rPr>
              <a:t>GROUP 4  ·  PROJECT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250000"/>
            <a:ext cx="7071359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CareerCompass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3350000"/>
            <a:ext cx="682752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ADCFC"/>
                </a:solidFill>
                <a:latin typeface="Calibri"/>
              </a:rPr>
              <a:t>An AI-Powered Placement Preparation Platform</a:t>
            </a:r>
          </a:p>
          <a:p>
            <a:r>
              <a:rPr sz="1300">
                <a:solidFill>
                  <a:srgbClr val="6B7280"/>
                </a:solidFill>
                <a:latin typeface="Calibri"/>
              </a:rPr>
              <a:t>Final Project Deck  |  Business Process &amp; Project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4300000"/>
            <a:ext cx="4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9A62E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468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Luv Singhal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P2512037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0000" y="468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Umang Parakh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P2514072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511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Prateek Raj Dubey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P2513050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000" y="511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Tanisha Bhola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P2514067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54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Harshul Gupta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P2514030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0000" y="554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Priyanka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P2512052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00" y="5970000"/>
            <a:ext cx="32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Tarana Bansal</a:t>
            </a:r>
          </a:p>
          <a:p>
            <a:r>
              <a:rPr sz="1050">
                <a:solidFill>
                  <a:srgbClr val="9AA6D6"/>
                </a:solidFill>
                <a:latin typeface="Calibri"/>
              </a:rPr>
              <a:t>P2513070</a:t>
            </a:r>
          </a:p>
        </p:txBody>
      </p:sp>
    </p:spTree>
    <p:extLst>
      <p:ext uri="{BB962C8B-B14F-4D97-AF65-F5344CB8AC3E}">
        <p14:creationId xmlns:p14="http://schemas.microsoft.com/office/powerpoint/2010/main" val="1427741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students lack a single, AI-assisted platform to prepare for placements — leaving preparation fragmented, inconsistent, and invisible to the Placement Cell.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1226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2029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Workflow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87552" y="23134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linking resume, JD, and application status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2384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990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Prep Quality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87552" y="327355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depends on individual initiative, not a structured process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3250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87552" y="395020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Visibility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987552" y="42336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 has no real-time view of batch-wide readiness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992624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7552" y="4910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Non-Scalable Tracking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987552" y="51937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tracking causes data lag and duplicated effort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54880" y="384048"/>
            <a:ext cx="6933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54880" y="658368"/>
            <a:ext cx="6933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CareerCompass AI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4754880" y="1234440"/>
            <a:ext cx="6933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Placement Preparation Platform for MBA Students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54880" y="1691640"/>
            <a:ext cx="6933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CareerCompass AI consolidates 13 fragmented placement-preparation activities — resume building, JD interpretation, ATS scoring, interview prep, and progress tracking — into one AI-native platform. It replaces a workflow currently spread across ChatGPT, LinkedIn, Glassdoor, Excel, and email/calendar tools, converting placement preparation from an unstructured activity into a measurable, institutionally governed process. Delivery is governed under a hybrid Agile-Predictive model, aligned to PMBOK 7 and the PMI Agile Practice Guide.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54880" y="3246120"/>
            <a:ext cx="6933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54880" y="3584448"/>
            <a:ext cx="1582598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5317579" y="37856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8163" y="38862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28032" y="4334256"/>
            <a:ext cx="14362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Months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846320" y="4681728"/>
            <a:ext cx="1399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(34 wks incl. buffer)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6538646" y="3584448"/>
            <a:ext cx="1582598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7101345" y="37856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1929" y="38862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11798" y="4334256"/>
            <a:ext cx="14362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₹58.40L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6630086" y="4681728"/>
            <a:ext cx="1399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at Completion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8322412" y="3584448"/>
            <a:ext cx="1582598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8885111" y="37856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5695" y="3886200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395564" y="4334256"/>
            <a:ext cx="14362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8413852" y="4681728"/>
            <a:ext cx="1399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10106177" y="3584448"/>
            <a:ext cx="1582598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/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10668876" y="37856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69460" y="3886200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179329" y="4334256"/>
            <a:ext cx="14362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43" name="Text 33"/>
          <p:cNvSpPr/>
          <p:nvPr/>
        </p:nvSpPr>
        <p:spPr>
          <a:xfrm>
            <a:off x="10197617" y="4681728"/>
            <a:ext cx="13997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Team</a:t>
            </a:r>
            <a:endParaRPr lang="en-US" sz="850" dirty="0"/>
          </a:p>
        </p:txBody>
      </p:sp>
      <p:sp>
        <p:nvSpPr>
          <p:cNvPr id="44" name="Text 34"/>
          <p:cNvSpPr/>
          <p:nvPr/>
        </p:nvSpPr>
        <p:spPr>
          <a:xfrm>
            <a:off x="4754880" y="5257800"/>
            <a:ext cx="6933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~60–70% reduction in per-student preparation time, replacing 7 fragmented tools with 1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CareerCompass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Placement Preparation Platform for MBA Students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2004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0864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2311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Months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05840" y="26243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34 weeks incl. schedule buffer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5526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1455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₹58.40L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05840" y="35387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 at Completion (BAC)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69664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405993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1005840" y="4453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delivery team members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" y="5120640"/>
            <a:ext cx="32004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457200" y="52669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A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MODEL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55046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Predictive-Charter / Agile-Execution: governed under PMBOK 7 + PMI Agile Practice Guide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26280" y="384048"/>
            <a:ext cx="720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(OBJECTIVES)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26280" y="658368"/>
            <a:ext cx="7208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tool-hopping placement prep leaves student readiness inconsistent and the Placement Cell without real-time visibility. CareerCompass AI consolidates 13 workflows into one AI-native platform — targeting a 60–70% cut in per-student preparation time and a reusable institutional data asset for future placement-training decisions.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26280" y="1444752"/>
            <a:ext cx="720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OBJECTIVES : BINDING CHARTER COMMITMENTS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526280" y="1783080"/>
            <a:ext cx="2268626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672584" y="19293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2016252"/>
            <a:ext cx="246888" cy="2468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37706" y="1874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672584" y="2386584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 Modules Live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672584" y="2651760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deployment, Month 8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996074" y="1783080"/>
            <a:ext cx="2268626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142378" y="19293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246" y="2016252"/>
            <a:ext cx="246888" cy="2468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807501" y="1874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7142378" y="2386584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 Match Precision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7142378" y="2651760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Resume–JD engine, validated at UAT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9465869" y="1783080"/>
            <a:ext cx="2268626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9612173" y="19293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9041" y="2016252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277295" y="1874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9612173" y="2386584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≥70% Adoption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9612173" y="2651760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cohort within 4 weeks of launch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4526280" y="3154680"/>
            <a:ext cx="2268626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5"/>
          <p:cNvSpPr/>
          <p:nvPr/>
        </p:nvSpPr>
        <p:spPr>
          <a:xfrm>
            <a:off x="4672584" y="33009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9452" y="3387852"/>
            <a:ext cx="246888" cy="2468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337706" y="3246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4672584" y="3758184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≥ 0.95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4672584" y="4023360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 at closure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6996074" y="3154680"/>
            <a:ext cx="2268626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0"/>
          <p:cNvSpPr/>
          <p:nvPr/>
        </p:nvSpPr>
        <p:spPr>
          <a:xfrm>
            <a:off x="7142378" y="33009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246" y="3387852"/>
            <a:ext cx="246888" cy="24688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8807501" y="3246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7142378" y="3758184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≥99% Uptime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7142378" y="4023360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season; AI latency &lt;5 sec (p95)</a:t>
            </a:r>
            <a:endParaRPr lang="en-US" sz="950" dirty="0"/>
          </a:p>
        </p:txBody>
      </p:sp>
      <p:sp>
        <p:nvSpPr>
          <p:cNvPr id="54" name="Shape 44"/>
          <p:cNvSpPr/>
          <p:nvPr/>
        </p:nvSpPr>
        <p:spPr>
          <a:xfrm>
            <a:off x="9465869" y="3154680"/>
            <a:ext cx="2268626" cy="1170432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45"/>
          <p:cNvSpPr/>
          <p:nvPr/>
        </p:nvSpPr>
        <p:spPr>
          <a:xfrm>
            <a:off x="9612173" y="330098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9041" y="3387852"/>
            <a:ext cx="246888" cy="24688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1277295" y="32461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9612173" y="3758184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Critical Findings</a:t>
            </a:r>
            <a:endParaRPr lang="en-US" sz="1300" dirty="0"/>
          </a:p>
        </p:txBody>
      </p:sp>
      <p:sp>
        <p:nvSpPr>
          <p:cNvPr id="59" name="Text 48"/>
          <p:cNvSpPr/>
          <p:nvPr/>
        </p:nvSpPr>
        <p:spPr>
          <a:xfrm>
            <a:off x="9612173" y="4023360"/>
            <a:ext cx="1976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Data-privacy audit, pre-launch</a:t>
            </a:r>
            <a:endParaRPr lang="en-US" sz="950" dirty="0"/>
          </a:p>
        </p:txBody>
      </p:sp>
      <p:sp>
        <p:nvSpPr>
          <p:cNvPr id="60" name="Text 49"/>
          <p:cNvSpPr/>
          <p:nvPr/>
        </p:nvSpPr>
        <p:spPr>
          <a:xfrm>
            <a:off x="4526280" y="4617720"/>
            <a:ext cx="7208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AUTHORITY (STAKEHOLDERS)</a:t>
            </a:r>
            <a:endParaRPr lang="en-US" sz="1200" dirty="0"/>
          </a:p>
        </p:txBody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26280" y="4946904"/>
            <a:ext cx="292608" cy="292608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4928616" y="4901184"/>
            <a:ext cx="1866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</a:t>
            </a:r>
            <a:endParaRPr lang="en-US" sz="1150" dirty="0"/>
          </a:p>
        </p:txBody>
      </p:sp>
      <p:sp>
        <p:nvSpPr>
          <p:cNvPr id="63" name="Text 51"/>
          <p:cNvSpPr/>
          <p:nvPr/>
        </p:nvSpPr>
        <p:spPr>
          <a:xfrm>
            <a:off x="4928616" y="5120640"/>
            <a:ext cx="1866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</a:t>
            </a:r>
            <a:endParaRPr lang="en-US" sz="900" dirty="0"/>
          </a:p>
        </p:txBody>
      </p:sp>
      <p:sp>
        <p:nvSpPr>
          <p:cNvPr id="64" name="Text 52"/>
          <p:cNvSpPr/>
          <p:nvPr/>
        </p:nvSpPr>
        <p:spPr>
          <a:xfrm>
            <a:off x="4526280" y="5367528"/>
            <a:ext cx="2268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on scope, budget, and Go-Live decision</a:t>
            </a:r>
            <a:endParaRPr lang="en-US" sz="95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6074" y="4946904"/>
            <a:ext cx="292608" cy="29260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7398410" y="4901184"/>
            <a:ext cx="1866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Committee</a:t>
            </a:r>
            <a:endParaRPr lang="en-US" sz="1150" dirty="0"/>
          </a:p>
        </p:txBody>
      </p:sp>
      <p:sp>
        <p:nvSpPr>
          <p:cNvPr id="67" name="Text 54"/>
          <p:cNvSpPr/>
          <p:nvPr/>
        </p:nvSpPr>
        <p:spPr>
          <a:xfrm>
            <a:off x="7398410" y="5120640"/>
            <a:ext cx="1866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 + Institute IT</a:t>
            </a:r>
            <a:endParaRPr lang="en-US" sz="900" dirty="0"/>
          </a:p>
        </p:txBody>
      </p:sp>
      <p:sp>
        <p:nvSpPr>
          <p:cNvPr id="68" name="Text 55"/>
          <p:cNvSpPr/>
          <p:nvPr/>
        </p:nvSpPr>
        <p:spPr>
          <a:xfrm>
            <a:off x="6996074" y="5367528"/>
            <a:ext cx="2268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governance; approves changes above ₹1,00,000 impact</a:t>
            </a:r>
            <a:endParaRPr lang="en-US" sz="950" dirty="0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5869" y="4946904"/>
            <a:ext cx="292608" cy="29260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9868205" y="4901184"/>
            <a:ext cx="18662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150" dirty="0"/>
          </a:p>
        </p:txBody>
      </p:sp>
      <p:sp>
        <p:nvSpPr>
          <p:cNvPr id="71" name="Text 57"/>
          <p:cNvSpPr/>
          <p:nvPr/>
        </p:nvSpPr>
        <p:spPr>
          <a:xfrm>
            <a:off x="9868205" y="5120640"/>
            <a:ext cx="18662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PM</a:t>
            </a:r>
            <a:endParaRPr lang="en-US" sz="900" dirty="0"/>
          </a:p>
        </p:txBody>
      </p:sp>
      <p:sp>
        <p:nvSpPr>
          <p:cNvPr id="72" name="Text 58"/>
          <p:cNvSpPr/>
          <p:nvPr/>
        </p:nvSpPr>
        <p:spPr>
          <a:xfrm>
            <a:off x="9465869" y="5367528"/>
            <a:ext cx="2268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scope, schedule, and resource decisions within charter bounds</a:t>
            </a:r>
            <a:endParaRPr lang="en-US" sz="950" dirty="0"/>
          </a:p>
        </p:txBody>
      </p:sp>
      <p:sp>
        <p:nvSpPr>
          <p:cNvPr id="73" name="Text 59"/>
          <p:cNvSpPr/>
          <p:nvPr/>
        </p:nvSpPr>
        <p:spPr>
          <a:xfrm>
            <a:off x="4526280" y="6473952"/>
            <a:ext cx="7208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Governance Document   |   This Charter formally authorizes the Project Manager to apply organizational resources, per PMBOK guidance.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575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220000"/>
            <a:ext cx="9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A62E"/>
                </a:solidFill>
                <a:latin typeface="Calibri"/>
              </a:rP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00" y="480000"/>
            <a:ext cx="11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Scope: In, Out &amp; Under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990000"/>
            <a:ext cx="1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Release 1.0 delivers 13 modules across 4 clusters — with a firm, change-controlled boundary.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148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E2761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83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Integrated modules,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250000"/>
            <a:ext cx="34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4272E"/>
                </a:solidFill>
                <a:latin typeface="Calibri"/>
              </a:rPr>
              <a:t>AI Intelligence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Resume analyzer, JD matching, ATS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2810000"/>
            <a:ext cx="34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4272E"/>
                </a:solidFill>
                <a:latin typeface="Calibri"/>
              </a:rPr>
              <a:t>Preparation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Company research, interview prep,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3370000"/>
            <a:ext cx="34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4272E"/>
                </a:solidFill>
                <a:latin typeface="Calibri"/>
              </a:rPr>
              <a:t>Student Management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Tracker, scheduler, prep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3930000"/>
            <a:ext cx="34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24272E"/>
                </a:solidFill>
                <a:latin typeface="Calibri"/>
              </a:rPr>
              <a:t>Placement Cell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Learning recs, analytics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0000" y="148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03A2E"/>
                </a:solidFill>
                <a:latin typeface="Calibri"/>
              </a:rPr>
              <a:t>OUT OF SCOPE  →  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000" y="185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24272E"/>
                </a:solidFill>
                <a:latin typeface="Calibri"/>
              </a:rPr>
              <a:t>•  Native mobile apps → 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23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24272E"/>
                </a:solidFill>
                <a:latin typeface="Calibri"/>
              </a:rPr>
              <a:t>•  Recruiter portal → post-legal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0000" y="261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24272E"/>
                </a:solidFill>
                <a:latin typeface="Calibri"/>
              </a:rPr>
              <a:t>•  Live human interviews → AI-simulated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0000" y="299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24272E"/>
                </a:solidFill>
                <a:latin typeface="Calibri"/>
              </a:rPr>
              <a:t>•  ERP/SIS integration → automated sync 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0" y="337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 i="0">
                <a:solidFill>
                  <a:srgbClr val="24272E"/>
                </a:solidFill>
                <a:latin typeface="Calibri"/>
              </a:rPr>
              <a:t>•  Multi-language → English only in v1.0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0000" y="3870000"/>
            <a:ext cx="3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1">
                <a:solidFill>
                  <a:srgbClr val="1E2761"/>
                </a:solidFill>
                <a:latin typeface="Calibri"/>
              </a:rPr>
              <a:t>Scope discipline: v1.0 = committed delivery. Future scope = roadmap, not hidden scope.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0000" y="1450000"/>
            <a:ext cx="3400000" cy="4600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0000" y="156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E2761"/>
                </a:solidFill>
                <a:latin typeface="Calibri"/>
              </a:rPr>
              <a:t>CHANGE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0000" y="19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6B7280"/>
                </a:solidFill>
                <a:latin typeface="Calibri"/>
              </a:rPr>
              <a:t>Any Future/Out-of-Scope pull-in becomes a formal Change Request.</a:t>
            </a:r>
          </a:p>
        </p:txBody>
      </p:sp>
      <p:sp>
        <p:nvSpPr>
          <p:cNvPr id="22" name="Oval 21"/>
          <p:cNvSpPr/>
          <p:nvPr/>
        </p:nvSpPr>
        <p:spPr>
          <a:xfrm>
            <a:off x="8520000" y="2600000"/>
            <a:ext cx="340000" cy="34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0000" y="2620000"/>
            <a:ext cx="2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4272E"/>
                </a:solidFill>
                <a:latin typeface="Calibri"/>
              </a:rPr>
              <a:t>Requested</a:t>
            </a:r>
          </a:p>
        </p:txBody>
      </p:sp>
      <p:sp>
        <p:nvSpPr>
          <p:cNvPr id="24" name="Oval 23"/>
          <p:cNvSpPr/>
          <p:nvPr/>
        </p:nvSpPr>
        <p:spPr>
          <a:xfrm>
            <a:off x="8520000" y="3030000"/>
            <a:ext cx="340000" cy="34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0000" y="3050000"/>
            <a:ext cx="2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4272E"/>
                </a:solidFill>
                <a:latin typeface="Calibri"/>
              </a:rPr>
              <a:t>Formal CR filed</a:t>
            </a:r>
          </a:p>
        </p:txBody>
      </p:sp>
      <p:sp>
        <p:nvSpPr>
          <p:cNvPr id="26" name="Oval 25"/>
          <p:cNvSpPr/>
          <p:nvPr/>
        </p:nvSpPr>
        <p:spPr>
          <a:xfrm>
            <a:off x="8520000" y="3460000"/>
            <a:ext cx="340000" cy="34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0000" y="3480000"/>
            <a:ext cx="2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4272E"/>
                </a:solidFill>
                <a:latin typeface="Calibri"/>
              </a:rPr>
              <a:t>Impact assessed (cost/schedule/AI path)</a:t>
            </a:r>
          </a:p>
        </p:txBody>
      </p:sp>
      <p:sp>
        <p:nvSpPr>
          <p:cNvPr id="28" name="Oval 27"/>
          <p:cNvSpPr/>
          <p:nvPr/>
        </p:nvSpPr>
        <p:spPr>
          <a:xfrm>
            <a:off x="8520000" y="3890000"/>
            <a:ext cx="340000" cy="34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40000" y="3910000"/>
            <a:ext cx="2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4272E"/>
                </a:solidFill>
                <a:latin typeface="Calibri"/>
              </a:rPr>
              <a:t>Steering Committee approves</a:t>
            </a:r>
          </a:p>
        </p:txBody>
      </p:sp>
      <p:sp>
        <p:nvSpPr>
          <p:cNvPr id="30" name="Oval 29"/>
          <p:cNvSpPr/>
          <p:nvPr/>
        </p:nvSpPr>
        <p:spPr>
          <a:xfrm>
            <a:off x="8520000" y="4320000"/>
            <a:ext cx="340000" cy="3400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0000" y="4340000"/>
            <a:ext cx="275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 i="0">
                <a:solidFill>
                  <a:srgbClr val="24272E"/>
                </a:solidFill>
                <a:latin typeface="Calibri"/>
              </a:rPr>
              <a:t>Implemented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0000" y="483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8 Months  ·  ₹58.40L  ·  Hybrid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220000"/>
            <a:ext cx="9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A62E"/>
                </a:solidFill>
                <a:latin typeface="Calibri"/>
              </a:rPr>
              <a:t>WORK BREAKDOWN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00" y="480000"/>
            <a:ext cx="11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 dirty="0">
                <a:solidFill>
                  <a:srgbClr val="1E2761"/>
                </a:solidFill>
                <a:latin typeface="Calibri"/>
              </a:rPr>
              <a:t>WBS: 10 Phases, 19 Activities, 3</a:t>
            </a:r>
            <a:r>
              <a:rPr lang="en-IN" sz="2400" b="1" i="0" dirty="0">
                <a:solidFill>
                  <a:srgbClr val="1E2761"/>
                </a:solidFill>
                <a:latin typeface="Calibri"/>
              </a:rPr>
              <a:t>1</a:t>
            </a:r>
            <a:r>
              <a:rPr sz="2400" b="1" i="0" dirty="0">
                <a:solidFill>
                  <a:srgbClr val="1E2761"/>
                </a:solidFill>
                <a:latin typeface="Calibri"/>
              </a:rPr>
              <a:t>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990000"/>
            <a:ext cx="1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Scope broken into manageable deliverables; every work package maps to one schedule Activity ID (A–S).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007510"/>
            <a:ext cx="11192000" cy="39929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0000" y="6528000"/>
            <a:ext cx="8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1">
                <a:solidFill>
                  <a:srgbClr val="6B7280"/>
                </a:solidFill>
                <a:latin typeface="Calibri"/>
              </a:rPr>
              <a:t>Full WBS-to-schedule activity mapping available in appendix.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220000"/>
            <a:ext cx="9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A62E"/>
                </a:solidFill>
                <a:latin typeface="Calibri"/>
              </a:rPr>
              <a:t>SCHEDULE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00" y="480000"/>
            <a:ext cx="11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Critical Path, Confidence &amp; Reality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990000"/>
            <a:ext cx="1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19 activities, finish-to-start — one shared bottleneck drives the whole schedule risk.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65" y="1218110"/>
            <a:ext cx="9604235" cy="44217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9999" y="5525264"/>
            <a:ext cx="37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dirty="0">
                <a:solidFill>
                  <a:srgbClr val="1E2761"/>
                </a:solidFill>
                <a:latin typeface="Calibri"/>
              </a:rPr>
              <a:t>Activity Network &amp; Critical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999" y="5905264"/>
            <a:ext cx="53006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 dirty="0">
                <a:solidFill>
                  <a:srgbClr val="6B7280"/>
                </a:solidFill>
                <a:latin typeface="Calibri"/>
              </a:rPr>
              <a:t>31 weeks, 14/19 activities zero-float — two paths converge at System Integration (O).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F688A2-7F15-06B3-B4B8-A0F149B8D9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4E85E-FA39-71C3-0FE9-1E56DE2F5389}"/>
              </a:ext>
            </a:extLst>
          </p:cNvPr>
          <p:cNvSpPr txBox="1"/>
          <p:nvPr/>
        </p:nvSpPr>
        <p:spPr>
          <a:xfrm>
            <a:off x="380000" y="150000"/>
            <a:ext cx="900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1050" b="1" i="0">
                <a:solidFill>
                  <a:srgbClr val="BF8F19"/>
                </a:solidFill>
                <a:latin typeface="Calibri"/>
              </a:rPr>
              <a:t>PROJECT SCHEDULE  ·  MICROSOFT PROJECT EXPORT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2C4F5-498A-EF0A-AED1-D268FD8C32C4}"/>
              </a:ext>
            </a:extLst>
          </p:cNvPr>
          <p:cNvSpPr txBox="1"/>
          <p:nvPr/>
        </p:nvSpPr>
        <p:spPr>
          <a:xfrm>
            <a:off x="360000" y="390000"/>
            <a:ext cx="9500000" cy="43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2100" b="1" i="0" dirty="0" err="1">
                <a:solidFill>
                  <a:srgbClr val="1F3864"/>
                </a:solidFill>
                <a:latin typeface="Calibri"/>
              </a:rPr>
              <a:t>CareerCompass</a:t>
            </a:r>
            <a:r>
              <a:rPr sz="2100" b="1" i="0" dirty="0">
                <a:solidFill>
                  <a:srgbClr val="1F3864"/>
                </a:solidFill>
                <a:latin typeface="Calibri"/>
              </a:rPr>
              <a:t> AI — Master Project Schedule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91AE1-EC06-15D7-1771-7360D3381DB0}"/>
              </a:ext>
            </a:extLst>
          </p:cNvPr>
          <p:cNvSpPr txBox="1"/>
          <p:nvPr/>
        </p:nvSpPr>
        <p:spPr>
          <a:xfrm>
            <a:off x="372380" y="869208"/>
            <a:ext cx="9500000" cy="16158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6B7280"/>
                </a:solidFill>
                <a:latin typeface="Calibri"/>
              </a:rPr>
              <a:t>19 tasks  ·  12 Aug 2026 – 03 Jun 2027  ·  ~</a:t>
            </a:r>
            <a:r>
              <a:rPr lang="en-IN" sz="1050" dirty="0">
                <a:solidFill>
                  <a:srgbClr val="6B7280"/>
                </a:solidFill>
                <a:latin typeface="Calibri"/>
              </a:rPr>
              <a:t>31</a:t>
            </a:r>
            <a:r>
              <a:rPr sz="1050" b="0" i="0" dirty="0">
                <a:solidFill>
                  <a:srgbClr val="6B7280"/>
                </a:solidFill>
                <a:latin typeface="Calibri"/>
              </a:rPr>
              <a:t> weeks  ·  Critical path shown in 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B797C-6318-9181-0E3A-86EFCF8CDDF0}"/>
              </a:ext>
            </a:extLst>
          </p:cNvPr>
          <p:cNvSpPr/>
          <p:nvPr/>
        </p:nvSpPr>
        <p:spPr>
          <a:xfrm>
            <a:off x="0" y="1180000"/>
            <a:ext cx="5500000" cy="2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AC62E-3288-DE7B-6891-38808A4EEB36}"/>
              </a:ext>
            </a:extLst>
          </p:cNvPr>
          <p:cNvSpPr txBox="1"/>
          <p:nvPr/>
        </p:nvSpPr>
        <p:spPr>
          <a:xfrm>
            <a:off x="240000" y="1180000"/>
            <a:ext cx="22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744B8-2BDA-A74D-588F-F887B1FB7249}"/>
              </a:ext>
            </a:extLst>
          </p:cNvPr>
          <p:cNvSpPr txBox="1"/>
          <p:nvPr/>
        </p:nvSpPr>
        <p:spPr>
          <a:xfrm>
            <a:off x="500000" y="1180000"/>
            <a:ext cx="261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Task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D3F75-A05A-CC74-8C2A-115C4E0B6191}"/>
              </a:ext>
            </a:extLst>
          </p:cNvPr>
          <p:cNvSpPr txBox="1"/>
          <p:nvPr/>
        </p:nvSpPr>
        <p:spPr>
          <a:xfrm>
            <a:off x="3150000" y="1180000"/>
            <a:ext cx="61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Dur.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422A7A-7816-39FB-3C23-34721A92BE9D}"/>
              </a:ext>
            </a:extLst>
          </p:cNvPr>
          <p:cNvSpPr txBox="1"/>
          <p:nvPr/>
        </p:nvSpPr>
        <p:spPr>
          <a:xfrm>
            <a:off x="3800000" y="1180000"/>
            <a:ext cx="62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69CD2-4C46-BFAA-BD32-3E07A3959094}"/>
              </a:ext>
            </a:extLst>
          </p:cNvPr>
          <p:cNvSpPr txBox="1"/>
          <p:nvPr/>
        </p:nvSpPr>
        <p:spPr>
          <a:xfrm>
            <a:off x="4460000" y="1180000"/>
            <a:ext cx="62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Finish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E7FDF-D05E-360F-93AE-EDEED92F47E7}"/>
              </a:ext>
            </a:extLst>
          </p:cNvPr>
          <p:cNvSpPr txBox="1"/>
          <p:nvPr/>
        </p:nvSpPr>
        <p:spPr>
          <a:xfrm>
            <a:off x="5120000" y="1180000"/>
            <a:ext cx="3800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DCFB7E-78D5-E0AA-A5D4-0DA5D921E505}"/>
              </a:ext>
            </a:extLst>
          </p:cNvPr>
          <p:cNvSpPr/>
          <p:nvPr/>
        </p:nvSpPr>
        <p:spPr>
          <a:xfrm>
            <a:off x="5540000" y="1180000"/>
            <a:ext cx="6432000" cy="260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81A3EE-CA40-7060-023A-4D5C05EFFBE2}"/>
              </a:ext>
            </a:extLst>
          </p:cNvPr>
          <p:cNvSpPr txBox="1"/>
          <p:nvPr/>
        </p:nvSpPr>
        <p:spPr>
          <a:xfrm>
            <a:off x="5320954" y="1180000"/>
            <a:ext cx="617312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FFFFFF"/>
                </a:solidFill>
                <a:latin typeface="Calibri"/>
              </a:rPr>
              <a:t>Aug'26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19DC61-B4CB-8D7E-ABB6-F8D436BAAA53}"/>
              </a:ext>
            </a:extLst>
          </p:cNvPr>
          <p:cNvSpPr txBox="1"/>
          <p:nvPr/>
        </p:nvSpPr>
        <p:spPr>
          <a:xfrm>
            <a:off x="5938266" y="1180000"/>
            <a:ext cx="597399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Sep'26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7FD37B-D359-B0A8-36C6-D05783056B89}"/>
              </a:ext>
            </a:extLst>
          </p:cNvPr>
          <p:cNvSpPr/>
          <p:nvPr/>
        </p:nvSpPr>
        <p:spPr>
          <a:xfrm>
            <a:off x="5938266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5DAD27-C64D-1B0B-FEB4-A6BBD7978BB4}"/>
              </a:ext>
            </a:extLst>
          </p:cNvPr>
          <p:cNvSpPr txBox="1"/>
          <p:nvPr/>
        </p:nvSpPr>
        <p:spPr>
          <a:xfrm>
            <a:off x="6535665" y="1180000"/>
            <a:ext cx="617313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Oct'26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C45866-6E6A-ABF1-529B-71163AC91A38}"/>
              </a:ext>
            </a:extLst>
          </p:cNvPr>
          <p:cNvSpPr/>
          <p:nvPr/>
        </p:nvSpPr>
        <p:spPr>
          <a:xfrm>
            <a:off x="6535665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E62236-654E-FDEB-657C-420EDCAFAC67}"/>
              </a:ext>
            </a:extLst>
          </p:cNvPr>
          <p:cNvSpPr txBox="1"/>
          <p:nvPr/>
        </p:nvSpPr>
        <p:spPr>
          <a:xfrm>
            <a:off x="7152978" y="1180000"/>
            <a:ext cx="597399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Nov'26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40BF5C-ACE4-48A3-CD6D-55A31E55DE7A}"/>
              </a:ext>
            </a:extLst>
          </p:cNvPr>
          <p:cNvSpPr/>
          <p:nvPr/>
        </p:nvSpPr>
        <p:spPr>
          <a:xfrm>
            <a:off x="7152978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198F7E-73F0-3DF4-9B01-71D9C6DCBBB7}"/>
              </a:ext>
            </a:extLst>
          </p:cNvPr>
          <p:cNvSpPr txBox="1"/>
          <p:nvPr/>
        </p:nvSpPr>
        <p:spPr>
          <a:xfrm>
            <a:off x="7750377" y="1180000"/>
            <a:ext cx="617313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Dec'26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630F1D-67E6-8F03-400E-299A3A5C6E01}"/>
              </a:ext>
            </a:extLst>
          </p:cNvPr>
          <p:cNvSpPr/>
          <p:nvPr/>
        </p:nvSpPr>
        <p:spPr>
          <a:xfrm>
            <a:off x="7750377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490F64-2F32-E4F0-DA23-504465B09065}"/>
              </a:ext>
            </a:extLst>
          </p:cNvPr>
          <p:cNvSpPr txBox="1"/>
          <p:nvPr/>
        </p:nvSpPr>
        <p:spPr>
          <a:xfrm>
            <a:off x="8367690" y="1180000"/>
            <a:ext cx="617313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Jan'27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DEDE0E-27F9-96F5-C730-F21504168D49}"/>
              </a:ext>
            </a:extLst>
          </p:cNvPr>
          <p:cNvSpPr/>
          <p:nvPr/>
        </p:nvSpPr>
        <p:spPr>
          <a:xfrm>
            <a:off x="8367690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085B36-4AC2-29D3-6EA9-AA8E7B2F2A3C}"/>
              </a:ext>
            </a:extLst>
          </p:cNvPr>
          <p:cNvSpPr txBox="1"/>
          <p:nvPr/>
        </p:nvSpPr>
        <p:spPr>
          <a:xfrm>
            <a:off x="8985003" y="1180000"/>
            <a:ext cx="557572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Feb'27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069B73-DB94-6C2D-8040-31FB9AFAC526}"/>
              </a:ext>
            </a:extLst>
          </p:cNvPr>
          <p:cNvSpPr/>
          <p:nvPr/>
        </p:nvSpPr>
        <p:spPr>
          <a:xfrm>
            <a:off x="8985003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B3BC25-CBC6-4BBD-5A96-94D4952CAEB3}"/>
              </a:ext>
            </a:extLst>
          </p:cNvPr>
          <p:cNvSpPr txBox="1"/>
          <p:nvPr/>
        </p:nvSpPr>
        <p:spPr>
          <a:xfrm>
            <a:off x="9542575" y="1180000"/>
            <a:ext cx="617313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Mar'27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A6DD7B-BC0C-0A2D-D626-02C2DCBBB085}"/>
              </a:ext>
            </a:extLst>
          </p:cNvPr>
          <p:cNvSpPr/>
          <p:nvPr/>
        </p:nvSpPr>
        <p:spPr>
          <a:xfrm>
            <a:off x="9542575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169F9-8B2D-ED79-0192-B2C99CF88BFF}"/>
              </a:ext>
            </a:extLst>
          </p:cNvPr>
          <p:cNvSpPr txBox="1"/>
          <p:nvPr/>
        </p:nvSpPr>
        <p:spPr>
          <a:xfrm>
            <a:off x="10159888" y="1180000"/>
            <a:ext cx="597399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Apr'27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596131-926C-428C-7E85-755D202DF9D4}"/>
              </a:ext>
            </a:extLst>
          </p:cNvPr>
          <p:cNvSpPr/>
          <p:nvPr/>
        </p:nvSpPr>
        <p:spPr>
          <a:xfrm>
            <a:off x="10159888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0D22AE-6AF7-A16D-AE57-770A9697E14A}"/>
              </a:ext>
            </a:extLst>
          </p:cNvPr>
          <p:cNvSpPr txBox="1"/>
          <p:nvPr/>
        </p:nvSpPr>
        <p:spPr>
          <a:xfrm>
            <a:off x="10757287" y="1180000"/>
            <a:ext cx="617313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May'27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2000FE-7A06-1DCC-7434-99343712ACAA}"/>
              </a:ext>
            </a:extLst>
          </p:cNvPr>
          <p:cNvSpPr/>
          <p:nvPr/>
        </p:nvSpPr>
        <p:spPr>
          <a:xfrm>
            <a:off x="10757287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5A9978-F8FA-1D81-F937-4A88BE75900E}"/>
              </a:ext>
            </a:extLst>
          </p:cNvPr>
          <p:cNvSpPr txBox="1"/>
          <p:nvPr/>
        </p:nvSpPr>
        <p:spPr>
          <a:xfrm>
            <a:off x="11374600" y="1180000"/>
            <a:ext cx="597400" cy="26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1" i="0">
                <a:solidFill>
                  <a:srgbClr val="FFFFFF"/>
                </a:solidFill>
                <a:latin typeface="Calibri"/>
              </a:rPr>
              <a:t>Jun'27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B0D1B4-C680-C46F-9553-F0DE4DC683BC}"/>
              </a:ext>
            </a:extLst>
          </p:cNvPr>
          <p:cNvSpPr/>
          <p:nvPr/>
        </p:nvSpPr>
        <p:spPr>
          <a:xfrm>
            <a:off x="11374600" y="1440000"/>
            <a:ext cx="9525" cy="5158000"/>
          </a:xfrm>
          <a:prstGeom prst="rect">
            <a:avLst/>
          </a:prstGeom>
          <a:solidFill>
            <a:srgbClr val="D9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808580-7845-BD41-D898-C82ED6FF8973}"/>
              </a:ext>
            </a:extLst>
          </p:cNvPr>
          <p:cNvSpPr/>
          <p:nvPr/>
        </p:nvSpPr>
        <p:spPr>
          <a:xfrm>
            <a:off x="0" y="1440000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F33928-213D-9874-B321-425F8E5B20BC}"/>
              </a:ext>
            </a:extLst>
          </p:cNvPr>
          <p:cNvSpPr/>
          <p:nvPr/>
        </p:nvSpPr>
        <p:spPr>
          <a:xfrm>
            <a:off x="5540000" y="1440000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D1F35F-5D46-6B47-F327-8547D4015E62}"/>
              </a:ext>
            </a:extLst>
          </p:cNvPr>
          <p:cNvSpPr txBox="1"/>
          <p:nvPr/>
        </p:nvSpPr>
        <p:spPr>
          <a:xfrm>
            <a:off x="200000" y="1440000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EE77E2-E137-C72B-7592-F560608CC1E0}"/>
              </a:ext>
            </a:extLst>
          </p:cNvPr>
          <p:cNvSpPr txBox="1"/>
          <p:nvPr/>
        </p:nvSpPr>
        <p:spPr>
          <a:xfrm>
            <a:off x="510000" y="1440000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Charter &amp; Kick Off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26C2F4-9AAA-E2D3-D930-9E6CD012F077}"/>
              </a:ext>
            </a:extLst>
          </p:cNvPr>
          <p:cNvSpPr txBox="1"/>
          <p:nvPr/>
        </p:nvSpPr>
        <p:spPr>
          <a:xfrm>
            <a:off x="3110000" y="1440000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7 days?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CE628F-6441-5C55-1CED-BE4D6AB19C91}"/>
              </a:ext>
            </a:extLst>
          </p:cNvPr>
          <p:cNvSpPr txBox="1"/>
          <p:nvPr/>
        </p:nvSpPr>
        <p:spPr>
          <a:xfrm>
            <a:off x="3760000" y="1440000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12/08/26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9CAECC-0661-5FED-98D8-A3B00C5E8360}"/>
              </a:ext>
            </a:extLst>
          </p:cNvPr>
          <p:cNvSpPr txBox="1"/>
          <p:nvPr/>
        </p:nvSpPr>
        <p:spPr>
          <a:xfrm>
            <a:off x="4420000" y="1440000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 dirty="0">
                <a:solidFill>
                  <a:srgbClr val="6B7280"/>
                </a:solidFill>
                <a:latin typeface="Calibri"/>
              </a:rPr>
              <a:t>20/08/26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022B2A-FBD5-D5FC-44B4-B955474B76E9}"/>
              </a:ext>
            </a:extLst>
          </p:cNvPr>
          <p:cNvSpPr txBox="1"/>
          <p:nvPr/>
        </p:nvSpPr>
        <p:spPr>
          <a:xfrm>
            <a:off x="5080000" y="1440000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F8059F-A888-CD61-F89C-94EBAD1360EF}"/>
              </a:ext>
            </a:extLst>
          </p:cNvPr>
          <p:cNvSpPr/>
          <p:nvPr/>
        </p:nvSpPr>
        <p:spPr>
          <a:xfrm>
            <a:off x="5540000" y="1505154"/>
            <a:ext cx="15930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3DBB8D-3295-330D-0FB2-F1030E871FEB}"/>
              </a:ext>
            </a:extLst>
          </p:cNvPr>
          <p:cNvSpPr txBox="1"/>
          <p:nvPr/>
        </p:nvSpPr>
        <p:spPr>
          <a:xfrm>
            <a:off x="5739306" y="1440000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7d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DA0BCC2-85BA-3A86-534D-E4D21E4BF7F4}"/>
              </a:ext>
            </a:extLst>
          </p:cNvPr>
          <p:cNvSpPr/>
          <p:nvPr/>
        </p:nvSpPr>
        <p:spPr>
          <a:xfrm>
            <a:off x="0" y="1711473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4F59D3-08F5-36C1-F6DD-3867721084F7}"/>
              </a:ext>
            </a:extLst>
          </p:cNvPr>
          <p:cNvSpPr/>
          <p:nvPr/>
        </p:nvSpPr>
        <p:spPr>
          <a:xfrm>
            <a:off x="5540000" y="1711473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3F22A1-BC75-FB50-4E5B-1B2D24EADDB3}"/>
              </a:ext>
            </a:extLst>
          </p:cNvPr>
          <p:cNvSpPr txBox="1"/>
          <p:nvPr/>
        </p:nvSpPr>
        <p:spPr>
          <a:xfrm>
            <a:off x="200000" y="1711473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8E212D-C7A4-5098-EC41-32E0A1632636}"/>
              </a:ext>
            </a:extLst>
          </p:cNvPr>
          <p:cNvSpPr txBox="1"/>
          <p:nvPr/>
        </p:nvSpPr>
        <p:spPr>
          <a:xfrm>
            <a:off x="510000" y="1711473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Stakeholder Analysis &amp; Planning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F430B5-44DB-745E-FAE2-159F7A9983DB}"/>
              </a:ext>
            </a:extLst>
          </p:cNvPr>
          <p:cNvSpPr txBox="1"/>
          <p:nvPr/>
        </p:nvSpPr>
        <p:spPr>
          <a:xfrm>
            <a:off x="3110000" y="1711473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8.75 days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F677BE-7B8B-6A6C-D225-F6A2980F88A0}"/>
              </a:ext>
            </a:extLst>
          </p:cNvPr>
          <p:cNvSpPr txBox="1"/>
          <p:nvPr/>
        </p:nvSpPr>
        <p:spPr>
          <a:xfrm>
            <a:off x="3760000" y="1711473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21/08/26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6BFC89-A747-40D2-4863-10C0FA56721F}"/>
              </a:ext>
            </a:extLst>
          </p:cNvPr>
          <p:cNvSpPr txBox="1"/>
          <p:nvPr/>
        </p:nvSpPr>
        <p:spPr>
          <a:xfrm>
            <a:off x="4420000" y="1711473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02/09/26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4C7845-CE21-AA65-7913-0249C03D1751}"/>
              </a:ext>
            </a:extLst>
          </p:cNvPr>
          <p:cNvSpPr txBox="1"/>
          <p:nvPr/>
        </p:nvSpPr>
        <p:spPr>
          <a:xfrm>
            <a:off x="5080000" y="1711473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092EA6D-95E2-E9DE-985B-E37C54FC5004}"/>
              </a:ext>
            </a:extLst>
          </p:cNvPr>
          <p:cNvSpPr/>
          <p:nvPr/>
        </p:nvSpPr>
        <p:spPr>
          <a:xfrm>
            <a:off x="5719219" y="1776627"/>
            <a:ext cx="238959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1F9C01-86C1-D891-16B8-6A08675DF755}"/>
              </a:ext>
            </a:extLst>
          </p:cNvPr>
          <p:cNvSpPr txBox="1"/>
          <p:nvPr/>
        </p:nvSpPr>
        <p:spPr>
          <a:xfrm>
            <a:off x="5998178" y="1711473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8.75d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C0E4333-F33C-2EDC-4552-97174B9A1C13}"/>
              </a:ext>
            </a:extLst>
          </p:cNvPr>
          <p:cNvSpPr/>
          <p:nvPr/>
        </p:nvSpPr>
        <p:spPr>
          <a:xfrm>
            <a:off x="0" y="1982946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0018D74-C986-0674-AD49-9F9FE6394D6F}"/>
              </a:ext>
            </a:extLst>
          </p:cNvPr>
          <p:cNvSpPr/>
          <p:nvPr/>
        </p:nvSpPr>
        <p:spPr>
          <a:xfrm>
            <a:off x="5540000" y="1982946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E589D8-995B-054F-063C-7F8D720094AF}"/>
              </a:ext>
            </a:extLst>
          </p:cNvPr>
          <p:cNvSpPr txBox="1"/>
          <p:nvPr/>
        </p:nvSpPr>
        <p:spPr>
          <a:xfrm>
            <a:off x="200000" y="1982946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171885-3B9C-CDFA-BE3B-CA10EB34CB30}"/>
              </a:ext>
            </a:extLst>
          </p:cNvPr>
          <p:cNvSpPr txBox="1"/>
          <p:nvPr/>
        </p:nvSpPr>
        <p:spPr>
          <a:xfrm>
            <a:off x="510000" y="1982946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Requirement Gathering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3A74512-A720-E133-754D-DE39565DBCE1}"/>
              </a:ext>
            </a:extLst>
          </p:cNvPr>
          <p:cNvSpPr txBox="1"/>
          <p:nvPr/>
        </p:nvSpPr>
        <p:spPr>
          <a:xfrm>
            <a:off x="3110000" y="1982946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 days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BC4035-11F7-6CE9-4609-5253658F9085}"/>
              </a:ext>
            </a:extLst>
          </p:cNvPr>
          <p:cNvSpPr txBox="1"/>
          <p:nvPr/>
        </p:nvSpPr>
        <p:spPr>
          <a:xfrm>
            <a:off x="3760000" y="1982946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02/09/26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0AAD9C0-3945-5664-BBE8-E97D72129BA2}"/>
              </a:ext>
            </a:extLst>
          </p:cNvPr>
          <p:cNvSpPr txBox="1"/>
          <p:nvPr/>
        </p:nvSpPr>
        <p:spPr>
          <a:xfrm>
            <a:off x="4420000" y="1982946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01/10/26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B396ED-8B5D-D09A-4C73-DA5021ECB2AD}"/>
              </a:ext>
            </a:extLst>
          </p:cNvPr>
          <p:cNvSpPr txBox="1"/>
          <p:nvPr/>
        </p:nvSpPr>
        <p:spPr>
          <a:xfrm>
            <a:off x="5080000" y="1982946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A8D4AE5-FDF0-8417-1E57-7546E891DAEA}"/>
              </a:ext>
            </a:extLst>
          </p:cNvPr>
          <p:cNvSpPr/>
          <p:nvPr/>
        </p:nvSpPr>
        <p:spPr>
          <a:xfrm>
            <a:off x="5958179" y="2048100"/>
            <a:ext cx="57748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50AC31-1BBF-1316-B0BA-40A9DF6F4B55}"/>
              </a:ext>
            </a:extLst>
          </p:cNvPr>
          <p:cNvSpPr txBox="1"/>
          <p:nvPr/>
        </p:nvSpPr>
        <p:spPr>
          <a:xfrm>
            <a:off x="6575665" y="1982946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21d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97678C5-0624-5012-0BB3-0B5024B7E851}"/>
              </a:ext>
            </a:extLst>
          </p:cNvPr>
          <p:cNvSpPr/>
          <p:nvPr/>
        </p:nvSpPr>
        <p:spPr>
          <a:xfrm>
            <a:off x="0" y="2254419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46FEB3-BDB5-4DAD-6D7D-B014164480C4}"/>
              </a:ext>
            </a:extLst>
          </p:cNvPr>
          <p:cNvSpPr/>
          <p:nvPr/>
        </p:nvSpPr>
        <p:spPr>
          <a:xfrm>
            <a:off x="5540000" y="2254419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0491EB-CC3C-6A0C-467A-B26B67A040CC}"/>
              </a:ext>
            </a:extLst>
          </p:cNvPr>
          <p:cNvSpPr txBox="1"/>
          <p:nvPr/>
        </p:nvSpPr>
        <p:spPr>
          <a:xfrm>
            <a:off x="200000" y="2254419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2C0646-587B-69C3-BA34-C2AD355954A3}"/>
              </a:ext>
            </a:extLst>
          </p:cNvPr>
          <p:cNvSpPr txBox="1"/>
          <p:nvPr/>
        </p:nvSpPr>
        <p:spPr>
          <a:xfrm>
            <a:off x="510000" y="2254419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Architecture &amp; Tech Stack Finalization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F1E4B7A-254C-88A6-6321-65906DCA4FCA}"/>
              </a:ext>
            </a:extLst>
          </p:cNvPr>
          <p:cNvSpPr txBox="1"/>
          <p:nvPr/>
        </p:nvSpPr>
        <p:spPr>
          <a:xfrm>
            <a:off x="3110000" y="2254419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BCBBD2-18B5-C104-77E4-128E827EF73A}"/>
              </a:ext>
            </a:extLst>
          </p:cNvPr>
          <p:cNvSpPr txBox="1"/>
          <p:nvPr/>
        </p:nvSpPr>
        <p:spPr>
          <a:xfrm>
            <a:off x="3760000" y="2254419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01/10/26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F0D1321-0D28-07EB-90EF-8282F334C25B}"/>
              </a:ext>
            </a:extLst>
          </p:cNvPr>
          <p:cNvSpPr txBox="1"/>
          <p:nvPr/>
        </p:nvSpPr>
        <p:spPr>
          <a:xfrm>
            <a:off x="4420000" y="2254419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21/10/26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B15C65-BAD6-B183-CFD0-F83807C553F9}"/>
              </a:ext>
            </a:extLst>
          </p:cNvPr>
          <p:cNvSpPr txBox="1"/>
          <p:nvPr/>
        </p:nvSpPr>
        <p:spPr>
          <a:xfrm>
            <a:off x="5080000" y="2254419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7C2BF48-D157-69FE-574B-B9CD3B1D3ECF}"/>
              </a:ext>
            </a:extLst>
          </p:cNvPr>
          <p:cNvSpPr/>
          <p:nvPr/>
        </p:nvSpPr>
        <p:spPr>
          <a:xfrm>
            <a:off x="6535665" y="2319573"/>
            <a:ext cx="398266" cy="141165"/>
          </a:xfrm>
          <a:prstGeom prst="rect">
            <a:avLst/>
          </a:prstGeom>
          <a:solidFill>
            <a:srgbClr val="356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36DF98-98BB-AF66-00A1-31998F7EFA96}"/>
              </a:ext>
            </a:extLst>
          </p:cNvPr>
          <p:cNvSpPr txBox="1"/>
          <p:nvPr/>
        </p:nvSpPr>
        <p:spPr>
          <a:xfrm>
            <a:off x="6973931" y="2254419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8AC5382-953E-F4AA-966F-A0B140A818E5}"/>
              </a:ext>
            </a:extLst>
          </p:cNvPr>
          <p:cNvSpPr/>
          <p:nvPr/>
        </p:nvSpPr>
        <p:spPr>
          <a:xfrm>
            <a:off x="0" y="2525892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81F568E-FF79-4474-30DB-4150F77E17B2}"/>
              </a:ext>
            </a:extLst>
          </p:cNvPr>
          <p:cNvSpPr/>
          <p:nvPr/>
        </p:nvSpPr>
        <p:spPr>
          <a:xfrm>
            <a:off x="5540000" y="2525892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BAF389F-0892-4377-5A2F-3D3A18A4AA6E}"/>
              </a:ext>
            </a:extLst>
          </p:cNvPr>
          <p:cNvSpPr txBox="1"/>
          <p:nvPr/>
        </p:nvSpPr>
        <p:spPr>
          <a:xfrm>
            <a:off x="200000" y="2525892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5C4230-F535-FBF3-EA68-56CE6E7E602B}"/>
              </a:ext>
            </a:extLst>
          </p:cNvPr>
          <p:cNvSpPr txBox="1"/>
          <p:nvPr/>
        </p:nvSpPr>
        <p:spPr>
          <a:xfrm>
            <a:off x="510000" y="2525892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UX Wireframing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38B125-B66E-292F-1AEF-57BDB13C47A2}"/>
              </a:ext>
            </a:extLst>
          </p:cNvPr>
          <p:cNvSpPr txBox="1"/>
          <p:nvPr/>
        </p:nvSpPr>
        <p:spPr>
          <a:xfrm>
            <a:off x="3110000" y="2525892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BEC267F-4BB0-A840-3D00-EAB231E9A84F}"/>
              </a:ext>
            </a:extLst>
          </p:cNvPr>
          <p:cNvSpPr txBox="1"/>
          <p:nvPr/>
        </p:nvSpPr>
        <p:spPr>
          <a:xfrm>
            <a:off x="3760000" y="2525892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01/10/26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D1A161-A29B-4D31-0D7F-A35B8F0E7992}"/>
              </a:ext>
            </a:extLst>
          </p:cNvPr>
          <p:cNvSpPr txBox="1"/>
          <p:nvPr/>
        </p:nvSpPr>
        <p:spPr>
          <a:xfrm>
            <a:off x="4420000" y="2525892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21/10/26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919A78-D943-E834-0606-598F2D8659DC}"/>
              </a:ext>
            </a:extLst>
          </p:cNvPr>
          <p:cNvSpPr txBox="1"/>
          <p:nvPr/>
        </p:nvSpPr>
        <p:spPr>
          <a:xfrm>
            <a:off x="5080000" y="2525892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CCEAD0-47AA-F985-426A-C5EA5D1EB501}"/>
              </a:ext>
            </a:extLst>
          </p:cNvPr>
          <p:cNvSpPr/>
          <p:nvPr/>
        </p:nvSpPr>
        <p:spPr>
          <a:xfrm>
            <a:off x="6535665" y="2591046"/>
            <a:ext cx="39826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D20F28-4630-A486-1EEE-CC957E25D072}"/>
              </a:ext>
            </a:extLst>
          </p:cNvPr>
          <p:cNvSpPr txBox="1"/>
          <p:nvPr/>
        </p:nvSpPr>
        <p:spPr>
          <a:xfrm>
            <a:off x="6973931" y="2525892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BD21728-3F18-9D56-A3DE-61CD89D98A54}"/>
              </a:ext>
            </a:extLst>
          </p:cNvPr>
          <p:cNvSpPr/>
          <p:nvPr/>
        </p:nvSpPr>
        <p:spPr>
          <a:xfrm>
            <a:off x="0" y="2797365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08B0675-B9BD-ED42-1ED8-23F7736EC6E7}"/>
              </a:ext>
            </a:extLst>
          </p:cNvPr>
          <p:cNvSpPr/>
          <p:nvPr/>
        </p:nvSpPr>
        <p:spPr>
          <a:xfrm>
            <a:off x="5540000" y="2797365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33E7D69-BB9F-D1F3-67D0-EF7C684DC809}"/>
              </a:ext>
            </a:extLst>
          </p:cNvPr>
          <p:cNvSpPr txBox="1"/>
          <p:nvPr/>
        </p:nvSpPr>
        <p:spPr>
          <a:xfrm>
            <a:off x="200000" y="2797365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76E5801-98AB-9CFB-04E5-8669DC268776}"/>
              </a:ext>
            </a:extLst>
          </p:cNvPr>
          <p:cNvSpPr txBox="1"/>
          <p:nvPr/>
        </p:nvSpPr>
        <p:spPr>
          <a:xfrm>
            <a:off x="510000" y="2797365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Hi-Fi UI Design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AA9CC33-37C5-A8A4-2188-674495A86F86}"/>
              </a:ext>
            </a:extLst>
          </p:cNvPr>
          <p:cNvSpPr txBox="1"/>
          <p:nvPr/>
        </p:nvSpPr>
        <p:spPr>
          <a:xfrm>
            <a:off x="3110000" y="2797365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F3EEB6C-4B4B-32CE-1126-AD8865507A33}"/>
              </a:ext>
            </a:extLst>
          </p:cNvPr>
          <p:cNvSpPr txBox="1"/>
          <p:nvPr/>
        </p:nvSpPr>
        <p:spPr>
          <a:xfrm>
            <a:off x="3760000" y="2797365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21/10/26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A8FF71F-B62C-9702-9DB2-76B130921CDB}"/>
              </a:ext>
            </a:extLst>
          </p:cNvPr>
          <p:cNvSpPr txBox="1"/>
          <p:nvPr/>
        </p:nvSpPr>
        <p:spPr>
          <a:xfrm>
            <a:off x="4420000" y="2797365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10/11/26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8625D7-09C9-95FA-57E7-9DC8D0063A01}"/>
              </a:ext>
            </a:extLst>
          </p:cNvPr>
          <p:cNvSpPr txBox="1"/>
          <p:nvPr/>
        </p:nvSpPr>
        <p:spPr>
          <a:xfrm>
            <a:off x="5080000" y="2797365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E85ADD8-7A7D-E890-56FF-22D022C56D6D}"/>
              </a:ext>
            </a:extLst>
          </p:cNvPr>
          <p:cNvSpPr/>
          <p:nvPr/>
        </p:nvSpPr>
        <p:spPr>
          <a:xfrm>
            <a:off x="6933931" y="2862519"/>
            <a:ext cx="39826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C5FA29B-02A7-08A4-DF30-894111A350B9}"/>
              </a:ext>
            </a:extLst>
          </p:cNvPr>
          <p:cNvSpPr txBox="1"/>
          <p:nvPr/>
        </p:nvSpPr>
        <p:spPr>
          <a:xfrm>
            <a:off x="7372197" y="2797365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CF9D459-703E-C7CF-B384-AA5F11D1DA31}"/>
              </a:ext>
            </a:extLst>
          </p:cNvPr>
          <p:cNvSpPr/>
          <p:nvPr/>
        </p:nvSpPr>
        <p:spPr>
          <a:xfrm>
            <a:off x="0" y="3068838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812282A-CA3D-498A-43D0-CDB0F58F131E}"/>
              </a:ext>
            </a:extLst>
          </p:cNvPr>
          <p:cNvSpPr/>
          <p:nvPr/>
        </p:nvSpPr>
        <p:spPr>
          <a:xfrm>
            <a:off x="5540000" y="3068838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682CD25-AEA4-508A-70F9-F94A294EC7D2}"/>
              </a:ext>
            </a:extLst>
          </p:cNvPr>
          <p:cNvSpPr txBox="1"/>
          <p:nvPr/>
        </p:nvSpPr>
        <p:spPr>
          <a:xfrm>
            <a:off x="200000" y="3068838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7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C87EA07-BD18-ABB2-B659-B279BE270C34}"/>
              </a:ext>
            </a:extLst>
          </p:cNvPr>
          <p:cNvSpPr txBox="1"/>
          <p:nvPr/>
        </p:nvSpPr>
        <p:spPr>
          <a:xfrm>
            <a:off x="510000" y="3068838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Backend Core Setup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021D318-BC52-F37B-0CCF-C748BD4DBC93}"/>
              </a:ext>
            </a:extLst>
          </p:cNvPr>
          <p:cNvSpPr txBox="1"/>
          <p:nvPr/>
        </p:nvSpPr>
        <p:spPr>
          <a:xfrm>
            <a:off x="3110000" y="3068838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 days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1F222D3-179C-DAE0-E88C-32920EE83965}"/>
              </a:ext>
            </a:extLst>
          </p:cNvPr>
          <p:cNvSpPr txBox="1"/>
          <p:nvPr/>
        </p:nvSpPr>
        <p:spPr>
          <a:xfrm>
            <a:off x="3760000" y="3068838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21/10/26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7E60C72-D4C6-C91B-FC91-F1890DBBD60E}"/>
              </a:ext>
            </a:extLst>
          </p:cNvPr>
          <p:cNvSpPr txBox="1"/>
          <p:nvPr/>
        </p:nvSpPr>
        <p:spPr>
          <a:xfrm>
            <a:off x="4420000" y="3068838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19/11/26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9C8964E-2E94-FD17-A3D6-E283523A65A6}"/>
              </a:ext>
            </a:extLst>
          </p:cNvPr>
          <p:cNvSpPr txBox="1"/>
          <p:nvPr/>
        </p:nvSpPr>
        <p:spPr>
          <a:xfrm>
            <a:off x="5080000" y="3068838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77403171-9D08-5427-4414-E4CEB00926DC}"/>
              </a:ext>
            </a:extLst>
          </p:cNvPr>
          <p:cNvSpPr/>
          <p:nvPr/>
        </p:nvSpPr>
        <p:spPr>
          <a:xfrm>
            <a:off x="6933931" y="3133992"/>
            <a:ext cx="577486" cy="141165"/>
          </a:xfrm>
          <a:prstGeom prst="rect">
            <a:avLst/>
          </a:prstGeom>
          <a:solidFill>
            <a:srgbClr val="356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0DD3792-D6F8-3DDE-E170-A3CDE11A2D17}"/>
              </a:ext>
            </a:extLst>
          </p:cNvPr>
          <p:cNvSpPr txBox="1"/>
          <p:nvPr/>
        </p:nvSpPr>
        <p:spPr>
          <a:xfrm>
            <a:off x="7551417" y="3068838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21d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DB49DFB-A01C-0734-5688-B4ECFE5D1492}"/>
              </a:ext>
            </a:extLst>
          </p:cNvPr>
          <p:cNvSpPr/>
          <p:nvPr/>
        </p:nvSpPr>
        <p:spPr>
          <a:xfrm>
            <a:off x="0" y="3340311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231E1F6-A150-3855-9632-413BD370740D}"/>
              </a:ext>
            </a:extLst>
          </p:cNvPr>
          <p:cNvSpPr/>
          <p:nvPr/>
        </p:nvSpPr>
        <p:spPr>
          <a:xfrm>
            <a:off x="5540000" y="3340311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27324A9-F0C0-6398-D0F9-DE4669405D2B}"/>
              </a:ext>
            </a:extLst>
          </p:cNvPr>
          <p:cNvSpPr txBox="1"/>
          <p:nvPr/>
        </p:nvSpPr>
        <p:spPr>
          <a:xfrm>
            <a:off x="200000" y="3340311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8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E87A46C-6284-7996-4921-BCDC94EA7DB3}"/>
              </a:ext>
            </a:extLst>
          </p:cNvPr>
          <p:cNvSpPr txBox="1"/>
          <p:nvPr/>
        </p:nvSpPr>
        <p:spPr>
          <a:xfrm>
            <a:off x="510000" y="3340311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Frontend Core Setup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4907F7F-A431-3E7B-91A9-492BA16F25D9}"/>
              </a:ext>
            </a:extLst>
          </p:cNvPr>
          <p:cNvSpPr txBox="1"/>
          <p:nvPr/>
        </p:nvSpPr>
        <p:spPr>
          <a:xfrm>
            <a:off x="3110000" y="3340311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 days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D8E8314-AA16-54A2-82F2-613A5B4EEC49}"/>
              </a:ext>
            </a:extLst>
          </p:cNvPr>
          <p:cNvSpPr txBox="1"/>
          <p:nvPr/>
        </p:nvSpPr>
        <p:spPr>
          <a:xfrm>
            <a:off x="3760000" y="3340311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10/11/26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F585F55-4136-CAA7-576C-FF58AD232BE7}"/>
              </a:ext>
            </a:extLst>
          </p:cNvPr>
          <p:cNvSpPr txBox="1"/>
          <p:nvPr/>
        </p:nvSpPr>
        <p:spPr>
          <a:xfrm>
            <a:off x="4420000" y="3340311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09/12/26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0C34B1B-0E1B-AED1-58ED-3EB6714E210E}"/>
              </a:ext>
            </a:extLst>
          </p:cNvPr>
          <p:cNvSpPr txBox="1"/>
          <p:nvPr/>
        </p:nvSpPr>
        <p:spPr>
          <a:xfrm>
            <a:off x="5080000" y="3340311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4;6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247D490-1734-859E-E999-860916EA2EF4}"/>
              </a:ext>
            </a:extLst>
          </p:cNvPr>
          <p:cNvSpPr/>
          <p:nvPr/>
        </p:nvSpPr>
        <p:spPr>
          <a:xfrm>
            <a:off x="7332198" y="3405465"/>
            <a:ext cx="57748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029C0B3-2ED2-29E9-AA37-D006221EA9F8}"/>
              </a:ext>
            </a:extLst>
          </p:cNvPr>
          <p:cNvSpPr txBox="1"/>
          <p:nvPr/>
        </p:nvSpPr>
        <p:spPr>
          <a:xfrm>
            <a:off x="7949684" y="3340311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21d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E57EAFE-B640-065C-A030-FF23CB7FDD56}"/>
              </a:ext>
            </a:extLst>
          </p:cNvPr>
          <p:cNvSpPr/>
          <p:nvPr/>
        </p:nvSpPr>
        <p:spPr>
          <a:xfrm>
            <a:off x="0" y="3611784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7C8DBC7-77DC-0813-14DC-AC9417000F48}"/>
              </a:ext>
            </a:extLst>
          </p:cNvPr>
          <p:cNvSpPr/>
          <p:nvPr/>
        </p:nvSpPr>
        <p:spPr>
          <a:xfrm>
            <a:off x="5540000" y="3611784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29BFA08-0BD2-BF2B-1CCA-6E15A2B78A80}"/>
              </a:ext>
            </a:extLst>
          </p:cNvPr>
          <p:cNvSpPr txBox="1"/>
          <p:nvPr/>
        </p:nvSpPr>
        <p:spPr>
          <a:xfrm>
            <a:off x="200000" y="3611784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9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CB331BC-6D6D-5E82-B925-5E3FD4655F34}"/>
              </a:ext>
            </a:extLst>
          </p:cNvPr>
          <p:cNvSpPr txBox="1"/>
          <p:nvPr/>
        </p:nvSpPr>
        <p:spPr>
          <a:xfrm>
            <a:off x="510000" y="3611784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AI: Resume Analyzer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DF122DB-786C-9C10-23AC-F7D7DEB5E342}"/>
              </a:ext>
            </a:extLst>
          </p:cNvPr>
          <p:cNvSpPr txBox="1"/>
          <p:nvPr/>
        </p:nvSpPr>
        <p:spPr>
          <a:xfrm>
            <a:off x="3110000" y="3611784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28 days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222136F-001C-8189-0D3D-7817620627E6}"/>
              </a:ext>
            </a:extLst>
          </p:cNvPr>
          <p:cNvSpPr txBox="1"/>
          <p:nvPr/>
        </p:nvSpPr>
        <p:spPr>
          <a:xfrm>
            <a:off x="3760000" y="3611784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19/11/26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47E5E94-115A-82E0-1991-40733B9B63FE}"/>
              </a:ext>
            </a:extLst>
          </p:cNvPr>
          <p:cNvSpPr txBox="1"/>
          <p:nvPr/>
        </p:nvSpPr>
        <p:spPr>
          <a:xfrm>
            <a:off x="4420000" y="3611784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29/12/26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E595065-E56B-A233-56C7-C5AAA11A1444}"/>
              </a:ext>
            </a:extLst>
          </p:cNvPr>
          <p:cNvSpPr txBox="1"/>
          <p:nvPr/>
        </p:nvSpPr>
        <p:spPr>
          <a:xfrm>
            <a:off x="5080000" y="3611784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CA46B0B-3201-95FB-274E-7F8D4533D2EF}"/>
              </a:ext>
            </a:extLst>
          </p:cNvPr>
          <p:cNvSpPr/>
          <p:nvPr/>
        </p:nvSpPr>
        <p:spPr>
          <a:xfrm>
            <a:off x="7511417" y="3676938"/>
            <a:ext cx="796532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F8CE313-2FC2-997F-BE73-64646DA5D660}"/>
              </a:ext>
            </a:extLst>
          </p:cNvPr>
          <p:cNvSpPr txBox="1"/>
          <p:nvPr/>
        </p:nvSpPr>
        <p:spPr>
          <a:xfrm>
            <a:off x="8347949" y="3611784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28d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C0FB2E6-8C09-9647-902D-C10C78B34FA4}"/>
              </a:ext>
            </a:extLst>
          </p:cNvPr>
          <p:cNvSpPr/>
          <p:nvPr/>
        </p:nvSpPr>
        <p:spPr>
          <a:xfrm>
            <a:off x="0" y="3883257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012A0B7-9055-48E5-D087-0F3B4657BDEE}"/>
              </a:ext>
            </a:extLst>
          </p:cNvPr>
          <p:cNvSpPr/>
          <p:nvPr/>
        </p:nvSpPr>
        <p:spPr>
          <a:xfrm>
            <a:off x="5540000" y="3883257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AC0D332-FF1B-CDD9-20EF-DB320783F62C}"/>
              </a:ext>
            </a:extLst>
          </p:cNvPr>
          <p:cNvSpPr txBox="1"/>
          <p:nvPr/>
        </p:nvSpPr>
        <p:spPr>
          <a:xfrm>
            <a:off x="200000" y="3883257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9B5F4BC-7A0A-BB35-807C-3C436CF450B7}"/>
              </a:ext>
            </a:extLst>
          </p:cNvPr>
          <p:cNvSpPr txBox="1"/>
          <p:nvPr/>
        </p:nvSpPr>
        <p:spPr>
          <a:xfrm>
            <a:off x="510000" y="3883257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AI: Matching Score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E4556B7-47F0-79F2-E6B3-C9715428D0C2}"/>
              </a:ext>
            </a:extLst>
          </p:cNvPr>
          <p:cNvSpPr txBox="1"/>
          <p:nvPr/>
        </p:nvSpPr>
        <p:spPr>
          <a:xfrm>
            <a:off x="3110000" y="3883257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 days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A2DFC60-3B99-0C0D-76A2-2A5FAB2BD1AF}"/>
              </a:ext>
            </a:extLst>
          </p:cNvPr>
          <p:cNvSpPr txBox="1"/>
          <p:nvPr/>
        </p:nvSpPr>
        <p:spPr>
          <a:xfrm>
            <a:off x="3760000" y="3883257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29/12/26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507436E-664E-2F84-AB4D-ABC31BCA33B9}"/>
              </a:ext>
            </a:extLst>
          </p:cNvPr>
          <p:cNvSpPr txBox="1"/>
          <p:nvPr/>
        </p:nvSpPr>
        <p:spPr>
          <a:xfrm>
            <a:off x="4420000" y="3883257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27/01/27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EF43682-DDAE-2AC1-A42D-9CED747F7FEB}"/>
              </a:ext>
            </a:extLst>
          </p:cNvPr>
          <p:cNvSpPr txBox="1"/>
          <p:nvPr/>
        </p:nvSpPr>
        <p:spPr>
          <a:xfrm>
            <a:off x="5080000" y="3883257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5382FEE-7556-7D32-C527-A065D82170E9}"/>
              </a:ext>
            </a:extLst>
          </p:cNvPr>
          <p:cNvSpPr/>
          <p:nvPr/>
        </p:nvSpPr>
        <p:spPr>
          <a:xfrm>
            <a:off x="8307950" y="3948411"/>
            <a:ext cx="57748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3F5558E-5FF6-BC14-6934-1619078F266C}"/>
              </a:ext>
            </a:extLst>
          </p:cNvPr>
          <p:cNvSpPr txBox="1"/>
          <p:nvPr/>
        </p:nvSpPr>
        <p:spPr>
          <a:xfrm>
            <a:off x="8925436" y="3883257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21d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6D643C4-B98E-4B7A-38FB-FA910DDBF4EA}"/>
              </a:ext>
            </a:extLst>
          </p:cNvPr>
          <p:cNvSpPr/>
          <p:nvPr/>
        </p:nvSpPr>
        <p:spPr>
          <a:xfrm>
            <a:off x="0" y="4154730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DB0B636-476F-0319-5B51-5A17B5D3192E}"/>
              </a:ext>
            </a:extLst>
          </p:cNvPr>
          <p:cNvSpPr/>
          <p:nvPr/>
        </p:nvSpPr>
        <p:spPr>
          <a:xfrm>
            <a:off x="5540000" y="4154730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E934BFF-B435-CF58-411C-107D3702964A}"/>
              </a:ext>
            </a:extLst>
          </p:cNvPr>
          <p:cNvSpPr txBox="1"/>
          <p:nvPr/>
        </p:nvSpPr>
        <p:spPr>
          <a:xfrm>
            <a:off x="200000" y="4154730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11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EEE5627-7AEB-3155-CCC8-115C7B866073}"/>
              </a:ext>
            </a:extLst>
          </p:cNvPr>
          <p:cNvSpPr txBox="1"/>
          <p:nvPr/>
        </p:nvSpPr>
        <p:spPr>
          <a:xfrm>
            <a:off x="510000" y="4154730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AI: Interview Question Gen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9A842C7-4146-2129-62CE-999423EFAE46}"/>
              </a:ext>
            </a:extLst>
          </p:cNvPr>
          <p:cNvSpPr txBox="1"/>
          <p:nvPr/>
        </p:nvSpPr>
        <p:spPr>
          <a:xfrm>
            <a:off x="3110000" y="4154730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35 days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A68F89D-C11F-34B9-DB63-C257D2424B09}"/>
              </a:ext>
            </a:extLst>
          </p:cNvPr>
          <p:cNvSpPr txBox="1"/>
          <p:nvPr/>
        </p:nvSpPr>
        <p:spPr>
          <a:xfrm>
            <a:off x="3760000" y="4154730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29/12/26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F5050DC-813F-81AD-8E6A-9CA4589EE714}"/>
              </a:ext>
            </a:extLst>
          </p:cNvPr>
          <p:cNvSpPr txBox="1"/>
          <p:nvPr/>
        </p:nvSpPr>
        <p:spPr>
          <a:xfrm>
            <a:off x="4420000" y="4154730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16/02/27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9CE3E285-5417-C967-FA51-36FF790B2E7D}"/>
              </a:ext>
            </a:extLst>
          </p:cNvPr>
          <p:cNvSpPr txBox="1"/>
          <p:nvPr/>
        </p:nvSpPr>
        <p:spPr>
          <a:xfrm>
            <a:off x="5080000" y="4154730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1B380738-C81E-140F-5A9F-69FCB0E5CBD6}"/>
              </a:ext>
            </a:extLst>
          </p:cNvPr>
          <p:cNvSpPr/>
          <p:nvPr/>
        </p:nvSpPr>
        <p:spPr>
          <a:xfrm>
            <a:off x="8307950" y="4219884"/>
            <a:ext cx="975752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7EDBAA5-8A2F-6F7B-8CFA-97BF37727F79}"/>
              </a:ext>
            </a:extLst>
          </p:cNvPr>
          <p:cNvSpPr txBox="1"/>
          <p:nvPr/>
        </p:nvSpPr>
        <p:spPr>
          <a:xfrm>
            <a:off x="9323702" y="4154730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35d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21FB67E1-B497-BA77-CCB0-55A52E0AC246}"/>
              </a:ext>
            </a:extLst>
          </p:cNvPr>
          <p:cNvSpPr/>
          <p:nvPr/>
        </p:nvSpPr>
        <p:spPr>
          <a:xfrm>
            <a:off x="0" y="4426203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15063C6-E6C2-C7D3-2776-0C8BB245931F}"/>
              </a:ext>
            </a:extLst>
          </p:cNvPr>
          <p:cNvSpPr/>
          <p:nvPr/>
        </p:nvSpPr>
        <p:spPr>
          <a:xfrm>
            <a:off x="5540000" y="4426203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BC8EE41-185A-AB1A-68E4-0E416D2C62A1}"/>
              </a:ext>
            </a:extLst>
          </p:cNvPr>
          <p:cNvSpPr txBox="1"/>
          <p:nvPr/>
        </p:nvSpPr>
        <p:spPr>
          <a:xfrm>
            <a:off x="200000" y="4426203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12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732A4E7C-5F0A-51D0-88E3-9D8BBB76290B}"/>
              </a:ext>
            </a:extLst>
          </p:cNvPr>
          <p:cNvSpPr txBox="1"/>
          <p:nvPr/>
        </p:nvSpPr>
        <p:spPr>
          <a:xfrm>
            <a:off x="510000" y="4426203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Company Dashboard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1CB696A4-A638-696C-4758-C368B38F7A44}"/>
              </a:ext>
            </a:extLst>
          </p:cNvPr>
          <p:cNvSpPr txBox="1"/>
          <p:nvPr/>
        </p:nvSpPr>
        <p:spPr>
          <a:xfrm>
            <a:off x="3110000" y="4426203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 days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0F06D21-1EC7-8DEB-D94D-F528A6466AE3}"/>
              </a:ext>
            </a:extLst>
          </p:cNvPr>
          <p:cNvSpPr txBox="1"/>
          <p:nvPr/>
        </p:nvSpPr>
        <p:spPr>
          <a:xfrm>
            <a:off x="3760000" y="4426203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09/12/26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7BE70D7-4BDA-C293-D807-445A56B42CC0}"/>
              </a:ext>
            </a:extLst>
          </p:cNvPr>
          <p:cNvSpPr txBox="1"/>
          <p:nvPr/>
        </p:nvSpPr>
        <p:spPr>
          <a:xfrm>
            <a:off x="4420000" y="4426203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07/01/27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36E5AD2-2899-D969-92AF-37E39A96E07E}"/>
              </a:ext>
            </a:extLst>
          </p:cNvPr>
          <p:cNvSpPr txBox="1"/>
          <p:nvPr/>
        </p:nvSpPr>
        <p:spPr>
          <a:xfrm>
            <a:off x="5080000" y="4426203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7;8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4FC68DE-E564-6A30-89FF-082DB780B2D4}"/>
              </a:ext>
            </a:extLst>
          </p:cNvPr>
          <p:cNvSpPr/>
          <p:nvPr/>
        </p:nvSpPr>
        <p:spPr>
          <a:xfrm>
            <a:off x="7909684" y="4491357"/>
            <a:ext cx="577486" cy="141165"/>
          </a:xfrm>
          <a:prstGeom prst="rect">
            <a:avLst/>
          </a:prstGeom>
          <a:solidFill>
            <a:srgbClr val="356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5CA3A6D-B34E-2D5C-A185-F9853EDDBB98}"/>
              </a:ext>
            </a:extLst>
          </p:cNvPr>
          <p:cNvSpPr txBox="1"/>
          <p:nvPr/>
        </p:nvSpPr>
        <p:spPr>
          <a:xfrm>
            <a:off x="8527170" y="4426203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21d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D6291D1-B4B3-0D76-AB58-7CF3F5670500}"/>
              </a:ext>
            </a:extLst>
          </p:cNvPr>
          <p:cNvSpPr/>
          <p:nvPr/>
        </p:nvSpPr>
        <p:spPr>
          <a:xfrm>
            <a:off x="0" y="4697676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12095AF-3B74-7416-174C-EBCA135E804D}"/>
              </a:ext>
            </a:extLst>
          </p:cNvPr>
          <p:cNvSpPr/>
          <p:nvPr/>
        </p:nvSpPr>
        <p:spPr>
          <a:xfrm>
            <a:off x="5540000" y="4697676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4F59DEC-8A86-676C-A595-701DE0E1D910}"/>
              </a:ext>
            </a:extLst>
          </p:cNvPr>
          <p:cNvSpPr txBox="1"/>
          <p:nvPr/>
        </p:nvSpPr>
        <p:spPr>
          <a:xfrm>
            <a:off x="200000" y="4697676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13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63BA409-2101-80BE-6C22-FD83BA7B40EA}"/>
              </a:ext>
            </a:extLst>
          </p:cNvPr>
          <p:cNvSpPr txBox="1"/>
          <p:nvPr/>
        </p:nvSpPr>
        <p:spPr>
          <a:xfrm>
            <a:off x="510000" y="4697676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Tracker/ Prep Dashboard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79F55DC-42E8-DFCA-D325-476256CD631A}"/>
              </a:ext>
            </a:extLst>
          </p:cNvPr>
          <p:cNvSpPr txBox="1"/>
          <p:nvPr/>
        </p:nvSpPr>
        <p:spPr>
          <a:xfrm>
            <a:off x="3110000" y="4697676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21 days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C8405CD-80EF-D016-F914-5B2BECD2CF48}"/>
              </a:ext>
            </a:extLst>
          </p:cNvPr>
          <p:cNvSpPr txBox="1"/>
          <p:nvPr/>
        </p:nvSpPr>
        <p:spPr>
          <a:xfrm>
            <a:off x="3760000" y="4697676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09/12/26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11F4B33A-B2CC-2EAF-C463-5796DC0043BA}"/>
              </a:ext>
            </a:extLst>
          </p:cNvPr>
          <p:cNvSpPr txBox="1"/>
          <p:nvPr/>
        </p:nvSpPr>
        <p:spPr>
          <a:xfrm>
            <a:off x="4420000" y="4697676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07/01/27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0C6D145-2E16-7BFA-B592-78821A75F5C9}"/>
              </a:ext>
            </a:extLst>
          </p:cNvPr>
          <p:cNvSpPr txBox="1"/>
          <p:nvPr/>
        </p:nvSpPr>
        <p:spPr>
          <a:xfrm>
            <a:off x="5080000" y="4697676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7;8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073142C0-7C9F-9D54-75A9-2FBAFC1F73BD}"/>
              </a:ext>
            </a:extLst>
          </p:cNvPr>
          <p:cNvSpPr/>
          <p:nvPr/>
        </p:nvSpPr>
        <p:spPr>
          <a:xfrm>
            <a:off x="7909684" y="4762830"/>
            <a:ext cx="577486" cy="141165"/>
          </a:xfrm>
          <a:prstGeom prst="rect">
            <a:avLst/>
          </a:prstGeom>
          <a:solidFill>
            <a:srgbClr val="356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4857775-5CFF-D3DD-1197-1CABF35BF21D}"/>
              </a:ext>
            </a:extLst>
          </p:cNvPr>
          <p:cNvSpPr txBox="1"/>
          <p:nvPr/>
        </p:nvSpPr>
        <p:spPr>
          <a:xfrm>
            <a:off x="8527170" y="4697676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21d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DCCC849-2F7C-0B9F-E544-78E22A671D00}"/>
              </a:ext>
            </a:extLst>
          </p:cNvPr>
          <p:cNvSpPr/>
          <p:nvPr/>
        </p:nvSpPr>
        <p:spPr>
          <a:xfrm>
            <a:off x="0" y="4969149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DC480AA-7AEB-1937-ABDE-9730E66AC740}"/>
              </a:ext>
            </a:extLst>
          </p:cNvPr>
          <p:cNvSpPr/>
          <p:nvPr/>
        </p:nvSpPr>
        <p:spPr>
          <a:xfrm>
            <a:off x="5540000" y="4969149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4F0798E-96A4-9C78-44CF-EEAAB5B51B1B}"/>
              </a:ext>
            </a:extLst>
          </p:cNvPr>
          <p:cNvSpPr txBox="1"/>
          <p:nvPr/>
        </p:nvSpPr>
        <p:spPr>
          <a:xfrm>
            <a:off x="200000" y="4969149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14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B28F535-AFA7-A2AF-395E-1C93BD6C881D}"/>
              </a:ext>
            </a:extLst>
          </p:cNvPr>
          <p:cNvSpPr txBox="1"/>
          <p:nvPr/>
        </p:nvSpPr>
        <p:spPr>
          <a:xfrm>
            <a:off x="510000" y="4969149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Analytics Dashboard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D979BFF-829E-40C2-6D23-ECC18E906554}"/>
              </a:ext>
            </a:extLst>
          </p:cNvPr>
          <p:cNvSpPr txBox="1"/>
          <p:nvPr/>
        </p:nvSpPr>
        <p:spPr>
          <a:xfrm>
            <a:off x="3110000" y="4969149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451D249-2676-58C4-A9BF-D4DF11C28038}"/>
              </a:ext>
            </a:extLst>
          </p:cNvPr>
          <p:cNvSpPr txBox="1"/>
          <p:nvPr/>
        </p:nvSpPr>
        <p:spPr>
          <a:xfrm>
            <a:off x="3760000" y="4969149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27/01/27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4A700D7F-4C9C-F508-D21D-6010C2CD709B}"/>
              </a:ext>
            </a:extLst>
          </p:cNvPr>
          <p:cNvSpPr txBox="1"/>
          <p:nvPr/>
        </p:nvSpPr>
        <p:spPr>
          <a:xfrm>
            <a:off x="4420000" y="4969149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16/02/27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F4D4156-520A-BC5D-3396-75522C95BD52}"/>
              </a:ext>
            </a:extLst>
          </p:cNvPr>
          <p:cNvSpPr txBox="1"/>
          <p:nvPr/>
        </p:nvSpPr>
        <p:spPr>
          <a:xfrm>
            <a:off x="5080000" y="4969149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10;12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EA35DCF1-5947-A299-798A-31E3CCC61537}"/>
              </a:ext>
            </a:extLst>
          </p:cNvPr>
          <p:cNvSpPr/>
          <p:nvPr/>
        </p:nvSpPr>
        <p:spPr>
          <a:xfrm>
            <a:off x="8885436" y="5034303"/>
            <a:ext cx="39826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66FBE45-D28A-A3A6-16E5-4A6CA9FF9046}"/>
              </a:ext>
            </a:extLst>
          </p:cNvPr>
          <p:cNvSpPr txBox="1"/>
          <p:nvPr/>
        </p:nvSpPr>
        <p:spPr>
          <a:xfrm>
            <a:off x="9323702" y="4969149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458049-8681-0645-6CA8-28705CEDDA19}"/>
              </a:ext>
            </a:extLst>
          </p:cNvPr>
          <p:cNvSpPr/>
          <p:nvPr/>
        </p:nvSpPr>
        <p:spPr>
          <a:xfrm>
            <a:off x="0" y="5240622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B7FA96E8-71FF-42C8-1075-045550148B8A}"/>
              </a:ext>
            </a:extLst>
          </p:cNvPr>
          <p:cNvSpPr/>
          <p:nvPr/>
        </p:nvSpPr>
        <p:spPr>
          <a:xfrm>
            <a:off x="5540000" y="5240622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38739345-5A01-6914-855B-DC18ABCA5511}"/>
              </a:ext>
            </a:extLst>
          </p:cNvPr>
          <p:cNvSpPr txBox="1"/>
          <p:nvPr/>
        </p:nvSpPr>
        <p:spPr>
          <a:xfrm>
            <a:off x="200000" y="5240622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15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C92165D-F6B5-61B9-3EA1-B411D3022D23}"/>
              </a:ext>
            </a:extLst>
          </p:cNvPr>
          <p:cNvSpPr txBox="1"/>
          <p:nvPr/>
        </p:nvSpPr>
        <p:spPr>
          <a:xfrm>
            <a:off x="510000" y="5240622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System Integration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62D1118-E560-21EE-7043-6ABD4842B5C9}"/>
              </a:ext>
            </a:extLst>
          </p:cNvPr>
          <p:cNvSpPr txBox="1"/>
          <p:nvPr/>
        </p:nvSpPr>
        <p:spPr>
          <a:xfrm>
            <a:off x="3110000" y="5240622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6257DDB1-CBEF-43EC-3F3D-496C05291144}"/>
              </a:ext>
            </a:extLst>
          </p:cNvPr>
          <p:cNvSpPr txBox="1"/>
          <p:nvPr/>
        </p:nvSpPr>
        <p:spPr>
          <a:xfrm>
            <a:off x="3760000" y="5240622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16/02/27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DB317A5-C68F-B8CD-8A3F-27B86A7F1CC4}"/>
              </a:ext>
            </a:extLst>
          </p:cNvPr>
          <p:cNvSpPr txBox="1"/>
          <p:nvPr/>
        </p:nvSpPr>
        <p:spPr>
          <a:xfrm>
            <a:off x="4420000" y="5240622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08/03/27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B98AB0F-EE2B-F19F-0F51-BA0A3303F5A4}"/>
              </a:ext>
            </a:extLst>
          </p:cNvPr>
          <p:cNvSpPr txBox="1"/>
          <p:nvPr/>
        </p:nvSpPr>
        <p:spPr>
          <a:xfrm>
            <a:off x="5080000" y="5240622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11;13;14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7E854B6-2DF7-478A-9BA4-2F4ABDD95782}"/>
              </a:ext>
            </a:extLst>
          </p:cNvPr>
          <p:cNvSpPr/>
          <p:nvPr/>
        </p:nvSpPr>
        <p:spPr>
          <a:xfrm>
            <a:off x="9283702" y="5305776"/>
            <a:ext cx="39826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C2624395-1729-ACD4-27D6-2402C304B04A}"/>
              </a:ext>
            </a:extLst>
          </p:cNvPr>
          <p:cNvSpPr txBox="1"/>
          <p:nvPr/>
        </p:nvSpPr>
        <p:spPr>
          <a:xfrm>
            <a:off x="9721968" y="5240622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EB82FCE-C99D-CA86-8F11-B93641121479}"/>
              </a:ext>
            </a:extLst>
          </p:cNvPr>
          <p:cNvSpPr/>
          <p:nvPr/>
        </p:nvSpPr>
        <p:spPr>
          <a:xfrm>
            <a:off x="0" y="5512095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B9640EE-C1FC-D834-1D0E-33C108D6711A}"/>
              </a:ext>
            </a:extLst>
          </p:cNvPr>
          <p:cNvSpPr/>
          <p:nvPr/>
        </p:nvSpPr>
        <p:spPr>
          <a:xfrm>
            <a:off x="5540000" y="5512095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015153D3-4428-A4B8-5321-52BA5E346C4F}"/>
              </a:ext>
            </a:extLst>
          </p:cNvPr>
          <p:cNvSpPr txBox="1"/>
          <p:nvPr/>
        </p:nvSpPr>
        <p:spPr>
          <a:xfrm>
            <a:off x="200000" y="5512095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16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EE022CB3-EE5D-8B68-E9FA-8265E1B21FD7}"/>
              </a:ext>
            </a:extLst>
          </p:cNvPr>
          <p:cNvSpPr txBox="1"/>
          <p:nvPr/>
        </p:nvSpPr>
        <p:spPr>
          <a:xfrm>
            <a:off x="510000" y="5512095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QA (Functional + AI Accuracy)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CCFB3C6-F1D7-AC74-3FD3-593348AF778C}"/>
              </a:ext>
            </a:extLst>
          </p:cNvPr>
          <p:cNvSpPr txBox="1"/>
          <p:nvPr/>
        </p:nvSpPr>
        <p:spPr>
          <a:xfrm>
            <a:off x="3110000" y="5512095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28 days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28A4B53-977A-7BCF-2E14-7A239006E8A6}"/>
              </a:ext>
            </a:extLst>
          </p:cNvPr>
          <p:cNvSpPr txBox="1"/>
          <p:nvPr/>
        </p:nvSpPr>
        <p:spPr>
          <a:xfrm>
            <a:off x="3760000" y="5512095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08/03/27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799C49D-1251-ED68-AF3D-B9C6FCE187B4}"/>
              </a:ext>
            </a:extLst>
          </p:cNvPr>
          <p:cNvSpPr txBox="1"/>
          <p:nvPr/>
        </p:nvSpPr>
        <p:spPr>
          <a:xfrm>
            <a:off x="4420000" y="5512095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 dirty="0">
                <a:solidFill>
                  <a:srgbClr val="6B7280"/>
                </a:solidFill>
                <a:latin typeface="Calibri"/>
              </a:rPr>
              <a:t>15/04/27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6DFBE-6D9B-7C03-06A5-768D2682C071}"/>
              </a:ext>
            </a:extLst>
          </p:cNvPr>
          <p:cNvSpPr txBox="1"/>
          <p:nvPr/>
        </p:nvSpPr>
        <p:spPr>
          <a:xfrm>
            <a:off x="5080000" y="5512095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4E9D92E-1A27-2806-AE1B-F8C65F8677E1}"/>
              </a:ext>
            </a:extLst>
          </p:cNvPr>
          <p:cNvSpPr/>
          <p:nvPr/>
        </p:nvSpPr>
        <p:spPr>
          <a:xfrm>
            <a:off x="9681969" y="5577249"/>
            <a:ext cx="756705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814C6D7-4A54-66CA-11C8-937AC8D7F5B2}"/>
              </a:ext>
            </a:extLst>
          </p:cNvPr>
          <p:cNvSpPr txBox="1"/>
          <p:nvPr/>
        </p:nvSpPr>
        <p:spPr>
          <a:xfrm>
            <a:off x="10478674" y="5512095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28d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94ACFC7-BDF4-00F0-64A8-E0BDAA7B3B8E}"/>
              </a:ext>
            </a:extLst>
          </p:cNvPr>
          <p:cNvSpPr/>
          <p:nvPr/>
        </p:nvSpPr>
        <p:spPr>
          <a:xfrm>
            <a:off x="0" y="5783568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B64ADBD-E27F-7A4C-84C8-C25261AE9C4A}"/>
              </a:ext>
            </a:extLst>
          </p:cNvPr>
          <p:cNvSpPr/>
          <p:nvPr/>
        </p:nvSpPr>
        <p:spPr>
          <a:xfrm>
            <a:off x="5540000" y="5783568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EC7A93D-1558-B897-93E7-9419EBC7A270}"/>
              </a:ext>
            </a:extLst>
          </p:cNvPr>
          <p:cNvSpPr txBox="1"/>
          <p:nvPr/>
        </p:nvSpPr>
        <p:spPr>
          <a:xfrm>
            <a:off x="200000" y="5783568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17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1C8115D-75A7-4D97-DB53-628C1858C58B}"/>
              </a:ext>
            </a:extLst>
          </p:cNvPr>
          <p:cNvSpPr txBox="1"/>
          <p:nvPr/>
        </p:nvSpPr>
        <p:spPr>
          <a:xfrm>
            <a:off x="510000" y="5783568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UAT (Students + Placement Cell)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C971DFB6-8E87-FA34-ECF6-5B23A7A57550}"/>
              </a:ext>
            </a:extLst>
          </p:cNvPr>
          <p:cNvSpPr txBox="1"/>
          <p:nvPr/>
        </p:nvSpPr>
        <p:spPr>
          <a:xfrm>
            <a:off x="3110000" y="5783568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13AD717-3C39-C9E1-9D79-268E4CC9094C}"/>
              </a:ext>
            </a:extLst>
          </p:cNvPr>
          <p:cNvSpPr txBox="1"/>
          <p:nvPr/>
        </p:nvSpPr>
        <p:spPr>
          <a:xfrm>
            <a:off x="3760000" y="5783568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15/04/27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3F58BDA-C812-9579-C693-1410C4CFFEC4}"/>
              </a:ext>
            </a:extLst>
          </p:cNvPr>
          <p:cNvSpPr txBox="1"/>
          <p:nvPr/>
        </p:nvSpPr>
        <p:spPr>
          <a:xfrm>
            <a:off x="4420000" y="5783568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05/05/27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0C1029D-0047-CDEA-B1D6-75A071C9DC9A}"/>
              </a:ext>
            </a:extLst>
          </p:cNvPr>
          <p:cNvSpPr txBox="1"/>
          <p:nvPr/>
        </p:nvSpPr>
        <p:spPr>
          <a:xfrm>
            <a:off x="5080000" y="5783568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CD30FEE2-FE1C-3BFD-1137-555E59C7A73F}"/>
              </a:ext>
            </a:extLst>
          </p:cNvPr>
          <p:cNvSpPr/>
          <p:nvPr/>
        </p:nvSpPr>
        <p:spPr>
          <a:xfrm>
            <a:off x="10438674" y="5848722"/>
            <a:ext cx="39826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9E23E3FF-2AA8-F832-83DA-3B810A5FE0AA}"/>
              </a:ext>
            </a:extLst>
          </p:cNvPr>
          <p:cNvSpPr txBox="1"/>
          <p:nvPr/>
        </p:nvSpPr>
        <p:spPr>
          <a:xfrm>
            <a:off x="10876940" y="5783568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AC14898-E9DA-F641-3AE1-015F56856DAF}"/>
              </a:ext>
            </a:extLst>
          </p:cNvPr>
          <p:cNvSpPr/>
          <p:nvPr/>
        </p:nvSpPr>
        <p:spPr>
          <a:xfrm>
            <a:off x="0" y="6055041"/>
            <a:ext cx="5500000" cy="271473"/>
          </a:xfrm>
          <a:prstGeom prst="rect">
            <a:avLst/>
          </a:prstGeom>
          <a:solidFill>
            <a:srgbClr val="F6F7F9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178D5F9-744B-3602-F173-641A5EF02C27}"/>
              </a:ext>
            </a:extLst>
          </p:cNvPr>
          <p:cNvSpPr/>
          <p:nvPr/>
        </p:nvSpPr>
        <p:spPr>
          <a:xfrm>
            <a:off x="5540000" y="6055041"/>
            <a:ext cx="6432000" cy="271473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3CA8CFDA-36D1-681F-185A-752E96DF29FA}"/>
              </a:ext>
            </a:extLst>
          </p:cNvPr>
          <p:cNvSpPr txBox="1"/>
          <p:nvPr/>
        </p:nvSpPr>
        <p:spPr>
          <a:xfrm>
            <a:off x="200000" y="6055041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18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3AD28B9-EB1D-9A07-4BE2-4E4B263E94C5}"/>
              </a:ext>
            </a:extLst>
          </p:cNvPr>
          <p:cNvSpPr txBox="1"/>
          <p:nvPr/>
        </p:nvSpPr>
        <p:spPr>
          <a:xfrm>
            <a:off x="510000" y="6055041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Deployment &amp; Go-Live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FD9CF195-DAB7-1E34-07C0-3288C32EF1B0}"/>
              </a:ext>
            </a:extLst>
          </p:cNvPr>
          <p:cNvSpPr txBox="1"/>
          <p:nvPr/>
        </p:nvSpPr>
        <p:spPr>
          <a:xfrm>
            <a:off x="3110000" y="6055041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14 days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F02FB028-FE74-F831-6A08-7C14709B035D}"/>
              </a:ext>
            </a:extLst>
          </p:cNvPr>
          <p:cNvSpPr txBox="1"/>
          <p:nvPr/>
        </p:nvSpPr>
        <p:spPr>
          <a:xfrm>
            <a:off x="3760000" y="6055041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05/05/27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8BBD59C-4C9C-8160-D322-A62D688D5E5B}"/>
              </a:ext>
            </a:extLst>
          </p:cNvPr>
          <p:cNvSpPr txBox="1"/>
          <p:nvPr/>
        </p:nvSpPr>
        <p:spPr>
          <a:xfrm>
            <a:off x="4420000" y="6055041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25/05/27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0ADBCBB-2B0C-71DF-E613-19F9FF567C4D}"/>
              </a:ext>
            </a:extLst>
          </p:cNvPr>
          <p:cNvSpPr txBox="1"/>
          <p:nvPr/>
        </p:nvSpPr>
        <p:spPr>
          <a:xfrm>
            <a:off x="5080000" y="6055041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7346F9B9-D48C-0FDE-2A22-7345A1962569}"/>
              </a:ext>
            </a:extLst>
          </p:cNvPr>
          <p:cNvSpPr/>
          <p:nvPr/>
        </p:nvSpPr>
        <p:spPr>
          <a:xfrm>
            <a:off x="10836941" y="6120195"/>
            <a:ext cx="398266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EB77ABD-E526-30F6-B623-B5BB010DED73}"/>
              </a:ext>
            </a:extLst>
          </p:cNvPr>
          <p:cNvSpPr txBox="1"/>
          <p:nvPr/>
        </p:nvSpPr>
        <p:spPr>
          <a:xfrm>
            <a:off x="11275207" y="6055041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14d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E5894C6B-9C95-0F08-67D3-E5400637E9BE}"/>
              </a:ext>
            </a:extLst>
          </p:cNvPr>
          <p:cNvSpPr/>
          <p:nvPr/>
        </p:nvSpPr>
        <p:spPr>
          <a:xfrm>
            <a:off x="0" y="6326514"/>
            <a:ext cx="5500000" cy="271473"/>
          </a:xfrm>
          <a:prstGeom prst="rect">
            <a:avLst/>
          </a:prstGeom>
          <a:solidFill>
            <a:srgbClr val="FFFFFF"/>
          </a:solidFill>
          <a:ln w="635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2FBC0CF-0402-E2AE-2086-B3F94F189506}"/>
              </a:ext>
            </a:extLst>
          </p:cNvPr>
          <p:cNvSpPr/>
          <p:nvPr/>
        </p:nvSpPr>
        <p:spPr>
          <a:xfrm>
            <a:off x="5540000" y="6326514"/>
            <a:ext cx="6432000" cy="2714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C67D7B6-5000-5A33-B5E8-BD7F5A9DAA4B}"/>
              </a:ext>
            </a:extLst>
          </p:cNvPr>
          <p:cNvSpPr txBox="1"/>
          <p:nvPr/>
        </p:nvSpPr>
        <p:spPr>
          <a:xfrm>
            <a:off x="200000" y="6326514"/>
            <a:ext cx="26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830" b="0" i="0">
                <a:solidFill>
                  <a:srgbClr val="2B2F38"/>
                </a:solidFill>
                <a:latin typeface="Calibri"/>
              </a:rPr>
              <a:t>19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3D0A7818-2D40-BED7-7CB6-B31B0FBB0EA1}"/>
              </a:ext>
            </a:extLst>
          </p:cNvPr>
          <p:cNvSpPr txBox="1"/>
          <p:nvPr/>
        </p:nvSpPr>
        <p:spPr>
          <a:xfrm>
            <a:off x="510000" y="6326514"/>
            <a:ext cx="259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30" b="0" i="0">
                <a:solidFill>
                  <a:srgbClr val="2B2F38"/>
                </a:solidFill>
                <a:latin typeface="Calibri"/>
              </a:rPr>
              <a:t>Closure &amp; Handover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E7D791A-D1DE-1FCE-418D-984276CC96A0}"/>
              </a:ext>
            </a:extLst>
          </p:cNvPr>
          <p:cNvSpPr txBox="1"/>
          <p:nvPr/>
        </p:nvSpPr>
        <p:spPr>
          <a:xfrm>
            <a:off x="3110000" y="6326514"/>
            <a:ext cx="63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7 days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8C0134C-33C7-D272-703B-7B30DF9C7AE9}"/>
              </a:ext>
            </a:extLst>
          </p:cNvPr>
          <p:cNvSpPr txBox="1"/>
          <p:nvPr/>
        </p:nvSpPr>
        <p:spPr>
          <a:xfrm>
            <a:off x="3760000" y="6326514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25/05/27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95B9A54-B425-9ABC-7E82-CC91265E4A91}"/>
              </a:ext>
            </a:extLst>
          </p:cNvPr>
          <p:cNvSpPr txBox="1"/>
          <p:nvPr/>
        </p:nvSpPr>
        <p:spPr>
          <a:xfrm>
            <a:off x="4420000" y="6326514"/>
            <a:ext cx="65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03/06/27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A067D60-BE59-4DA6-AB0E-E2F55DF2D161}"/>
              </a:ext>
            </a:extLst>
          </p:cNvPr>
          <p:cNvSpPr txBox="1"/>
          <p:nvPr/>
        </p:nvSpPr>
        <p:spPr>
          <a:xfrm>
            <a:off x="5080000" y="6326514"/>
            <a:ext cx="41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ctr"/>
            <a:r>
              <a:rPr sz="780" b="0" i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F91A991F-880A-76E7-C3DE-905CEA398C73}"/>
              </a:ext>
            </a:extLst>
          </p:cNvPr>
          <p:cNvSpPr/>
          <p:nvPr/>
        </p:nvSpPr>
        <p:spPr>
          <a:xfrm>
            <a:off x="11235207" y="6391668"/>
            <a:ext cx="179219" cy="14116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02ADC0A-BA89-CBFE-8933-E82C0FA61C69}"/>
              </a:ext>
            </a:extLst>
          </p:cNvPr>
          <p:cNvSpPr txBox="1"/>
          <p:nvPr/>
        </p:nvSpPr>
        <p:spPr>
          <a:xfrm>
            <a:off x="11454426" y="6326514"/>
            <a:ext cx="900000" cy="271473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730" b="0" i="0">
                <a:solidFill>
                  <a:srgbClr val="6B7280"/>
                </a:solidFill>
                <a:latin typeface="Calibri"/>
              </a:rPr>
              <a:t>7d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67E9B61-5773-A11E-39DF-2D312FE8949F}"/>
              </a:ext>
            </a:extLst>
          </p:cNvPr>
          <p:cNvSpPr/>
          <p:nvPr/>
        </p:nvSpPr>
        <p:spPr>
          <a:xfrm>
            <a:off x="0" y="1180000"/>
            <a:ext cx="5500000" cy="5417987"/>
          </a:xfrm>
          <a:prstGeom prst="rect">
            <a:avLst/>
          </a:prstGeom>
          <a:noFill/>
          <a:ln w="1270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7451A4F6-C70F-DF8F-5A44-6E2D39B73A55}"/>
              </a:ext>
            </a:extLst>
          </p:cNvPr>
          <p:cNvSpPr/>
          <p:nvPr/>
        </p:nvSpPr>
        <p:spPr>
          <a:xfrm>
            <a:off x="5540000" y="1180000"/>
            <a:ext cx="6432000" cy="5417987"/>
          </a:xfrm>
          <a:prstGeom prst="rect">
            <a:avLst/>
          </a:prstGeom>
          <a:noFill/>
          <a:ln w="12700">
            <a:solidFill>
              <a:srgbClr val="C7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5AF276DB-898C-46DB-6C8F-B8400B277A3D}"/>
              </a:ext>
            </a:extLst>
          </p:cNvPr>
          <p:cNvSpPr/>
          <p:nvPr/>
        </p:nvSpPr>
        <p:spPr>
          <a:xfrm>
            <a:off x="380000" y="6538000"/>
            <a:ext cx="260000" cy="1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FE79F794-0AAA-3D1D-C532-7C8D4A61CB81}"/>
              </a:ext>
            </a:extLst>
          </p:cNvPr>
          <p:cNvSpPr txBox="1"/>
          <p:nvPr/>
        </p:nvSpPr>
        <p:spPr>
          <a:xfrm>
            <a:off x="700000" y="6498000"/>
            <a:ext cx="1400000" cy="22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50" b="0" i="0">
                <a:solidFill>
                  <a:srgbClr val="2B2F38"/>
                </a:solidFill>
                <a:latin typeface="Calibri"/>
              </a:rPr>
              <a:t>Critical task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A4B72400-8C95-8406-0412-438A0B3C1994}"/>
              </a:ext>
            </a:extLst>
          </p:cNvPr>
          <p:cNvSpPr/>
          <p:nvPr/>
        </p:nvSpPr>
        <p:spPr>
          <a:xfrm>
            <a:off x="2130000" y="6538000"/>
            <a:ext cx="260000" cy="140000"/>
          </a:xfrm>
          <a:prstGeom prst="rect">
            <a:avLst/>
          </a:prstGeom>
          <a:solidFill>
            <a:srgbClr val="356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92BF472-D867-D18B-FD17-E0098027248C}"/>
              </a:ext>
            </a:extLst>
          </p:cNvPr>
          <p:cNvSpPr txBox="1"/>
          <p:nvPr/>
        </p:nvSpPr>
        <p:spPr>
          <a:xfrm>
            <a:off x="2450000" y="6498000"/>
            <a:ext cx="1600000" cy="220000"/>
          </a:xfrm>
          <a:prstGeom prst="rect">
            <a:avLst/>
          </a:prstGeom>
          <a:noFill/>
        </p:spPr>
        <p:txBody>
          <a:bodyPr wrap="square" lIns="0" tIns="0" rIns="30000" bIns="0" anchor="ctr">
            <a:spAutoFit/>
          </a:bodyPr>
          <a:lstStyle/>
          <a:p>
            <a:pPr algn="l"/>
            <a:r>
              <a:rPr sz="850" b="0" i="0">
                <a:solidFill>
                  <a:srgbClr val="2B2F38"/>
                </a:solidFill>
                <a:latin typeface="Calibri"/>
              </a:rPr>
              <a:t>Non-critical (float)</a:t>
            </a:r>
          </a:p>
        </p:txBody>
      </p:sp>
    </p:spTree>
    <p:extLst>
      <p:ext uri="{BB962C8B-B14F-4D97-AF65-F5344CB8AC3E}">
        <p14:creationId xmlns:p14="http://schemas.microsoft.com/office/powerpoint/2010/main" val="3677947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85587EC-7A79-0379-6E40-CEDF8D2C3EF3}"/>
              </a:ext>
            </a:extLst>
          </p:cNvPr>
          <p:cNvSpPr txBox="1">
            <a:spLocks/>
          </p:cNvSpPr>
          <p:nvPr/>
        </p:nvSpPr>
        <p:spPr>
          <a:xfrm>
            <a:off x="520148" y="365125"/>
            <a:ext cx="10515600" cy="69025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solidFill>
                  <a:srgbClr val="1F3864"/>
                </a:solidFill>
                <a:latin typeface="Calibri"/>
                <a:ea typeface="+mn-ea"/>
                <a:cs typeface="+mn-cs"/>
              </a:rPr>
              <a:t>Resource Planning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31D254-AC46-B7F7-80A0-23A4B6FFE69C}"/>
              </a:ext>
            </a:extLst>
          </p:cNvPr>
          <p:cNvSpPr/>
          <p:nvPr/>
        </p:nvSpPr>
        <p:spPr>
          <a:xfrm>
            <a:off x="705282" y="1293123"/>
            <a:ext cx="2121408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58307-8499-0B1E-BD76-E6EF0A8A6547}"/>
              </a:ext>
            </a:extLst>
          </p:cNvPr>
          <p:cNvSpPr txBox="1"/>
          <p:nvPr/>
        </p:nvSpPr>
        <p:spPr>
          <a:xfrm>
            <a:off x="796722" y="1347987"/>
            <a:ext cx="640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13590-9B11-A7D4-B20F-EBBD3B609D06}"/>
              </a:ext>
            </a:extLst>
          </p:cNvPr>
          <p:cNvSpPr txBox="1"/>
          <p:nvPr/>
        </p:nvSpPr>
        <p:spPr>
          <a:xfrm>
            <a:off x="1455090" y="1366275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9747E"/>
                </a:solidFill>
                <a:latin typeface="Aptos"/>
              </a:rPr>
              <a:t>Activities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5227FE-B02D-18E7-F3AF-3178E7F206B2}"/>
              </a:ext>
            </a:extLst>
          </p:cNvPr>
          <p:cNvSpPr/>
          <p:nvPr/>
        </p:nvSpPr>
        <p:spPr>
          <a:xfrm>
            <a:off x="2972994" y="1293123"/>
            <a:ext cx="2121408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15C4C-D6FC-CCB4-A876-BF92850DBCDE}"/>
              </a:ext>
            </a:extLst>
          </p:cNvPr>
          <p:cNvSpPr txBox="1"/>
          <p:nvPr/>
        </p:nvSpPr>
        <p:spPr>
          <a:xfrm>
            <a:off x="3064434" y="1347987"/>
            <a:ext cx="640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8D63D7-0495-6BE4-A29C-BF3C5B085486}"/>
              </a:ext>
            </a:extLst>
          </p:cNvPr>
          <p:cNvSpPr txBox="1"/>
          <p:nvPr/>
        </p:nvSpPr>
        <p:spPr>
          <a:xfrm>
            <a:off x="3722802" y="1366275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9747E"/>
                </a:solidFill>
                <a:latin typeface="Aptos"/>
              </a:rPr>
              <a:t>Resource roles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57F3DA9-D6E2-79D5-4216-4705A3BC29A4}"/>
              </a:ext>
            </a:extLst>
          </p:cNvPr>
          <p:cNvSpPr/>
          <p:nvPr/>
        </p:nvSpPr>
        <p:spPr>
          <a:xfrm>
            <a:off x="5240706" y="1293123"/>
            <a:ext cx="2121408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950D57-B652-9134-E290-144A7E8465CB}"/>
              </a:ext>
            </a:extLst>
          </p:cNvPr>
          <p:cNvSpPr txBox="1"/>
          <p:nvPr/>
        </p:nvSpPr>
        <p:spPr>
          <a:xfrm>
            <a:off x="5332146" y="1347987"/>
            <a:ext cx="640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1.8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FCDD61-C73D-B257-F5B9-BA066737136D}"/>
              </a:ext>
            </a:extLst>
          </p:cNvPr>
          <p:cNvSpPr txBox="1"/>
          <p:nvPr/>
        </p:nvSpPr>
        <p:spPr>
          <a:xfrm>
            <a:off x="5990514" y="1366275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9747E"/>
                </a:solidFill>
                <a:latin typeface="Aptos"/>
              </a:rPr>
              <a:t>Max activity FTE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842A3-71F8-ABD8-B029-FD9BF936C8F3}"/>
              </a:ext>
            </a:extLst>
          </p:cNvPr>
          <p:cNvSpPr/>
          <p:nvPr/>
        </p:nvSpPr>
        <p:spPr>
          <a:xfrm>
            <a:off x="7508418" y="1293123"/>
            <a:ext cx="2121408" cy="56692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DB77B-BE37-ED3D-A204-E657216AC4B6}"/>
              </a:ext>
            </a:extLst>
          </p:cNvPr>
          <p:cNvSpPr txBox="1"/>
          <p:nvPr/>
        </p:nvSpPr>
        <p:spPr>
          <a:xfrm>
            <a:off x="7599857" y="1347987"/>
            <a:ext cx="640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1.0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03BF98-B262-A60A-5830-4DA50CB969CE}"/>
              </a:ext>
            </a:extLst>
          </p:cNvPr>
          <p:cNvSpPr txBox="1"/>
          <p:nvPr/>
        </p:nvSpPr>
        <p:spPr>
          <a:xfrm>
            <a:off x="8258226" y="1366275"/>
            <a:ext cx="1234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0">
                <a:solidFill>
                  <a:srgbClr val="69747E"/>
                </a:solidFill>
                <a:latin typeface="Aptos"/>
              </a:rPr>
              <a:t>Single-role capacity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C41F9B-09B0-74D9-5D41-7C84E1C6B38A}"/>
              </a:ext>
            </a:extLst>
          </p:cNvPr>
          <p:cNvSpPr/>
          <p:nvPr/>
        </p:nvSpPr>
        <p:spPr>
          <a:xfrm>
            <a:off x="705282" y="2024643"/>
            <a:ext cx="2852928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9285F-9BB4-8CCE-EF06-BED3064D427D}"/>
              </a:ext>
            </a:extLst>
          </p:cNvPr>
          <p:cNvSpPr txBox="1"/>
          <p:nvPr/>
        </p:nvSpPr>
        <p:spPr>
          <a:xfrm>
            <a:off x="760145" y="2033787"/>
            <a:ext cx="2743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ACTIVITY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350BE97-2650-E4B9-FB21-3CAF65B39659}"/>
              </a:ext>
            </a:extLst>
          </p:cNvPr>
          <p:cNvSpPr/>
          <p:nvPr/>
        </p:nvSpPr>
        <p:spPr>
          <a:xfrm>
            <a:off x="3558210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AD7CFA-A9E6-F6A5-273F-EA3BEE13045A}"/>
              </a:ext>
            </a:extLst>
          </p:cNvPr>
          <p:cNvSpPr txBox="1"/>
          <p:nvPr/>
        </p:nvSpPr>
        <p:spPr>
          <a:xfrm>
            <a:off x="3558210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7145961-185F-F3E3-FFE9-8E1473C95135}"/>
              </a:ext>
            </a:extLst>
          </p:cNvPr>
          <p:cNvSpPr/>
          <p:nvPr/>
        </p:nvSpPr>
        <p:spPr>
          <a:xfrm>
            <a:off x="4326306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5668FE-2BEB-78FD-2CC7-EB790ED0276C}"/>
              </a:ext>
            </a:extLst>
          </p:cNvPr>
          <p:cNvSpPr txBox="1"/>
          <p:nvPr/>
        </p:nvSpPr>
        <p:spPr>
          <a:xfrm>
            <a:off x="4326306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BA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91D30E-F992-C6FB-78BF-9444160089FE}"/>
              </a:ext>
            </a:extLst>
          </p:cNvPr>
          <p:cNvSpPr/>
          <p:nvPr/>
        </p:nvSpPr>
        <p:spPr>
          <a:xfrm>
            <a:off x="5094402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862BE-5E1A-FB91-235A-B46183337323}"/>
              </a:ext>
            </a:extLst>
          </p:cNvPr>
          <p:cNvSpPr txBox="1"/>
          <p:nvPr/>
        </p:nvSpPr>
        <p:spPr>
          <a:xfrm>
            <a:off x="5094402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UI/UX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9D6507C-59B6-C47E-EF27-4A720547ADEF}"/>
              </a:ext>
            </a:extLst>
          </p:cNvPr>
          <p:cNvSpPr/>
          <p:nvPr/>
        </p:nvSpPr>
        <p:spPr>
          <a:xfrm>
            <a:off x="5862498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F4BE88-AB6B-412E-719C-7B8360776ECC}"/>
              </a:ext>
            </a:extLst>
          </p:cNvPr>
          <p:cNvSpPr txBox="1"/>
          <p:nvPr/>
        </p:nvSpPr>
        <p:spPr>
          <a:xfrm>
            <a:off x="5862498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8DE2527-17F4-B1B2-CE74-7D2925E5B409}"/>
              </a:ext>
            </a:extLst>
          </p:cNvPr>
          <p:cNvSpPr/>
          <p:nvPr/>
        </p:nvSpPr>
        <p:spPr>
          <a:xfrm>
            <a:off x="6630594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B3FE88-8D09-52F0-BDB7-9EFDB9AF5FB6}"/>
              </a:ext>
            </a:extLst>
          </p:cNvPr>
          <p:cNvSpPr txBox="1"/>
          <p:nvPr/>
        </p:nvSpPr>
        <p:spPr>
          <a:xfrm>
            <a:off x="6630594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134CFA1-C239-E346-2175-E5599C3D0176}"/>
              </a:ext>
            </a:extLst>
          </p:cNvPr>
          <p:cNvSpPr/>
          <p:nvPr/>
        </p:nvSpPr>
        <p:spPr>
          <a:xfrm>
            <a:off x="7398690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7BCAE0-10D2-F091-9FF0-C2C69F57FE2C}"/>
              </a:ext>
            </a:extLst>
          </p:cNvPr>
          <p:cNvSpPr txBox="1"/>
          <p:nvPr/>
        </p:nvSpPr>
        <p:spPr>
          <a:xfrm>
            <a:off x="7398690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AI/ML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49F7B34-1B22-A70C-3574-0D60F7E0F343}"/>
              </a:ext>
            </a:extLst>
          </p:cNvPr>
          <p:cNvSpPr/>
          <p:nvPr/>
        </p:nvSpPr>
        <p:spPr>
          <a:xfrm>
            <a:off x="8166786" y="2024643"/>
            <a:ext cx="768096" cy="310896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87ED7B-D721-D345-8FBE-0103FC07A8FB}"/>
              </a:ext>
            </a:extLst>
          </p:cNvPr>
          <p:cNvSpPr txBox="1"/>
          <p:nvPr/>
        </p:nvSpPr>
        <p:spPr>
          <a:xfrm>
            <a:off x="8166786" y="2033787"/>
            <a:ext cx="76809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QA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BAA4D5E-791D-6A85-EBC6-24C6141EFCEF}"/>
              </a:ext>
            </a:extLst>
          </p:cNvPr>
          <p:cNvSpPr/>
          <p:nvPr/>
        </p:nvSpPr>
        <p:spPr>
          <a:xfrm>
            <a:off x="8934882" y="2024643"/>
            <a:ext cx="841248" cy="310896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C7ACEB-AAFB-6A2E-1803-8E857AC803F3}"/>
              </a:ext>
            </a:extLst>
          </p:cNvPr>
          <p:cNvSpPr txBox="1"/>
          <p:nvPr/>
        </p:nvSpPr>
        <p:spPr>
          <a:xfrm>
            <a:off x="8934882" y="2033787"/>
            <a:ext cx="84124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TOTAL FTE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430972-8AEC-49F6-DBE6-89F0B064FFAE}"/>
              </a:ext>
            </a:extLst>
          </p:cNvPr>
          <p:cNvSpPr/>
          <p:nvPr/>
        </p:nvSpPr>
        <p:spPr>
          <a:xfrm>
            <a:off x="705282" y="2335538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D4F88B-6C9A-9125-64BA-67A57C34242C}"/>
              </a:ext>
            </a:extLst>
          </p:cNvPr>
          <p:cNvSpPr txBox="1"/>
          <p:nvPr/>
        </p:nvSpPr>
        <p:spPr>
          <a:xfrm>
            <a:off x="751002" y="2335538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Charter &amp; Kickoff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38D2F46-D5BA-F007-8C74-52920C0B68BC}"/>
              </a:ext>
            </a:extLst>
          </p:cNvPr>
          <p:cNvSpPr/>
          <p:nvPr/>
        </p:nvSpPr>
        <p:spPr>
          <a:xfrm>
            <a:off x="3558210" y="2335538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15133D-EC79-C81E-3A81-12743FC9A290}"/>
              </a:ext>
            </a:extLst>
          </p:cNvPr>
          <p:cNvSpPr txBox="1"/>
          <p:nvPr/>
        </p:nvSpPr>
        <p:spPr>
          <a:xfrm>
            <a:off x="3558210" y="233553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3C582FD-9E5A-B0F3-B891-F515B375AD3D}"/>
              </a:ext>
            </a:extLst>
          </p:cNvPr>
          <p:cNvSpPr/>
          <p:nvPr/>
        </p:nvSpPr>
        <p:spPr>
          <a:xfrm>
            <a:off x="4326306" y="2335538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104336-22A3-0909-AB67-387097108E50}"/>
              </a:ext>
            </a:extLst>
          </p:cNvPr>
          <p:cNvSpPr txBox="1"/>
          <p:nvPr/>
        </p:nvSpPr>
        <p:spPr>
          <a:xfrm>
            <a:off x="4326306" y="233553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A49306A-65AD-5632-C67E-98B1F4E9F86D}"/>
              </a:ext>
            </a:extLst>
          </p:cNvPr>
          <p:cNvSpPr/>
          <p:nvPr/>
        </p:nvSpPr>
        <p:spPr>
          <a:xfrm>
            <a:off x="5094402" y="233553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D190AB8-6685-ED7C-EBE3-982CDAC1FB90}"/>
              </a:ext>
            </a:extLst>
          </p:cNvPr>
          <p:cNvSpPr/>
          <p:nvPr/>
        </p:nvSpPr>
        <p:spPr>
          <a:xfrm>
            <a:off x="5862498" y="233553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FEFF213-DB16-C2BE-9739-D39F80B575C7}"/>
              </a:ext>
            </a:extLst>
          </p:cNvPr>
          <p:cNvSpPr/>
          <p:nvPr/>
        </p:nvSpPr>
        <p:spPr>
          <a:xfrm>
            <a:off x="6630594" y="233553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18E1BE7-5B66-32B2-13A7-3BD41CFFBDB3}"/>
              </a:ext>
            </a:extLst>
          </p:cNvPr>
          <p:cNvSpPr/>
          <p:nvPr/>
        </p:nvSpPr>
        <p:spPr>
          <a:xfrm>
            <a:off x="7398690" y="233553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78CC7E8-8822-C6B2-F0F1-373D735CABAA}"/>
              </a:ext>
            </a:extLst>
          </p:cNvPr>
          <p:cNvSpPr/>
          <p:nvPr/>
        </p:nvSpPr>
        <p:spPr>
          <a:xfrm>
            <a:off x="8166786" y="233553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700863B-77BF-5596-AB65-8D83DF04C9A0}"/>
              </a:ext>
            </a:extLst>
          </p:cNvPr>
          <p:cNvSpPr/>
          <p:nvPr/>
        </p:nvSpPr>
        <p:spPr>
          <a:xfrm>
            <a:off x="8934882" y="2335538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29FB8F-91AD-E111-812C-6034A1B2790E}"/>
              </a:ext>
            </a:extLst>
          </p:cNvPr>
          <p:cNvSpPr txBox="1"/>
          <p:nvPr/>
        </p:nvSpPr>
        <p:spPr>
          <a:xfrm>
            <a:off x="8934882" y="2335538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1.5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67872AB-964B-0A46-5286-64A90CBB089E}"/>
              </a:ext>
            </a:extLst>
          </p:cNvPr>
          <p:cNvSpPr/>
          <p:nvPr/>
        </p:nvSpPr>
        <p:spPr>
          <a:xfrm>
            <a:off x="705282" y="2522991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539B02-EA22-7679-0C28-872BFE354725}"/>
              </a:ext>
            </a:extLst>
          </p:cNvPr>
          <p:cNvSpPr txBox="1"/>
          <p:nvPr/>
        </p:nvSpPr>
        <p:spPr>
          <a:xfrm>
            <a:off x="751002" y="2522991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Stakeholder &amp; Planning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186E5EF4-231E-4145-FFD4-05BB1AEB8B0E}"/>
              </a:ext>
            </a:extLst>
          </p:cNvPr>
          <p:cNvSpPr/>
          <p:nvPr/>
        </p:nvSpPr>
        <p:spPr>
          <a:xfrm>
            <a:off x="3558210" y="2522991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346ACC-505F-7DA2-C99C-22D78262B633}"/>
              </a:ext>
            </a:extLst>
          </p:cNvPr>
          <p:cNvSpPr txBox="1"/>
          <p:nvPr/>
        </p:nvSpPr>
        <p:spPr>
          <a:xfrm>
            <a:off x="3558210" y="2522991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9E4807EE-CCC5-0E12-BC6C-A26A3503AB74}"/>
              </a:ext>
            </a:extLst>
          </p:cNvPr>
          <p:cNvSpPr/>
          <p:nvPr/>
        </p:nvSpPr>
        <p:spPr>
          <a:xfrm>
            <a:off x="4326306" y="2522991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88FCF6E-9968-F5BB-0AE2-4122E744F5F6}"/>
              </a:ext>
            </a:extLst>
          </p:cNvPr>
          <p:cNvSpPr txBox="1"/>
          <p:nvPr/>
        </p:nvSpPr>
        <p:spPr>
          <a:xfrm>
            <a:off x="4326306" y="2522991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11DD305-FB32-0FBD-CE4D-B25A2D37E7F8}"/>
              </a:ext>
            </a:extLst>
          </p:cNvPr>
          <p:cNvSpPr/>
          <p:nvPr/>
        </p:nvSpPr>
        <p:spPr>
          <a:xfrm>
            <a:off x="5094402" y="252299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47CF69D-B219-C17A-7695-1C2C97324F5C}"/>
              </a:ext>
            </a:extLst>
          </p:cNvPr>
          <p:cNvSpPr/>
          <p:nvPr/>
        </p:nvSpPr>
        <p:spPr>
          <a:xfrm>
            <a:off x="5862498" y="252299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44DABDB-93A2-033C-3342-840F639C47B7}"/>
              </a:ext>
            </a:extLst>
          </p:cNvPr>
          <p:cNvSpPr/>
          <p:nvPr/>
        </p:nvSpPr>
        <p:spPr>
          <a:xfrm>
            <a:off x="6630594" y="252299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F291364A-C3D5-A16B-256D-3426B17BFF99}"/>
              </a:ext>
            </a:extLst>
          </p:cNvPr>
          <p:cNvSpPr/>
          <p:nvPr/>
        </p:nvSpPr>
        <p:spPr>
          <a:xfrm>
            <a:off x="7398690" y="252299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DF2AD50F-64AE-165A-11FC-8C02175DA592}"/>
              </a:ext>
            </a:extLst>
          </p:cNvPr>
          <p:cNvSpPr/>
          <p:nvPr/>
        </p:nvSpPr>
        <p:spPr>
          <a:xfrm>
            <a:off x="8166786" y="252299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D48D41F-F2AB-B433-C524-90DA1C9C9861}"/>
              </a:ext>
            </a:extLst>
          </p:cNvPr>
          <p:cNvSpPr/>
          <p:nvPr/>
        </p:nvSpPr>
        <p:spPr>
          <a:xfrm>
            <a:off x="8934882" y="2522991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85FA2A-6218-E667-CAE2-4CA92BF77172}"/>
              </a:ext>
            </a:extLst>
          </p:cNvPr>
          <p:cNvSpPr txBox="1"/>
          <p:nvPr/>
        </p:nvSpPr>
        <p:spPr>
          <a:xfrm>
            <a:off x="8934882" y="2522991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1.5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34D77E22-264A-5934-2E68-E43F39C639E0}"/>
              </a:ext>
            </a:extLst>
          </p:cNvPr>
          <p:cNvSpPr/>
          <p:nvPr/>
        </p:nvSpPr>
        <p:spPr>
          <a:xfrm>
            <a:off x="705282" y="2710443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8E2F8C-D291-E044-FDB4-20407D6118B7}"/>
              </a:ext>
            </a:extLst>
          </p:cNvPr>
          <p:cNvSpPr txBox="1"/>
          <p:nvPr/>
        </p:nvSpPr>
        <p:spPr>
          <a:xfrm>
            <a:off x="751002" y="2710443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Requirement Gathering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FD86B219-C683-9622-A495-F7A57B2FE1A6}"/>
              </a:ext>
            </a:extLst>
          </p:cNvPr>
          <p:cNvSpPr/>
          <p:nvPr/>
        </p:nvSpPr>
        <p:spPr>
          <a:xfrm>
            <a:off x="3558210" y="2710443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A732E9-4DDD-E239-269C-F7C5B2B2DEB2}"/>
              </a:ext>
            </a:extLst>
          </p:cNvPr>
          <p:cNvSpPr txBox="1"/>
          <p:nvPr/>
        </p:nvSpPr>
        <p:spPr>
          <a:xfrm>
            <a:off x="3558210" y="2710443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52FD28C0-0F92-C758-4055-EEAA9F9C45B9}"/>
              </a:ext>
            </a:extLst>
          </p:cNvPr>
          <p:cNvSpPr/>
          <p:nvPr/>
        </p:nvSpPr>
        <p:spPr>
          <a:xfrm>
            <a:off x="4326306" y="2710443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DD853F-5023-C92C-4A3D-335D8C590E22}"/>
              </a:ext>
            </a:extLst>
          </p:cNvPr>
          <p:cNvSpPr txBox="1"/>
          <p:nvPr/>
        </p:nvSpPr>
        <p:spPr>
          <a:xfrm>
            <a:off x="4326306" y="2710443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5847B185-EF66-B31B-DDD0-0FDFF4A4FB6B}"/>
              </a:ext>
            </a:extLst>
          </p:cNvPr>
          <p:cNvSpPr/>
          <p:nvPr/>
        </p:nvSpPr>
        <p:spPr>
          <a:xfrm>
            <a:off x="5094402" y="2710443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CC887-C4E7-BABC-B300-87BE42E40AC2}"/>
              </a:ext>
            </a:extLst>
          </p:cNvPr>
          <p:cNvSpPr txBox="1"/>
          <p:nvPr/>
        </p:nvSpPr>
        <p:spPr>
          <a:xfrm>
            <a:off x="5094402" y="2710443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B17D42E1-46C7-E0E7-321F-2B68FC812A07}"/>
              </a:ext>
            </a:extLst>
          </p:cNvPr>
          <p:cNvSpPr/>
          <p:nvPr/>
        </p:nvSpPr>
        <p:spPr>
          <a:xfrm>
            <a:off x="5862498" y="271044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BF0D30F-759F-EF9B-3763-F1AF5408C8C7}"/>
              </a:ext>
            </a:extLst>
          </p:cNvPr>
          <p:cNvSpPr/>
          <p:nvPr/>
        </p:nvSpPr>
        <p:spPr>
          <a:xfrm>
            <a:off x="6630594" y="271044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A54FC8B1-E808-531E-11E1-6955BB5E2C7A}"/>
              </a:ext>
            </a:extLst>
          </p:cNvPr>
          <p:cNvSpPr/>
          <p:nvPr/>
        </p:nvSpPr>
        <p:spPr>
          <a:xfrm>
            <a:off x="7398690" y="271044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E916E93F-1DCE-8F45-1DF2-D7D57EA076A0}"/>
              </a:ext>
            </a:extLst>
          </p:cNvPr>
          <p:cNvSpPr/>
          <p:nvPr/>
        </p:nvSpPr>
        <p:spPr>
          <a:xfrm>
            <a:off x="8166786" y="271044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24AF4732-2E7B-8F96-2A6B-930E5489735F}"/>
              </a:ext>
            </a:extLst>
          </p:cNvPr>
          <p:cNvSpPr/>
          <p:nvPr/>
        </p:nvSpPr>
        <p:spPr>
          <a:xfrm>
            <a:off x="8934882" y="2710443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38DAFE-3301-458E-2947-5B6FC2D07837}"/>
              </a:ext>
            </a:extLst>
          </p:cNvPr>
          <p:cNvSpPr txBox="1"/>
          <p:nvPr/>
        </p:nvSpPr>
        <p:spPr>
          <a:xfrm>
            <a:off x="8934882" y="2710443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1.7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66FC629D-71F6-3C91-92F2-2D697D3BC457}"/>
              </a:ext>
            </a:extLst>
          </p:cNvPr>
          <p:cNvSpPr/>
          <p:nvPr/>
        </p:nvSpPr>
        <p:spPr>
          <a:xfrm>
            <a:off x="705282" y="2897895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A971AA-6F93-0DAC-CDB8-B15CE4C9A10B}"/>
              </a:ext>
            </a:extLst>
          </p:cNvPr>
          <p:cNvSpPr txBox="1"/>
          <p:nvPr/>
        </p:nvSpPr>
        <p:spPr>
          <a:xfrm>
            <a:off x="751002" y="2897895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Architecture &amp; Tech Stack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52A9B248-1626-4D47-990B-AE3E2E038653}"/>
              </a:ext>
            </a:extLst>
          </p:cNvPr>
          <p:cNvSpPr/>
          <p:nvPr/>
        </p:nvSpPr>
        <p:spPr>
          <a:xfrm>
            <a:off x="3558210" y="2897895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3C4DEEF-DF53-1821-A59F-A1DC830F32B1}"/>
              </a:ext>
            </a:extLst>
          </p:cNvPr>
          <p:cNvSpPr txBox="1"/>
          <p:nvPr/>
        </p:nvSpPr>
        <p:spPr>
          <a:xfrm>
            <a:off x="3558210" y="2897895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E01335FD-506F-FE84-2CA0-A2737780E7A5}"/>
              </a:ext>
            </a:extLst>
          </p:cNvPr>
          <p:cNvSpPr/>
          <p:nvPr/>
        </p:nvSpPr>
        <p:spPr>
          <a:xfrm>
            <a:off x="4326306" y="289789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1EBAD313-E7D3-C934-15B1-4AEFAD55792A}"/>
              </a:ext>
            </a:extLst>
          </p:cNvPr>
          <p:cNvSpPr/>
          <p:nvPr/>
        </p:nvSpPr>
        <p:spPr>
          <a:xfrm>
            <a:off x="5094402" y="288942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722A871-9068-5C4B-CB4E-0FDC977C34D4}"/>
              </a:ext>
            </a:extLst>
          </p:cNvPr>
          <p:cNvSpPr/>
          <p:nvPr/>
        </p:nvSpPr>
        <p:spPr>
          <a:xfrm>
            <a:off x="5862498" y="2897895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5828CB-8CA3-956A-16C5-E3ABB7DC5852}"/>
              </a:ext>
            </a:extLst>
          </p:cNvPr>
          <p:cNvSpPr txBox="1"/>
          <p:nvPr/>
        </p:nvSpPr>
        <p:spPr>
          <a:xfrm>
            <a:off x="5862498" y="2897895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3CE2815D-20EB-E04A-064C-14FA715C417F}"/>
              </a:ext>
            </a:extLst>
          </p:cNvPr>
          <p:cNvSpPr/>
          <p:nvPr/>
        </p:nvSpPr>
        <p:spPr>
          <a:xfrm>
            <a:off x="6630594" y="2897895"/>
            <a:ext cx="768096" cy="187452"/>
          </a:xfrm>
          <a:prstGeom prst="roundRect">
            <a:avLst/>
          </a:prstGeom>
          <a:solidFill>
            <a:srgbClr val="77BCBC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A146433-9742-2E1E-2C14-8DDAD16E9E15}"/>
              </a:ext>
            </a:extLst>
          </p:cNvPr>
          <p:cNvSpPr txBox="1"/>
          <p:nvPr/>
        </p:nvSpPr>
        <p:spPr>
          <a:xfrm>
            <a:off x="6630594" y="2897895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0.8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AF6FAF0A-7342-1203-1A24-2EC47576EEBF}"/>
              </a:ext>
            </a:extLst>
          </p:cNvPr>
          <p:cNvSpPr/>
          <p:nvPr/>
        </p:nvSpPr>
        <p:spPr>
          <a:xfrm>
            <a:off x="7398690" y="289789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EAAE646A-24E0-FC89-0C82-094329BD943B}"/>
              </a:ext>
            </a:extLst>
          </p:cNvPr>
          <p:cNvSpPr/>
          <p:nvPr/>
        </p:nvSpPr>
        <p:spPr>
          <a:xfrm>
            <a:off x="8166786" y="289789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41AB0FD1-BB1F-1923-24B4-53E787F7B394}"/>
              </a:ext>
            </a:extLst>
          </p:cNvPr>
          <p:cNvSpPr/>
          <p:nvPr/>
        </p:nvSpPr>
        <p:spPr>
          <a:xfrm>
            <a:off x="8934882" y="2897895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BD6406-8513-E6E0-8234-9D682861CFAD}"/>
              </a:ext>
            </a:extLst>
          </p:cNvPr>
          <p:cNvSpPr txBox="1"/>
          <p:nvPr/>
        </p:nvSpPr>
        <p:spPr>
          <a:xfrm>
            <a:off x="8934882" y="2897895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1.3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567A961B-981D-8284-4590-14F79EF13E51}"/>
              </a:ext>
            </a:extLst>
          </p:cNvPr>
          <p:cNvSpPr/>
          <p:nvPr/>
        </p:nvSpPr>
        <p:spPr>
          <a:xfrm>
            <a:off x="705282" y="3085346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F0AF408-EBE6-9E3A-B83F-4F73FC5699E9}"/>
              </a:ext>
            </a:extLst>
          </p:cNvPr>
          <p:cNvSpPr txBox="1"/>
          <p:nvPr/>
        </p:nvSpPr>
        <p:spPr>
          <a:xfrm>
            <a:off x="751002" y="3085346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UX Wireframing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DD4456BA-932B-4EE7-FF6E-A15C4561611E}"/>
              </a:ext>
            </a:extLst>
          </p:cNvPr>
          <p:cNvSpPr/>
          <p:nvPr/>
        </p:nvSpPr>
        <p:spPr>
          <a:xfrm>
            <a:off x="3558210" y="308534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931FE60D-F7FB-F0A3-D55F-2AE7E4218366}"/>
              </a:ext>
            </a:extLst>
          </p:cNvPr>
          <p:cNvSpPr/>
          <p:nvPr/>
        </p:nvSpPr>
        <p:spPr>
          <a:xfrm>
            <a:off x="4326306" y="3085346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3FCFB91-4343-18E2-75AD-319228BC8EAC}"/>
              </a:ext>
            </a:extLst>
          </p:cNvPr>
          <p:cNvSpPr txBox="1"/>
          <p:nvPr/>
        </p:nvSpPr>
        <p:spPr>
          <a:xfrm>
            <a:off x="4326306" y="308534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DA22A004-E808-30AE-6803-541FEDA9C65D}"/>
              </a:ext>
            </a:extLst>
          </p:cNvPr>
          <p:cNvSpPr/>
          <p:nvPr/>
        </p:nvSpPr>
        <p:spPr>
          <a:xfrm>
            <a:off x="5094402" y="3085346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D176BB1-1094-3DED-01E0-D853AD7302B0}"/>
              </a:ext>
            </a:extLst>
          </p:cNvPr>
          <p:cNvSpPr txBox="1"/>
          <p:nvPr/>
        </p:nvSpPr>
        <p:spPr>
          <a:xfrm>
            <a:off x="5094402" y="308534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07FF5C67-6852-5031-5CAA-470849C2CBA8}"/>
              </a:ext>
            </a:extLst>
          </p:cNvPr>
          <p:cNvSpPr/>
          <p:nvPr/>
        </p:nvSpPr>
        <p:spPr>
          <a:xfrm>
            <a:off x="5862498" y="308534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0E309C8F-77A1-B99D-D51D-F41AA0B01457}"/>
              </a:ext>
            </a:extLst>
          </p:cNvPr>
          <p:cNvSpPr/>
          <p:nvPr/>
        </p:nvSpPr>
        <p:spPr>
          <a:xfrm>
            <a:off x="6630594" y="308534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961FD68C-18C5-E6AD-8DEC-96980CCF9A1A}"/>
              </a:ext>
            </a:extLst>
          </p:cNvPr>
          <p:cNvSpPr/>
          <p:nvPr/>
        </p:nvSpPr>
        <p:spPr>
          <a:xfrm>
            <a:off x="7398690" y="308534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8C7FC7C9-9A70-BAD6-6F44-795AEB91CF44}"/>
              </a:ext>
            </a:extLst>
          </p:cNvPr>
          <p:cNvSpPr/>
          <p:nvPr/>
        </p:nvSpPr>
        <p:spPr>
          <a:xfrm>
            <a:off x="8166786" y="308534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C9891BB-67C8-17F1-E1E0-BFB6C8F186A3}"/>
              </a:ext>
            </a:extLst>
          </p:cNvPr>
          <p:cNvSpPr/>
          <p:nvPr/>
        </p:nvSpPr>
        <p:spPr>
          <a:xfrm>
            <a:off x="8934882" y="3085346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5A0552D-FFBC-BE88-DBBD-65429C6912B0}"/>
              </a:ext>
            </a:extLst>
          </p:cNvPr>
          <p:cNvSpPr txBox="1"/>
          <p:nvPr/>
        </p:nvSpPr>
        <p:spPr>
          <a:xfrm>
            <a:off x="8934882" y="3085346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1.2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E9723555-5B64-D2F0-5913-4E4D081960D7}"/>
              </a:ext>
            </a:extLst>
          </p:cNvPr>
          <p:cNvSpPr/>
          <p:nvPr/>
        </p:nvSpPr>
        <p:spPr>
          <a:xfrm>
            <a:off x="705282" y="3272798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FD8CDF2-85DB-4F2C-274A-342C9285829D}"/>
              </a:ext>
            </a:extLst>
          </p:cNvPr>
          <p:cNvSpPr txBox="1"/>
          <p:nvPr/>
        </p:nvSpPr>
        <p:spPr>
          <a:xfrm>
            <a:off x="751002" y="3272798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Hi-Fi UI Design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C45A8B0A-9B9F-0AC0-0F2E-63EDD358F444}"/>
              </a:ext>
            </a:extLst>
          </p:cNvPr>
          <p:cNvSpPr/>
          <p:nvPr/>
        </p:nvSpPr>
        <p:spPr>
          <a:xfrm>
            <a:off x="3558210" y="3272798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77BC00E-456E-642E-9F8A-7950C63A0F78}"/>
              </a:ext>
            </a:extLst>
          </p:cNvPr>
          <p:cNvSpPr txBox="1"/>
          <p:nvPr/>
        </p:nvSpPr>
        <p:spPr>
          <a:xfrm>
            <a:off x="3558210" y="327279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6599016A-FCE1-C4B1-9D16-1D42DCA9A414}"/>
              </a:ext>
            </a:extLst>
          </p:cNvPr>
          <p:cNvSpPr/>
          <p:nvPr/>
        </p:nvSpPr>
        <p:spPr>
          <a:xfrm>
            <a:off x="4326306" y="327279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BFB86CF1-4B27-8796-D37A-356CC2A53711}"/>
              </a:ext>
            </a:extLst>
          </p:cNvPr>
          <p:cNvSpPr/>
          <p:nvPr/>
        </p:nvSpPr>
        <p:spPr>
          <a:xfrm>
            <a:off x="5094402" y="3272798"/>
            <a:ext cx="768096" cy="187452"/>
          </a:xfrm>
          <a:prstGeom prst="roundRect">
            <a:avLst/>
          </a:prstGeom>
          <a:solidFill>
            <a:srgbClr val="77BCBC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D3C6C37-384B-90EB-EAEA-693F60328831}"/>
              </a:ext>
            </a:extLst>
          </p:cNvPr>
          <p:cNvSpPr txBox="1"/>
          <p:nvPr/>
        </p:nvSpPr>
        <p:spPr>
          <a:xfrm>
            <a:off x="5094402" y="327279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0.8</a:t>
            </a:r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604DDAA8-6B06-7308-7A94-77A80273F892}"/>
              </a:ext>
            </a:extLst>
          </p:cNvPr>
          <p:cNvSpPr/>
          <p:nvPr/>
        </p:nvSpPr>
        <p:spPr>
          <a:xfrm>
            <a:off x="5862498" y="3272798"/>
            <a:ext cx="768096" cy="187452"/>
          </a:xfrm>
          <a:prstGeom prst="roundRect">
            <a:avLst/>
          </a:prstGeom>
          <a:solidFill>
            <a:srgbClr val="77BCBC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1ED5704-680A-5A95-388B-3BDEC62B8DBD}"/>
              </a:ext>
            </a:extLst>
          </p:cNvPr>
          <p:cNvSpPr txBox="1"/>
          <p:nvPr/>
        </p:nvSpPr>
        <p:spPr>
          <a:xfrm>
            <a:off x="5862498" y="327279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0.8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EE28B929-34A3-E78D-C801-0F89D9D8965C}"/>
              </a:ext>
            </a:extLst>
          </p:cNvPr>
          <p:cNvSpPr/>
          <p:nvPr/>
        </p:nvSpPr>
        <p:spPr>
          <a:xfrm>
            <a:off x="6630594" y="327279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EA5CFDD1-E016-62AC-BC4C-1E6ECD6BB63B}"/>
              </a:ext>
            </a:extLst>
          </p:cNvPr>
          <p:cNvSpPr/>
          <p:nvPr/>
        </p:nvSpPr>
        <p:spPr>
          <a:xfrm>
            <a:off x="7398690" y="327279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E071789F-AD12-CA4A-172D-55922ED3187B}"/>
              </a:ext>
            </a:extLst>
          </p:cNvPr>
          <p:cNvSpPr/>
          <p:nvPr/>
        </p:nvSpPr>
        <p:spPr>
          <a:xfrm>
            <a:off x="8166786" y="327279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1A3D0C73-D6AF-DCEC-5C4F-483108358337}"/>
              </a:ext>
            </a:extLst>
          </p:cNvPr>
          <p:cNvSpPr/>
          <p:nvPr/>
        </p:nvSpPr>
        <p:spPr>
          <a:xfrm>
            <a:off x="8934882" y="3272798"/>
            <a:ext cx="841248" cy="187452"/>
          </a:xfrm>
          <a:prstGeom prst="roundRect">
            <a:avLst/>
          </a:prstGeom>
          <a:solidFill>
            <a:srgbClr val="FDECEA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E6272D3-E895-76D4-C74B-AB1FA0D9EB08}"/>
              </a:ext>
            </a:extLst>
          </p:cNvPr>
          <p:cNvSpPr txBox="1"/>
          <p:nvPr/>
        </p:nvSpPr>
        <p:spPr>
          <a:xfrm>
            <a:off x="8934882" y="3272798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B93F3B"/>
                </a:solidFill>
                <a:latin typeface="Aptos"/>
              </a:rPr>
              <a:t>1.8</a:t>
            </a:r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291AEAE0-DE01-7222-8129-816E491BF704}"/>
              </a:ext>
            </a:extLst>
          </p:cNvPr>
          <p:cNvSpPr/>
          <p:nvPr/>
        </p:nvSpPr>
        <p:spPr>
          <a:xfrm>
            <a:off x="705282" y="3460251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CF15CC-7600-D60D-19FA-5BA898F4C34F}"/>
              </a:ext>
            </a:extLst>
          </p:cNvPr>
          <p:cNvSpPr txBox="1"/>
          <p:nvPr/>
        </p:nvSpPr>
        <p:spPr>
          <a:xfrm>
            <a:off x="751002" y="3460251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Backend Core Setup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489945E1-6C67-3F57-FD10-02C2C2FCA509}"/>
              </a:ext>
            </a:extLst>
          </p:cNvPr>
          <p:cNvSpPr/>
          <p:nvPr/>
        </p:nvSpPr>
        <p:spPr>
          <a:xfrm>
            <a:off x="3558210" y="3460251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DFAFA9D-3084-31E0-ECF7-9E5F4442F642}"/>
              </a:ext>
            </a:extLst>
          </p:cNvPr>
          <p:cNvSpPr txBox="1"/>
          <p:nvPr/>
        </p:nvSpPr>
        <p:spPr>
          <a:xfrm>
            <a:off x="3558210" y="3460251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40535F0E-4EFD-8275-6A36-865CF40E3D08}"/>
              </a:ext>
            </a:extLst>
          </p:cNvPr>
          <p:cNvSpPr/>
          <p:nvPr/>
        </p:nvSpPr>
        <p:spPr>
          <a:xfrm>
            <a:off x="4326306" y="346025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FD72FC7C-CF89-6B8E-7A1D-DBC9E004F0FB}"/>
              </a:ext>
            </a:extLst>
          </p:cNvPr>
          <p:cNvSpPr/>
          <p:nvPr/>
        </p:nvSpPr>
        <p:spPr>
          <a:xfrm>
            <a:off x="5094402" y="346025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0E615A39-6814-EB05-F49A-EF37BABEFB8E}"/>
              </a:ext>
            </a:extLst>
          </p:cNvPr>
          <p:cNvSpPr/>
          <p:nvPr/>
        </p:nvSpPr>
        <p:spPr>
          <a:xfrm>
            <a:off x="5862498" y="3460251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E999E9-BD16-5F68-8B9F-8240A658556E}"/>
              </a:ext>
            </a:extLst>
          </p:cNvPr>
          <p:cNvSpPr txBox="1"/>
          <p:nvPr/>
        </p:nvSpPr>
        <p:spPr>
          <a:xfrm>
            <a:off x="5862498" y="3460251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99A517C8-DA7D-42C6-34BE-8C74685F38D4}"/>
              </a:ext>
            </a:extLst>
          </p:cNvPr>
          <p:cNvSpPr/>
          <p:nvPr/>
        </p:nvSpPr>
        <p:spPr>
          <a:xfrm>
            <a:off x="6630594" y="3460251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439C898-C9C9-B0A9-DFC5-8C167A228CBA}"/>
              </a:ext>
            </a:extLst>
          </p:cNvPr>
          <p:cNvSpPr txBox="1"/>
          <p:nvPr/>
        </p:nvSpPr>
        <p:spPr>
          <a:xfrm>
            <a:off x="6630594" y="3460251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F9C44E01-931D-0863-82E5-47D03C986C71}"/>
              </a:ext>
            </a:extLst>
          </p:cNvPr>
          <p:cNvSpPr/>
          <p:nvPr/>
        </p:nvSpPr>
        <p:spPr>
          <a:xfrm>
            <a:off x="7398690" y="346025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62996EEB-9545-FCBB-FF30-3E6F86F8F3CC}"/>
              </a:ext>
            </a:extLst>
          </p:cNvPr>
          <p:cNvSpPr/>
          <p:nvPr/>
        </p:nvSpPr>
        <p:spPr>
          <a:xfrm>
            <a:off x="8166786" y="3460251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E1A47C62-A6E2-5DC9-7318-B3250FCFFE7D}"/>
              </a:ext>
            </a:extLst>
          </p:cNvPr>
          <p:cNvSpPr/>
          <p:nvPr/>
        </p:nvSpPr>
        <p:spPr>
          <a:xfrm>
            <a:off x="8934882" y="3460251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3CFFAB9-9CC6-20A6-7951-B0F5F2F75548}"/>
              </a:ext>
            </a:extLst>
          </p:cNvPr>
          <p:cNvSpPr txBox="1"/>
          <p:nvPr/>
        </p:nvSpPr>
        <p:spPr>
          <a:xfrm>
            <a:off x="8934882" y="3460251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1.4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BFEA4BBD-7DAE-E98C-2795-ADE0051D3922}"/>
              </a:ext>
            </a:extLst>
          </p:cNvPr>
          <p:cNvSpPr/>
          <p:nvPr/>
        </p:nvSpPr>
        <p:spPr>
          <a:xfrm>
            <a:off x="705282" y="3647702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00C87E8-AC31-EF0E-9E4B-C2FB94902E72}"/>
              </a:ext>
            </a:extLst>
          </p:cNvPr>
          <p:cNvSpPr txBox="1"/>
          <p:nvPr/>
        </p:nvSpPr>
        <p:spPr>
          <a:xfrm>
            <a:off x="751002" y="3647702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Frontend Core Setup</a:t>
            </a:r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E6F6FDB5-2850-C762-C5DF-27D51192906A}"/>
              </a:ext>
            </a:extLst>
          </p:cNvPr>
          <p:cNvSpPr/>
          <p:nvPr/>
        </p:nvSpPr>
        <p:spPr>
          <a:xfrm>
            <a:off x="3558210" y="3647702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2CCF5AF-BFD4-B88D-3C32-F897D01D9613}"/>
              </a:ext>
            </a:extLst>
          </p:cNvPr>
          <p:cNvSpPr txBox="1"/>
          <p:nvPr/>
        </p:nvSpPr>
        <p:spPr>
          <a:xfrm>
            <a:off x="3558210" y="364770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E50A5596-5325-B7F5-9A35-A71CD614D36C}"/>
              </a:ext>
            </a:extLst>
          </p:cNvPr>
          <p:cNvSpPr/>
          <p:nvPr/>
        </p:nvSpPr>
        <p:spPr>
          <a:xfrm>
            <a:off x="4326306" y="364770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4774C8DD-A553-5DC1-C47B-675FFA4BA68D}"/>
              </a:ext>
            </a:extLst>
          </p:cNvPr>
          <p:cNvSpPr/>
          <p:nvPr/>
        </p:nvSpPr>
        <p:spPr>
          <a:xfrm>
            <a:off x="5094402" y="364770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20D2A0F2-C4D6-B863-CBBD-F13168E1972B}"/>
              </a:ext>
            </a:extLst>
          </p:cNvPr>
          <p:cNvSpPr/>
          <p:nvPr/>
        </p:nvSpPr>
        <p:spPr>
          <a:xfrm>
            <a:off x="5862498" y="3647702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633276C-4C7A-2BD3-30BE-5920E6391CF9}"/>
              </a:ext>
            </a:extLst>
          </p:cNvPr>
          <p:cNvSpPr txBox="1"/>
          <p:nvPr/>
        </p:nvSpPr>
        <p:spPr>
          <a:xfrm>
            <a:off x="5862498" y="364770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0.9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F0117182-7A62-DDCE-3915-65E0A72602B9}"/>
              </a:ext>
            </a:extLst>
          </p:cNvPr>
          <p:cNvSpPr/>
          <p:nvPr/>
        </p:nvSpPr>
        <p:spPr>
          <a:xfrm>
            <a:off x="6630594" y="3647702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9A0B46F-2AA8-A87A-08E3-8906719DC6B3}"/>
              </a:ext>
            </a:extLst>
          </p:cNvPr>
          <p:cNvSpPr txBox="1"/>
          <p:nvPr/>
        </p:nvSpPr>
        <p:spPr>
          <a:xfrm>
            <a:off x="6630594" y="364770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0.4</a:t>
            </a:r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C40633F1-CCBD-07B5-EE7F-70B98ED3403D}"/>
              </a:ext>
            </a:extLst>
          </p:cNvPr>
          <p:cNvSpPr/>
          <p:nvPr/>
        </p:nvSpPr>
        <p:spPr>
          <a:xfrm>
            <a:off x="7398690" y="364770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0BFA3692-FE92-37E2-3473-C1E91504404A}"/>
              </a:ext>
            </a:extLst>
          </p:cNvPr>
          <p:cNvSpPr/>
          <p:nvPr/>
        </p:nvSpPr>
        <p:spPr>
          <a:xfrm>
            <a:off x="8166786" y="364770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29C2FA90-B4A4-AE04-1691-7BF46EE90351}"/>
              </a:ext>
            </a:extLst>
          </p:cNvPr>
          <p:cNvSpPr/>
          <p:nvPr/>
        </p:nvSpPr>
        <p:spPr>
          <a:xfrm>
            <a:off x="8934882" y="3647702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D5B3AA7-B3AA-4B39-EC2C-94237AF0A462}"/>
              </a:ext>
            </a:extLst>
          </p:cNvPr>
          <p:cNvSpPr txBox="1"/>
          <p:nvPr/>
        </p:nvSpPr>
        <p:spPr>
          <a:xfrm>
            <a:off x="8934882" y="3647702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1.4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4B4EAEB3-1949-3733-918E-FE21AB49CF5B}"/>
              </a:ext>
            </a:extLst>
          </p:cNvPr>
          <p:cNvSpPr/>
          <p:nvPr/>
        </p:nvSpPr>
        <p:spPr>
          <a:xfrm>
            <a:off x="705282" y="3835154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CA1B791-6931-510E-E3E9-F8A49B63D539}"/>
              </a:ext>
            </a:extLst>
          </p:cNvPr>
          <p:cNvSpPr txBox="1"/>
          <p:nvPr/>
        </p:nvSpPr>
        <p:spPr>
          <a:xfrm>
            <a:off x="751002" y="3835154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AI: Resume Analyzer / JD Simplifier</a:t>
            </a: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703046EA-6280-90D5-E9DF-366D4103D7D3}"/>
              </a:ext>
            </a:extLst>
          </p:cNvPr>
          <p:cNvSpPr/>
          <p:nvPr/>
        </p:nvSpPr>
        <p:spPr>
          <a:xfrm>
            <a:off x="3558210" y="3835154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0CCA94C-9BAA-B883-10CF-2892730B1546}"/>
              </a:ext>
            </a:extLst>
          </p:cNvPr>
          <p:cNvSpPr txBox="1"/>
          <p:nvPr/>
        </p:nvSpPr>
        <p:spPr>
          <a:xfrm>
            <a:off x="3558210" y="383515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F08480B5-53BE-BD18-6F17-6356E0188323}"/>
              </a:ext>
            </a:extLst>
          </p:cNvPr>
          <p:cNvSpPr/>
          <p:nvPr/>
        </p:nvSpPr>
        <p:spPr>
          <a:xfrm>
            <a:off x="4326306" y="383515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027EE128-58B6-0E13-DE96-93747E728231}"/>
              </a:ext>
            </a:extLst>
          </p:cNvPr>
          <p:cNvSpPr/>
          <p:nvPr/>
        </p:nvSpPr>
        <p:spPr>
          <a:xfrm>
            <a:off x="5094402" y="383515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82B64634-A077-D56C-F78A-BB695DEC1FB6}"/>
              </a:ext>
            </a:extLst>
          </p:cNvPr>
          <p:cNvSpPr/>
          <p:nvPr/>
        </p:nvSpPr>
        <p:spPr>
          <a:xfrm>
            <a:off x="5862498" y="3835154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46F95E6-CE56-29EF-A2D9-F3ABF46A8496}"/>
              </a:ext>
            </a:extLst>
          </p:cNvPr>
          <p:cNvSpPr txBox="1"/>
          <p:nvPr/>
        </p:nvSpPr>
        <p:spPr>
          <a:xfrm>
            <a:off x="5862498" y="383515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0.4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B0BAF72A-D7E7-CB8D-0495-F52DBD05FE88}"/>
              </a:ext>
            </a:extLst>
          </p:cNvPr>
          <p:cNvSpPr/>
          <p:nvPr/>
        </p:nvSpPr>
        <p:spPr>
          <a:xfrm>
            <a:off x="6630594" y="3835154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16142B44-C6B1-9020-18DB-DA27EE4579AB}"/>
              </a:ext>
            </a:extLst>
          </p:cNvPr>
          <p:cNvSpPr txBox="1"/>
          <p:nvPr/>
        </p:nvSpPr>
        <p:spPr>
          <a:xfrm>
            <a:off x="6630594" y="383515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BDB23E66-FFCC-CE3B-7025-B9DC5C91A5B4}"/>
              </a:ext>
            </a:extLst>
          </p:cNvPr>
          <p:cNvSpPr/>
          <p:nvPr/>
        </p:nvSpPr>
        <p:spPr>
          <a:xfrm>
            <a:off x="7398690" y="3835154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DA02136-C4AE-0B4E-1217-72DE21E95CBA}"/>
              </a:ext>
            </a:extLst>
          </p:cNvPr>
          <p:cNvSpPr txBox="1"/>
          <p:nvPr/>
        </p:nvSpPr>
        <p:spPr>
          <a:xfrm>
            <a:off x="7398690" y="383515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88EA8381-3A1D-A2DC-08C5-FE0F9501F0E8}"/>
              </a:ext>
            </a:extLst>
          </p:cNvPr>
          <p:cNvSpPr/>
          <p:nvPr/>
        </p:nvSpPr>
        <p:spPr>
          <a:xfrm>
            <a:off x="8166786" y="383515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2E5BC77C-CB30-6481-A419-12C119E99D8F}"/>
              </a:ext>
            </a:extLst>
          </p:cNvPr>
          <p:cNvSpPr/>
          <p:nvPr/>
        </p:nvSpPr>
        <p:spPr>
          <a:xfrm>
            <a:off x="8934882" y="3835154"/>
            <a:ext cx="841248" cy="187452"/>
          </a:xfrm>
          <a:prstGeom prst="roundRect">
            <a:avLst/>
          </a:prstGeom>
          <a:solidFill>
            <a:srgbClr val="FDECEA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BC9CF84-5B81-2B69-3FDF-FD52BC2FB397}"/>
              </a:ext>
            </a:extLst>
          </p:cNvPr>
          <p:cNvSpPr txBox="1"/>
          <p:nvPr/>
        </p:nvSpPr>
        <p:spPr>
          <a:xfrm>
            <a:off x="8934882" y="3835154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B93F3B"/>
                </a:solidFill>
                <a:latin typeface="Aptos"/>
              </a:rPr>
              <a:t>1.8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EEB6B592-C606-0C91-4009-605363D9ADAF}"/>
              </a:ext>
            </a:extLst>
          </p:cNvPr>
          <p:cNvSpPr/>
          <p:nvPr/>
        </p:nvSpPr>
        <p:spPr>
          <a:xfrm>
            <a:off x="705282" y="4022606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380A5DF-1938-011B-B740-0B2482A47D43}"/>
              </a:ext>
            </a:extLst>
          </p:cNvPr>
          <p:cNvSpPr txBox="1"/>
          <p:nvPr/>
        </p:nvSpPr>
        <p:spPr>
          <a:xfrm>
            <a:off x="751002" y="4022606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AI: Matching Score / ATS Checker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82004832-B9EC-028F-AE40-FCFDBB005C64}"/>
              </a:ext>
            </a:extLst>
          </p:cNvPr>
          <p:cNvSpPr/>
          <p:nvPr/>
        </p:nvSpPr>
        <p:spPr>
          <a:xfrm>
            <a:off x="3558210" y="4022606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B8A01C9-0484-0C32-E72C-2A9D2FB8C85F}"/>
              </a:ext>
            </a:extLst>
          </p:cNvPr>
          <p:cNvSpPr txBox="1"/>
          <p:nvPr/>
        </p:nvSpPr>
        <p:spPr>
          <a:xfrm>
            <a:off x="3558210" y="402260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BD57CF30-AB47-10DD-AE68-0087EB7EAB6B}"/>
              </a:ext>
            </a:extLst>
          </p:cNvPr>
          <p:cNvSpPr/>
          <p:nvPr/>
        </p:nvSpPr>
        <p:spPr>
          <a:xfrm>
            <a:off x="4326306" y="402260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A437289E-2AE0-7183-B517-5AFD3C47CA80}"/>
              </a:ext>
            </a:extLst>
          </p:cNvPr>
          <p:cNvSpPr/>
          <p:nvPr/>
        </p:nvSpPr>
        <p:spPr>
          <a:xfrm>
            <a:off x="5094402" y="402260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DFE93DC3-3B04-A232-72C1-66BCE1CE406D}"/>
              </a:ext>
            </a:extLst>
          </p:cNvPr>
          <p:cNvSpPr/>
          <p:nvPr/>
        </p:nvSpPr>
        <p:spPr>
          <a:xfrm>
            <a:off x="5862498" y="4022606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1F2C8B9-324D-EB83-DCA4-3AF122F8D005}"/>
              </a:ext>
            </a:extLst>
          </p:cNvPr>
          <p:cNvSpPr txBox="1"/>
          <p:nvPr/>
        </p:nvSpPr>
        <p:spPr>
          <a:xfrm>
            <a:off x="5862498" y="402260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05FB0AB-6001-04FB-E107-CDFB37785FB9}"/>
              </a:ext>
            </a:extLst>
          </p:cNvPr>
          <p:cNvSpPr/>
          <p:nvPr/>
        </p:nvSpPr>
        <p:spPr>
          <a:xfrm>
            <a:off x="6630594" y="4022606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3E39F0CD-4CF9-5E60-3B2C-4D94311E36F1}"/>
              </a:ext>
            </a:extLst>
          </p:cNvPr>
          <p:cNvSpPr txBox="1"/>
          <p:nvPr/>
        </p:nvSpPr>
        <p:spPr>
          <a:xfrm>
            <a:off x="6630594" y="402260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A57A61EB-9B41-FE8A-838F-E892C6FAFC79}"/>
              </a:ext>
            </a:extLst>
          </p:cNvPr>
          <p:cNvSpPr/>
          <p:nvPr/>
        </p:nvSpPr>
        <p:spPr>
          <a:xfrm>
            <a:off x="7398690" y="4022606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E5B238D-D531-2B01-796B-60DF1D13D0E9}"/>
              </a:ext>
            </a:extLst>
          </p:cNvPr>
          <p:cNvSpPr txBox="1"/>
          <p:nvPr/>
        </p:nvSpPr>
        <p:spPr>
          <a:xfrm>
            <a:off x="7398690" y="402260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5F8B987-8FCA-D660-41A4-50F692C5F78E}"/>
              </a:ext>
            </a:extLst>
          </p:cNvPr>
          <p:cNvSpPr/>
          <p:nvPr/>
        </p:nvSpPr>
        <p:spPr>
          <a:xfrm>
            <a:off x="8166786" y="402260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E3BE41E2-BB6E-F8BE-6D88-3CD9EA9F114E}"/>
              </a:ext>
            </a:extLst>
          </p:cNvPr>
          <p:cNvSpPr/>
          <p:nvPr/>
        </p:nvSpPr>
        <p:spPr>
          <a:xfrm>
            <a:off x="8934882" y="4022606"/>
            <a:ext cx="841248" cy="187452"/>
          </a:xfrm>
          <a:prstGeom prst="roundRect">
            <a:avLst/>
          </a:prstGeom>
          <a:solidFill>
            <a:srgbClr val="FDECEA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E162F75-30E1-0F00-AAA2-2535809548A6}"/>
              </a:ext>
            </a:extLst>
          </p:cNvPr>
          <p:cNvSpPr txBox="1"/>
          <p:nvPr/>
        </p:nvSpPr>
        <p:spPr>
          <a:xfrm>
            <a:off x="8934882" y="4022606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B93F3B"/>
                </a:solidFill>
                <a:latin typeface="Aptos"/>
              </a:rPr>
              <a:t>1.8</a:t>
            </a:r>
          </a:p>
        </p:txBody>
      </p:sp>
      <p:sp>
        <p:nvSpPr>
          <p:cNvPr id="173" name="Rounded Rectangle 172">
            <a:extLst>
              <a:ext uri="{FF2B5EF4-FFF2-40B4-BE49-F238E27FC236}">
                <a16:creationId xmlns:a16="http://schemas.microsoft.com/office/drawing/2014/main" id="{5BD39DF5-B020-5AAA-C713-D4A90B83896F}"/>
              </a:ext>
            </a:extLst>
          </p:cNvPr>
          <p:cNvSpPr/>
          <p:nvPr/>
        </p:nvSpPr>
        <p:spPr>
          <a:xfrm>
            <a:off x="705282" y="4210058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494CA62-A2EE-F53F-9E85-CB7398323301}"/>
              </a:ext>
            </a:extLst>
          </p:cNvPr>
          <p:cNvSpPr txBox="1"/>
          <p:nvPr/>
        </p:nvSpPr>
        <p:spPr>
          <a:xfrm>
            <a:off x="751002" y="4210058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AI: Interview Q-Gen / Mock Module</a:t>
            </a:r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25A9E85C-A87D-5E1B-F156-63877F30D662}"/>
              </a:ext>
            </a:extLst>
          </p:cNvPr>
          <p:cNvSpPr/>
          <p:nvPr/>
        </p:nvSpPr>
        <p:spPr>
          <a:xfrm>
            <a:off x="3558210" y="4210058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8FB9FF8-255A-37D6-1F0F-1F86040F7F24}"/>
              </a:ext>
            </a:extLst>
          </p:cNvPr>
          <p:cNvSpPr txBox="1"/>
          <p:nvPr/>
        </p:nvSpPr>
        <p:spPr>
          <a:xfrm>
            <a:off x="3558210" y="421005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7C350456-876C-1E6F-89B1-7234247DE4DE}"/>
              </a:ext>
            </a:extLst>
          </p:cNvPr>
          <p:cNvSpPr/>
          <p:nvPr/>
        </p:nvSpPr>
        <p:spPr>
          <a:xfrm>
            <a:off x="4326306" y="421005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6CF5480C-B3B3-EF92-7EEF-1DE7179B121F}"/>
              </a:ext>
            </a:extLst>
          </p:cNvPr>
          <p:cNvSpPr/>
          <p:nvPr/>
        </p:nvSpPr>
        <p:spPr>
          <a:xfrm>
            <a:off x="5094402" y="421005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4DA3359E-70AE-808D-2952-6724344AD7C1}"/>
              </a:ext>
            </a:extLst>
          </p:cNvPr>
          <p:cNvSpPr/>
          <p:nvPr/>
        </p:nvSpPr>
        <p:spPr>
          <a:xfrm>
            <a:off x="5862498" y="4210058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BE07421-E351-71CD-F439-E70DD84EBBDD}"/>
              </a:ext>
            </a:extLst>
          </p:cNvPr>
          <p:cNvSpPr txBox="1"/>
          <p:nvPr/>
        </p:nvSpPr>
        <p:spPr>
          <a:xfrm>
            <a:off x="5862498" y="421005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51370AFD-69FE-5C90-3795-198373EEA9E9}"/>
              </a:ext>
            </a:extLst>
          </p:cNvPr>
          <p:cNvSpPr/>
          <p:nvPr/>
        </p:nvSpPr>
        <p:spPr>
          <a:xfrm>
            <a:off x="6630594" y="421005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B8D0AFB9-5B5A-65DF-93F3-D72F6897BDBF}"/>
              </a:ext>
            </a:extLst>
          </p:cNvPr>
          <p:cNvSpPr/>
          <p:nvPr/>
        </p:nvSpPr>
        <p:spPr>
          <a:xfrm>
            <a:off x="7398690" y="4210058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BB976819-15CE-FCDA-3F8F-CA1E6F224788}"/>
              </a:ext>
            </a:extLst>
          </p:cNvPr>
          <p:cNvSpPr txBox="1"/>
          <p:nvPr/>
        </p:nvSpPr>
        <p:spPr>
          <a:xfrm>
            <a:off x="7398690" y="421005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39F1AB89-B739-A4A2-55EE-F4EADE128763}"/>
              </a:ext>
            </a:extLst>
          </p:cNvPr>
          <p:cNvSpPr/>
          <p:nvPr/>
        </p:nvSpPr>
        <p:spPr>
          <a:xfrm>
            <a:off x="8166786" y="421005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3F42C5A9-A7E9-5361-4A12-3CFBC09263DC}"/>
              </a:ext>
            </a:extLst>
          </p:cNvPr>
          <p:cNvSpPr/>
          <p:nvPr/>
        </p:nvSpPr>
        <p:spPr>
          <a:xfrm>
            <a:off x="8934882" y="4210058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D6E353BD-BDAF-172F-B5BF-FF373A9E35D1}"/>
              </a:ext>
            </a:extLst>
          </p:cNvPr>
          <p:cNvSpPr txBox="1"/>
          <p:nvPr/>
        </p:nvSpPr>
        <p:spPr>
          <a:xfrm>
            <a:off x="8934882" y="4210058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1.6</a:t>
            </a:r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66CD343D-20DA-500E-92FD-0BCB0A697724}"/>
              </a:ext>
            </a:extLst>
          </p:cNvPr>
          <p:cNvSpPr/>
          <p:nvPr/>
        </p:nvSpPr>
        <p:spPr>
          <a:xfrm>
            <a:off x="705282" y="4397510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9C764A5-3675-3CE3-73AA-7C0D2DEECCDF}"/>
              </a:ext>
            </a:extLst>
          </p:cNvPr>
          <p:cNvSpPr txBox="1"/>
          <p:nvPr/>
        </p:nvSpPr>
        <p:spPr>
          <a:xfrm>
            <a:off x="751002" y="4397510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Company Dashboard / Roadmap</a:t>
            </a: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D03805E7-5C30-BFE0-017C-E66A961357D4}"/>
              </a:ext>
            </a:extLst>
          </p:cNvPr>
          <p:cNvSpPr/>
          <p:nvPr/>
        </p:nvSpPr>
        <p:spPr>
          <a:xfrm>
            <a:off x="3558210" y="4397510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BAE6E23-337B-2EB7-1406-348DAB0D7D0D}"/>
              </a:ext>
            </a:extLst>
          </p:cNvPr>
          <p:cNvSpPr txBox="1"/>
          <p:nvPr/>
        </p:nvSpPr>
        <p:spPr>
          <a:xfrm>
            <a:off x="3558210" y="4397510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70601248-FE69-F42E-02E1-4CBC0C328B43}"/>
              </a:ext>
            </a:extLst>
          </p:cNvPr>
          <p:cNvSpPr/>
          <p:nvPr/>
        </p:nvSpPr>
        <p:spPr>
          <a:xfrm>
            <a:off x="4326306" y="439751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EEE64F59-99EB-4CF0-D474-A22A99208FD3}"/>
              </a:ext>
            </a:extLst>
          </p:cNvPr>
          <p:cNvSpPr/>
          <p:nvPr/>
        </p:nvSpPr>
        <p:spPr>
          <a:xfrm>
            <a:off x="5094402" y="439751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D36EA366-C9DA-E81A-AA42-A127937C1B40}"/>
              </a:ext>
            </a:extLst>
          </p:cNvPr>
          <p:cNvSpPr/>
          <p:nvPr/>
        </p:nvSpPr>
        <p:spPr>
          <a:xfrm>
            <a:off x="5862498" y="4397510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234450C-BBA7-DB5E-7A5A-9B821680BE53}"/>
              </a:ext>
            </a:extLst>
          </p:cNvPr>
          <p:cNvSpPr txBox="1"/>
          <p:nvPr/>
        </p:nvSpPr>
        <p:spPr>
          <a:xfrm>
            <a:off x="5862498" y="4397510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0.9</a:t>
            </a:r>
          </a:p>
        </p:txBody>
      </p:sp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E4A12AB2-5626-F2EC-372A-213CF61D4A81}"/>
              </a:ext>
            </a:extLst>
          </p:cNvPr>
          <p:cNvSpPr/>
          <p:nvPr/>
        </p:nvSpPr>
        <p:spPr>
          <a:xfrm>
            <a:off x="6630594" y="4397510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E3B2FB2-CFB1-BF8D-83AA-FDB44E075916}"/>
              </a:ext>
            </a:extLst>
          </p:cNvPr>
          <p:cNvSpPr txBox="1"/>
          <p:nvPr/>
        </p:nvSpPr>
        <p:spPr>
          <a:xfrm>
            <a:off x="6630594" y="4397510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FDB7A422-BFCE-7C83-DC6F-2E79EBF6B097}"/>
              </a:ext>
            </a:extLst>
          </p:cNvPr>
          <p:cNvSpPr/>
          <p:nvPr/>
        </p:nvSpPr>
        <p:spPr>
          <a:xfrm>
            <a:off x="7398690" y="439751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D86211EE-5B3F-47A9-97DD-A84C98D5C150}"/>
              </a:ext>
            </a:extLst>
          </p:cNvPr>
          <p:cNvSpPr/>
          <p:nvPr/>
        </p:nvSpPr>
        <p:spPr>
          <a:xfrm>
            <a:off x="8166786" y="439751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D0EC63CC-78C3-81F0-F094-C92867285E16}"/>
              </a:ext>
            </a:extLst>
          </p:cNvPr>
          <p:cNvSpPr/>
          <p:nvPr/>
        </p:nvSpPr>
        <p:spPr>
          <a:xfrm>
            <a:off x="8934882" y="4397510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BC89EF6-B4BF-C5D9-52ED-9223FE45817C}"/>
              </a:ext>
            </a:extLst>
          </p:cNvPr>
          <p:cNvSpPr txBox="1"/>
          <p:nvPr/>
        </p:nvSpPr>
        <p:spPr>
          <a:xfrm>
            <a:off x="8934882" y="4397510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1.2</a:t>
            </a:r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A22BF33D-99D8-89E3-DBC6-E33F1A1163A6}"/>
              </a:ext>
            </a:extLst>
          </p:cNvPr>
          <p:cNvSpPr/>
          <p:nvPr/>
        </p:nvSpPr>
        <p:spPr>
          <a:xfrm>
            <a:off x="705282" y="4584963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8DBC9F5-D91B-C474-6E78-3D1C72E95CAC}"/>
              </a:ext>
            </a:extLst>
          </p:cNvPr>
          <p:cNvSpPr txBox="1"/>
          <p:nvPr/>
        </p:nvSpPr>
        <p:spPr>
          <a:xfrm>
            <a:off x="751002" y="4584963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Tracker / Scheduler / Prep Dashboard</a:t>
            </a: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26470166-296C-BB36-31D5-24461DBB838D}"/>
              </a:ext>
            </a:extLst>
          </p:cNvPr>
          <p:cNvSpPr/>
          <p:nvPr/>
        </p:nvSpPr>
        <p:spPr>
          <a:xfrm>
            <a:off x="3558210" y="4584963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5FD070F-8767-5818-E273-3678EBB6AD03}"/>
              </a:ext>
            </a:extLst>
          </p:cNvPr>
          <p:cNvSpPr txBox="1"/>
          <p:nvPr/>
        </p:nvSpPr>
        <p:spPr>
          <a:xfrm>
            <a:off x="3558210" y="4584963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21E99201-295E-81C7-5150-725E97DA73D1}"/>
              </a:ext>
            </a:extLst>
          </p:cNvPr>
          <p:cNvSpPr/>
          <p:nvPr/>
        </p:nvSpPr>
        <p:spPr>
          <a:xfrm>
            <a:off x="4326306" y="458496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D5C404DB-46F4-F626-D147-2E035AB106C7}"/>
              </a:ext>
            </a:extLst>
          </p:cNvPr>
          <p:cNvSpPr/>
          <p:nvPr/>
        </p:nvSpPr>
        <p:spPr>
          <a:xfrm>
            <a:off x="5094402" y="458496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C295C411-ED80-5E00-53BD-F790B2F82F92}"/>
              </a:ext>
            </a:extLst>
          </p:cNvPr>
          <p:cNvSpPr/>
          <p:nvPr/>
        </p:nvSpPr>
        <p:spPr>
          <a:xfrm>
            <a:off x="5862498" y="4584963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10C7ECA9-1CAB-8C18-3333-CAED33581674}"/>
              </a:ext>
            </a:extLst>
          </p:cNvPr>
          <p:cNvSpPr txBox="1"/>
          <p:nvPr/>
        </p:nvSpPr>
        <p:spPr>
          <a:xfrm>
            <a:off x="5862498" y="4584963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0.9</a:t>
            </a:r>
          </a:p>
        </p:txBody>
      </p:sp>
      <p:sp>
        <p:nvSpPr>
          <p:cNvPr id="209" name="Rounded Rectangle 208">
            <a:extLst>
              <a:ext uri="{FF2B5EF4-FFF2-40B4-BE49-F238E27FC236}">
                <a16:creationId xmlns:a16="http://schemas.microsoft.com/office/drawing/2014/main" id="{77ABE56C-9B0F-0DE2-A7F5-4FA9B775E826}"/>
              </a:ext>
            </a:extLst>
          </p:cNvPr>
          <p:cNvSpPr/>
          <p:nvPr/>
        </p:nvSpPr>
        <p:spPr>
          <a:xfrm>
            <a:off x="6630594" y="4584963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002BE6D6-16D9-F196-8F04-45758AD84CEC}"/>
              </a:ext>
            </a:extLst>
          </p:cNvPr>
          <p:cNvSpPr txBox="1"/>
          <p:nvPr/>
        </p:nvSpPr>
        <p:spPr>
          <a:xfrm>
            <a:off x="6630594" y="4584963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2348A027-C5D2-3CA7-DA8D-07D3DEF4EAE5}"/>
              </a:ext>
            </a:extLst>
          </p:cNvPr>
          <p:cNvSpPr/>
          <p:nvPr/>
        </p:nvSpPr>
        <p:spPr>
          <a:xfrm>
            <a:off x="7398690" y="458496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D3624DDD-FB49-5A36-216F-DB64C9CFD060}"/>
              </a:ext>
            </a:extLst>
          </p:cNvPr>
          <p:cNvSpPr/>
          <p:nvPr/>
        </p:nvSpPr>
        <p:spPr>
          <a:xfrm>
            <a:off x="8166786" y="4584963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DEAC54DB-4582-E662-0F87-0EFFEDF7C171}"/>
              </a:ext>
            </a:extLst>
          </p:cNvPr>
          <p:cNvSpPr/>
          <p:nvPr/>
        </p:nvSpPr>
        <p:spPr>
          <a:xfrm>
            <a:off x="8934882" y="4584963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6CA88FE-7197-3306-EB12-3835CD451030}"/>
              </a:ext>
            </a:extLst>
          </p:cNvPr>
          <p:cNvSpPr txBox="1"/>
          <p:nvPr/>
        </p:nvSpPr>
        <p:spPr>
          <a:xfrm>
            <a:off x="8934882" y="4584963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1.2</a:t>
            </a:r>
          </a:p>
        </p:txBody>
      </p: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10FE52B8-336E-7BC1-44B1-CA990310F156}"/>
              </a:ext>
            </a:extLst>
          </p:cNvPr>
          <p:cNvSpPr/>
          <p:nvPr/>
        </p:nvSpPr>
        <p:spPr>
          <a:xfrm>
            <a:off x="705282" y="4772415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2A00E43-DA13-E47D-0512-051F326E1C3C}"/>
              </a:ext>
            </a:extLst>
          </p:cNvPr>
          <p:cNvSpPr txBox="1"/>
          <p:nvPr/>
        </p:nvSpPr>
        <p:spPr>
          <a:xfrm>
            <a:off x="751002" y="4772415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Analytics Dashboard / Learning Reco</a:t>
            </a:r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28EF32C7-FB19-AC58-ECC6-759EE67D652F}"/>
              </a:ext>
            </a:extLst>
          </p:cNvPr>
          <p:cNvSpPr/>
          <p:nvPr/>
        </p:nvSpPr>
        <p:spPr>
          <a:xfrm>
            <a:off x="3558210" y="4772415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DF73D7B-7C06-9750-C7EB-7112F20005AB}"/>
              </a:ext>
            </a:extLst>
          </p:cNvPr>
          <p:cNvSpPr txBox="1"/>
          <p:nvPr/>
        </p:nvSpPr>
        <p:spPr>
          <a:xfrm>
            <a:off x="3558210" y="4772415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0.1</a:t>
            </a:r>
          </a:p>
        </p:txBody>
      </p:sp>
      <p:sp>
        <p:nvSpPr>
          <p:cNvPr id="219" name="Rounded Rectangle 218">
            <a:extLst>
              <a:ext uri="{FF2B5EF4-FFF2-40B4-BE49-F238E27FC236}">
                <a16:creationId xmlns:a16="http://schemas.microsoft.com/office/drawing/2014/main" id="{47DF793F-D10B-E6BB-61D8-8EF3B4EB3CEF}"/>
              </a:ext>
            </a:extLst>
          </p:cNvPr>
          <p:cNvSpPr/>
          <p:nvPr/>
        </p:nvSpPr>
        <p:spPr>
          <a:xfrm>
            <a:off x="4326306" y="477241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ounded Rectangle 219">
            <a:extLst>
              <a:ext uri="{FF2B5EF4-FFF2-40B4-BE49-F238E27FC236}">
                <a16:creationId xmlns:a16="http://schemas.microsoft.com/office/drawing/2014/main" id="{0B47A9D6-9E7C-6258-9C96-C6726699B369}"/>
              </a:ext>
            </a:extLst>
          </p:cNvPr>
          <p:cNvSpPr/>
          <p:nvPr/>
        </p:nvSpPr>
        <p:spPr>
          <a:xfrm>
            <a:off x="5094402" y="477241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5335603B-893B-09F7-544F-66AF30BFBFEE}"/>
              </a:ext>
            </a:extLst>
          </p:cNvPr>
          <p:cNvSpPr/>
          <p:nvPr/>
        </p:nvSpPr>
        <p:spPr>
          <a:xfrm>
            <a:off x="5862498" y="4772415"/>
            <a:ext cx="768096" cy="187452"/>
          </a:xfrm>
          <a:prstGeom prst="roundRect">
            <a:avLst/>
          </a:prstGeom>
          <a:solidFill>
            <a:srgbClr val="77BCBC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7B22654-CC33-F359-5423-5832D2B137C0}"/>
              </a:ext>
            </a:extLst>
          </p:cNvPr>
          <p:cNvSpPr txBox="1"/>
          <p:nvPr/>
        </p:nvSpPr>
        <p:spPr>
          <a:xfrm>
            <a:off x="5862498" y="4772415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0.8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EB35A1B4-DF39-9969-68FD-C2A8DB1DF1D6}"/>
              </a:ext>
            </a:extLst>
          </p:cNvPr>
          <p:cNvSpPr/>
          <p:nvPr/>
        </p:nvSpPr>
        <p:spPr>
          <a:xfrm>
            <a:off x="6630594" y="477241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9509E38D-601C-F2C6-FDEC-C4A84705A616}"/>
              </a:ext>
            </a:extLst>
          </p:cNvPr>
          <p:cNvSpPr/>
          <p:nvPr/>
        </p:nvSpPr>
        <p:spPr>
          <a:xfrm>
            <a:off x="7398690" y="4772415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Rounded Rectangle 224">
            <a:extLst>
              <a:ext uri="{FF2B5EF4-FFF2-40B4-BE49-F238E27FC236}">
                <a16:creationId xmlns:a16="http://schemas.microsoft.com/office/drawing/2014/main" id="{9B65FC61-3520-A83C-139B-844B0E42AA61}"/>
              </a:ext>
            </a:extLst>
          </p:cNvPr>
          <p:cNvSpPr/>
          <p:nvPr/>
        </p:nvSpPr>
        <p:spPr>
          <a:xfrm>
            <a:off x="8166786" y="4772415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9D95F17-96DA-C5B5-824E-8C6F4DF18C3C}"/>
              </a:ext>
            </a:extLst>
          </p:cNvPr>
          <p:cNvSpPr txBox="1"/>
          <p:nvPr/>
        </p:nvSpPr>
        <p:spPr>
          <a:xfrm>
            <a:off x="8166786" y="4772415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227" name="Rounded Rectangle 226">
            <a:extLst>
              <a:ext uri="{FF2B5EF4-FFF2-40B4-BE49-F238E27FC236}">
                <a16:creationId xmlns:a16="http://schemas.microsoft.com/office/drawing/2014/main" id="{A9066472-EAA6-6174-1C66-031F84C8E024}"/>
              </a:ext>
            </a:extLst>
          </p:cNvPr>
          <p:cNvSpPr/>
          <p:nvPr/>
        </p:nvSpPr>
        <p:spPr>
          <a:xfrm>
            <a:off x="8934882" y="4772415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F89F3AA-6FA5-5D60-849E-FA6D05924527}"/>
              </a:ext>
            </a:extLst>
          </p:cNvPr>
          <p:cNvSpPr txBox="1"/>
          <p:nvPr/>
        </p:nvSpPr>
        <p:spPr>
          <a:xfrm>
            <a:off x="8934882" y="4772415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1.2</a:t>
            </a:r>
          </a:p>
        </p:txBody>
      </p:sp>
      <p:sp>
        <p:nvSpPr>
          <p:cNvPr id="229" name="Rounded Rectangle 228">
            <a:extLst>
              <a:ext uri="{FF2B5EF4-FFF2-40B4-BE49-F238E27FC236}">
                <a16:creationId xmlns:a16="http://schemas.microsoft.com/office/drawing/2014/main" id="{501DE2B0-888F-64DC-ABDD-700C500AFABB}"/>
              </a:ext>
            </a:extLst>
          </p:cNvPr>
          <p:cNvSpPr/>
          <p:nvPr/>
        </p:nvSpPr>
        <p:spPr>
          <a:xfrm>
            <a:off x="705282" y="4959866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FA725513-85B9-BDB9-EE5D-BE6BAD4BDC2F}"/>
              </a:ext>
            </a:extLst>
          </p:cNvPr>
          <p:cNvSpPr txBox="1"/>
          <p:nvPr/>
        </p:nvSpPr>
        <p:spPr>
          <a:xfrm>
            <a:off x="751002" y="4959866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System Integration</a:t>
            </a:r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2A6A4D11-1FE6-D1BB-0467-1AA9739DC2CD}"/>
              </a:ext>
            </a:extLst>
          </p:cNvPr>
          <p:cNvSpPr/>
          <p:nvPr/>
        </p:nvSpPr>
        <p:spPr>
          <a:xfrm>
            <a:off x="3558210" y="4959866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3745975-B735-6595-9606-32FA9921B92F}"/>
              </a:ext>
            </a:extLst>
          </p:cNvPr>
          <p:cNvSpPr txBox="1"/>
          <p:nvPr/>
        </p:nvSpPr>
        <p:spPr>
          <a:xfrm>
            <a:off x="3558210" y="495986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233" name="Rounded Rectangle 232">
            <a:extLst>
              <a:ext uri="{FF2B5EF4-FFF2-40B4-BE49-F238E27FC236}">
                <a16:creationId xmlns:a16="http://schemas.microsoft.com/office/drawing/2014/main" id="{16C0F69F-FD6B-4DA2-64C3-4355CCBA673C}"/>
              </a:ext>
            </a:extLst>
          </p:cNvPr>
          <p:cNvSpPr/>
          <p:nvPr/>
        </p:nvSpPr>
        <p:spPr>
          <a:xfrm>
            <a:off x="4326306" y="495986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ounded Rectangle 233">
            <a:extLst>
              <a:ext uri="{FF2B5EF4-FFF2-40B4-BE49-F238E27FC236}">
                <a16:creationId xmlns:a16="http://schemas.microsoft.com/office/drawing/2014/main" id="{B711296B-B65D-417A-9D65-45E47938078E}"/>
              </a:ext>
            </a:extLst>
          </p:cNvPr>
          <p:cNvSpPr/>
          <p:nvPr/>
        </p:nvSpPr>
        <p:spPr>
          <a:xfrm>
            <a:off x="5094402" y="495986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ounded Rectangle 234">
            <a:extLst>
              <a:ext uri="{FF2B5EF4-FFF2-40B4-BE49-F238E27FC236}">
                <a16:creationId xmlns:a16="http://schemas.microsoft.com/office/drawing/2014/main" id="{12D84A9C-9280-CEEC-541D-4B6572385565}"/>
              </a:ext>
            </a:extLst>
          </p:cNvPr>
          <p:cNvSpPr/>
          <p:nvPr/>
        </p:nvSpPr>
        <p:spPr>
          <a:xfrm>
            <a:off x="5862498" y="4959866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43445360-9086-9755-A054-813496FA494B}"/>
              </a:ext>
            </a:extLst>
          </p:cNvPr>
          <p:cNvSpPr txBox="1"/>
          <p:nvPr/>
        </p:nvSpPr>
        <p:spPr>
          <a:xfrm>
            <a:off x="5862498" y="495986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237" name="Rounded Rectangle 236">
            <a:extLst>
              <a:ext uri="{FF2B5EF4-FFF2-40B4-BE49-F238E27FC236}">
                <a16:creationId xmlns:a16="http://schemas.microsoft.com/office/drawing/2014/main" id="{F5C80A1F-4B24-D4CA-E6E3-9FBFD3AFC9C6}"/>
              </a:ext>
            </a:extLst>
          </p:cNvPr>
          <p:cNvSpPr/>
          <p:nvPr/>
        </p:nvSpPr>
        <p:spPr>
          <a:xfrm>
            <a:off x="6630594" y="4959866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8FF7719D-E4FC-0F67-1C35-27D5993B44B6}"/>
              </a:ext>
            </a:extLst>
          </p:cNvPr>
          <p:cNvSpPr txBox="1"/>
          <p:nvPr/>
        </p:nvSpPr>
        <p:spPr>
          <a:xfrm>
            <a:off x="6630594" y="495986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0.4</a:t>
            </a:r>
          </a:p>
        </p:txBody>
      </p:sp>
      <p:sp>
        <p:nvSpPr>
          <p:cNvPr id="239" name="Rounded Rectangle 238">
            <a:extLst>
              <a:ext uri="{FF2B5EF4-FFF2-40B4-BE49-F238E27FC236}">
                <a16:creationId xmlns:a16="http://schemas.microsoft.com/office/drawing/2014/main" id="{26CF0EB1-E636-CBF7-9F00-01B5E3542FB1}"/>
              </a:ext>
            </a:extLst>
          </p:cNvPr>
          <p:cNvSpPr/>
          <p:nvPr/>
        </p:nvSpPr>
        <p:spPr>
          <a:xfrm>
            <a:off x="7398690" y="4959866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A942779-9B57-18CE-494E-F9AD29EB7A7C}"/>
              </a:ext>
            </a:extLst>
          </p:cNvPr>
          <p:cNvSpPr txBox="1"/>
          <p:nvPr/>
        </p:nvSpPr>
        <p:spPr>
          <a:xfrm>
            <a:off x="7398690" y="4959866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0.4</a:t>
            </a:r>
          </a:p>
        </p:txBody>
      </p:sp>
      <p:sp>
        <p:nvSpPr>
          <p:cNvPr id="241" name="Rounded Rectangle 240">
            <a:extLst>
              <a:ext uri="{FF2B5EF4-FFF2-40B4-BE49-F238E27FC236}">
                <a16:creationId xmlns:a16="http://schemas.microsoft.com/office/drawing/2014/main" id="{898FCABE-6F09-6EAF-77B4-DDA86D96D4F5}"/>
              </a:ext>
            </a:extLst>
          </p:cNvPr>
          <p:cNvSpPr/>
          <p:nvPr/>
        </p:nvSpPr>
        <p:spPr>
          <a:xfrm>
            <a:off x="8166786" y="4959866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Rounded Rectangle 241">
            <a:extLst>
              <a:ext uri="{FF2B5EF4-FFF2-40B4-BE49-F238E27FC236}">
                <a16:creationId xmlns:a16="http://schemas.microsoft.com/office/drawing/2014/main" id="{B4C900D5-E4C7-3690-E001-CF50D629DF40}"/>
              </a:ext>
            </a:extLst>
          </p:cNvPr>
          <p:cNvSpPr/>
          <p:nvPr/>
        </p:nvSpPr>
        <p:spPr>
          <a:xfrm>
            <a:off x="8934882" y="4959866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1054CB6-600E-780F-A854-3D861FF88218}"/>
              </a:ext>
            </a:extLst>
          </p:cNvPr>
          <p:cNvSpPr txBox="1"/>
          <p:nvPr/>
        </p:nvSpPr>
        <p:spPr>
          <a:xfrm>
            <a:off x="8934882" y="4959866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1.5</a:t>
            </a:r>
          </a:p>
        </p:txBody>
      </p:sp>
      <p:sp>
        <p:nvSpPr>
          <p:cNvPr id="244" name="Rounded Rectangle 243">
            <a:extLst>
              <a:ext uri="{FF2B5EF4-FFF2-40B4-BE49-F238E27FC236}">
                <a16:creationId xmlns:a16="http://schemas.microsoft.com/office/drawing/2014/main" id="{DF9F5603-B48A-0706-444B-E3CC23FE932E}"/>
              </a:ext>
            </a:extLst>
          </p:cNvPr>
          <p:cNvSpPr/>
          <p:nvPr/>
        </p:nvSpPr>
        <p:spPr>
          <a:xfrm>
            <a:off x="705282" y="5147318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74173A0B-D704-8B9D-6987-3679A42A2733}"/>
              </a:ext>
            </a:extLst>
          </p:cNvPr>
          <p:cNvSpPr txBox="1"/>
          <p:nvPr/>
        </p:nvSpPr>
        <p:spPr>
          <a:xfrm>
            <a:off x="751002" y="5147318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QA (Functional + AI Accuracy)</a:t>
            </a:r>
          </a:p>
        </p:txBody>
      </p:sp>
      <p:sp>
        <p:nvSpPr>
          <p:cNvPr id="246" name="Rounded Rectangle 245">
            <a:extLst>
              <a:ext uri="{FF2B5EF4-FFF2-40B4-BE49-F238E27FC236}">
                <a16:creationId xmlns:a16="http://schemas.microsoft.com/office/drawing/2014/main" id="{EE745094-95B5-9DA6-5FD7-6C75E1F221DE}"/>
              </a:ext>
            </a:extLst>
          </p:cNvPr>
          <p:cNvSpPr/>
          <p:nvPr/>
        </p:nvSpPr>
        <p:spPr>
          <a:xfrm>
            <a:off x="3558210" y="5147318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D566C1CC-10E2-FD8A-15BC-81ED9AFFC0C3}"/>
              </a:ext>
            </a:extLst>
          </p:cNvPr>
          <p:cNvSpPr txBox="1"/>
          <p:nvPr/>
        </p:nvSpPr>
        <p:spPr>
          <a:xfrm>
            <a:off x="3558210" y="514731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248" name="Rounded Rectangle 247">
            <a:extLst>
              <a:ext uri="{FF2B5EF4-FFF2-40B4-BE49-F238E27FC236}">
                <a16:creationId xmlns:a16="http://schemas.microsoft.com/office/drawing/2014/main" id="{6DE8F0BC-CD15-01EC-5484-90056EB48962}"/>
              </a:ext>
            </a:extLst>
          </p:cNvPr>
          <p:cNvSpPr/>
          <p:nvPr/>
        </p:nvSpPr>
        <p:spPr>
          <a:xfrm>
            <a:off x="4326306" y="514731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ounded Rectangle 248">
            <a:extLst>
              <a:ext uri="{FF2B5EF4-FFF2-40B4-BE49-F238E27FC236}">
                <a16:creationId xmlns:a16="http://schemas.microsoft.com/office/drawing/2014/main" id="{CBE8497D-F5DC-C613-C9BD-11FF178D256F}"/>
              </a:ext>
            </a:extLst>
          </p:cNvPr>
          <p:cNvSpPr/>
          <p:nvPr/>
        </p:nvSpPr>
        <p:spPr>
          <a:xfrm>
            <a:off x="5094402" y="514731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96FCAE5B-67F0-F649-3DBC-BA52AAC0E2B8}"/>
              </a:ext>
            </a:extLst>
          </p:cNvPr>
          <p:cNvSpPr/>
          <p:nvPr/>
        </p:nvSpPr>
        <p:spPr>
          <a:xfrm>
            <a:off x="5862498" y="5147318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01AE06A7-9989-E276-EE27-7D1C57242718}"/>
              </a:ext>
            </a:extLst>
          </p:cNvPr>
          <p:cNvSpPr txBox="1"/>
          <p:nvPr/>
        </p:nvSpPr>
        <p:spPr>
          <a:xfrm>
            <a:off x="5862498" y="514731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252" name="Rounded Rectangle 251">
            <a:extLst>
              <a:ext uri="{FF2B5EF4-FFF2-40B4-BE49-F238E27FC236}">
                <a16:creationId xmlns:a16="http://schemas.microsoft.com/office/drawing/2014/main" id="{88BA2826-E055-CD12-0FB4-730903544267}"/>
              </a:ext>
            </a:extLst>
          </p:cNvPr>
          <p:cNvSpPr/>
          <p:nvPr/>
        </p:nvSpPr>
        <p:spPr>
          <a:xfrm>
            <a:off x="6630594" y="5147318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ounded Rectangle 252">
            <a:extLst>
              <a:ext uri="{FF2B5EF4-FFF2-40B4-BE49-F238E27FC236}">
                <a16:creationId xmlns:a16="http://schemas.microsoft.com/office/drawing/2014/main" id="{169B07CF-E5C1-8B82-E6FE-E2FB82A4559B}"/>
              </a:ext>
            </a:extLst>
          </p:cNvPr>
          <p:cNvSpPr/>
          <p:nvPr/>
        </p:nvSpPr>
        <p:spPr>
          <a:xfrm>
            <a:off x="7398690" y="5147318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A96B72FB-DC19-30E6-7182-EFE8A0C2917B}"/>
              </a:ext>
            </a:extLst>
          </p:cNvPr>
          <p:cNvSpPr txBox="1"/>
          <p:nvPr/>
        </p:nvSpPr>
        <p:spPr>
          <a:xfrm>
            <a:off x="7398690" y="514731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0.4</a:t>
            </a:r>
          </a:p>
        </p:txBody>
      </p:sp>
      <p:sp>
        <p:nvSpPr>
          <p:cNvPr id="255" name="Rounded Rectangle 254">
            <a:extLst>
              <a:ext uri="{FF2B5EF4-FFF2-40B4-BE49-F238E27FC236}">
                <a16:creationId xmlns:a16="http://schemas.microsoft.com/office/drawing/2014/main" id="{0D79C353-3CA9-30CE-4F0D-05E95359920C}"/>
              </a:ext>
            </a:extLst>
          </p:cNvPr>
          <p:cNvSpPr/>
          <p:nvPr/>
        </p:nvSpPr>
        <p:spPr>
          <a:xfrm>
            <a:off x="8166786" y="5147318"/>
            <a:ext cx="768096" cy="187452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4C45AC1-A78D-7BBF-0932-3A285C08B485}"/>
              </a:ext>
            </a:extLst>
          </p:cNvPr>
          <p:cNvSpPr txBox="1"/>
          <p:nvPr/>
        </p:nvSpPr>
        <p:spPr>
          <a:xfrm>
            <a:off x="8166786" y="5147318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936521F9-B93B-6B14-4485-BC9ECB9895E0}"/>
              </a:ext>
            </a:extLst>
          </p:cNvPr>
          <p:cNvSpPr/>
          <p:nvPr/>
        </p:nvSpPr>
        <p:spPr>
          <a:xfrm>
            <a:off x="8934882" y="5147318"/>
            <a:ext cx="841248" cy="187452"/>
          </a:xfrm>
          <a:prstGeom prst="roundRect">
            <a:avLst/>
          </a:prstGeom>
          <a:solidFill>
            <a:srgbClr val="FDECEA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69BF11AF-9F26-AC6A-32D9-18D4C02D06F7}"/>
              </a:ext>
            </a:extLst>
          </p:cNvPr>
          <p:cNvSpPr txBox="1"/>
          <p:nvPr/>
        </p:nvSpPr>
        <p:spPr>
          <a:xfrm>
            <a:off x="8934882" y="5147318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B93F3B"/>
                </a:solidFill>
                <a:latin typeface="Aptos"/>
              </a:rPr>
              <a:t>1.8</a:t>
            </a:r>
          </a:p>
        </p:txBody>
      </p:sp>
      <p:sp>
        <p:nvSpPr>
          <p:cNvPr id="259" name="Rounded Rectangle 258">
            <a:extLst>
              <a:ext uri="{FF2B5EF4-FFF2-40B4-BE49-F238E27FC236}">
                <a16:creationId xmlns:a16="http://schemas.microsoft.com/office/drawing/2014/main" id="{09673049-6903-1735-8789-308DD07E9E1B}"/>
              </a:ext>
            </a:extLst>
          </p:cNvPr>
          <p:cNvSpPr/>
          <p:nvPr/>
        </p:nvSpPr>
        <p:spPr>
          <a:xfrm>
            <a:off x="705282" y="5334770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091DB4E-BCD4-67B6-748A-97C69155A5F5}"/>
              </a:ext>
            </a:extLst>
          </p:cNvPr>
          <p:cNvSpPr txBox="1"/>
          <p:nvPr/>
        </p:nvSpPr>
        <p:spPr>
          <a:xfrm>
            <a:off x="751002" y="5334770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UAT (Students + Placement Cell)</a:t>
            </a:r>
          </a:p>
        </p:txBody>
      </p:sp>
      <p:sp>
        <p:nvSpPr>
          <p:cNvPr id="261" name="Rounded Rectangle 260">
            <a:extLst>
              <a:ext uri="{FF2B5EF4-FFF2-40B4-BE49-F238E27FC236}">
                <a16:creationId xmlns:a16="http://schemas.microsoft.com/office/drawing/2014/main" id="{40119449-DEBA-9BA1-BEE7-BF058D302B7A}"/>
              </a:ext>
            </a:extLst>
          </p:cNvPr>
          <p:cNvSpPr/>
          <p:nvPr/>
        </p:nvSpPr>
        <p:spPr>
          <a:xfrm>
            <a:off x="3558210" y="5334770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3E66FB6-84A6-A75F-E030-EB0CEA93D666}"/>
              </a:ext>
            </a:extLst>
          </p:cNvPr>
          <p:cNvSpPr txBox="1"/>
          <p:nvPr/>
        </p:nvSpPr>
        <p:spPr>
          <a:xfrm>
            <a:off x="3558210" y="5334770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263" name="Rounded Rectangle 262">
            <a:extLst>
              <a:ext uri="{FF2B5EF4-FFF2-40B4-BE49-F238E27FC236}">
                <a16:creationId xmlns:a16="http://schemas.microsoft.com/office/drawing/2014/main" id="{F6ECD178-1AD1-AD07-C1E6-0FE1FFD570D5}"/>
              </a:ext>
            </a:extLst>
          </p:cNvPr>
          <p:cNvSpPr/>
          <p:nvPr/>
        </p:nvSpPr>
        <p:spPr>
          <a:xfrm>
            <a:off x="4326306" y="5334770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6507D67-D56E-6C44-50BE-E7757599B207}"/>
              </a:ext>
            </a:extLst>
          </p:cNvPr>
          <p:cNvSpPr txBox="1"/>
          <p:nvPr/>
        </p:nvSpPr>
        <p:spPr>
          <a:xfrm>
            <a:off x="4326306" y="5334770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0.4</a:t>
            </a: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1A3575C7-4347-5AE8-E212-36A23218A5C4}"/>
              </a:ext>
            </a:extLst>
          </p:cNvPr>
          <p:cNvSpPr/>
          <p:nvPr/>
        </p:nvSpPr>
        <p:spPr>
          <a:xfrm>
            <a:off x="5094402" y="533477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Rounded Rectangle 265">
            <a:extLst>
              <a:ext uri="{FF2B5EF4-FFF2-40B4-BE49-F238E27FC236}">
                <a16:creationId xmlns:a16="http://schemas.microsoft.com/office/drawing/2014/main" id="{E5F08FC4-A416-8164-C07D-7264E4EB9BD3}"/>
              </a:ext>
            </a:extLst>
          </p:cNvPr>
          <p:cNvSpPr/>
          <p:nvPr/>
        </p:nvSpPr>
        <p:spPr>
          <a:xfrm>
            <a:off x="5862498" y="533477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ounded Rectangle 266">
            <a:extLst>
              <a:ext uri="{FF2B5EF4-FFF2-40B4-BE49-F238E27FC236}">
                <a16:creationId xmlns:a16="http://schemas.microsoft.com/office/drawing/2014/main" id="{0C4478EF-0046-229D-B485-9F3E690257B2}"/>
              </a:ext>
            </a:extLst>
          </p:cNvPr>
          <p:cNvSpPr/>
          <p:nvPr/>
        </p:nvSpPr>
        <p:spPr>
          <a:xfrm>
            <a:off x="6630594" y="533477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Rounded Rectangle 267">
            <a:extLst>
              <a:ext uri="{FF2B5EF4-FFF2-40B4-BE49-F238E27FC236}">
                <a16:creationId xmlns:a16="http://schemas.microsoft.com/office/drawing/2014/main" id="{1520CD16-58EC-5F92-252E-2E2956E434F0}"/>
              </a:ext>
            </a:extLst>
          </p:cNvPr>
          <p:cNvSpPr/>
          <p:nvPr/>
        </p:nvSpPr>
        <p:spPr>
          <a:xfrm>
            <a:off x="7398690" y="5334770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ounded Rectangle 268">
            <a:extLst>
              <a:ext uri="{FF2B5EF4-FFF2-40B4-BE49-F238E27FC236}">
                <a16:creationId xmlns:a16="http://schemas.microsoft.com/office/drawing/2014/main" id="{0A850F0D-DC91-B97C-6FE7-D06CD495ACF7}"/>
              </a:ext>
            </a:extLst>
          </p:cNvPr>
          <p:cNvSpPr/>
          <p:nvPr/>
        </p:nvSpPr>
        <p:spPr>
          <a:xfrm>
            <a:off x="8166786" y="5334770"/>
            <a:ext cx="768096" cy="187452"/>
          </a:xfrm>
          <a:prstGeom prst="roundRect">
            <a:avLst/>
          </a:prstGeom>
          <a:solidFill>
            <a:srgbClr val="77BCBC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CA3EBCE3-94BB-0A2B-14B5-7B4EB3BE6F82}"/>
              </a:ext>
            </a:extLst>
          </p:cNvPr>
          <p:cNvSpPr txBox="1"/>
          <p:nvPr/>
        </p:nvSpPr>
        <p:spPr>
          <a:xfrm>
            <a:off x="8166786" y="5334770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0.8</a:t>
            </a:r>
          </a:p>
        </p:txBody>
      </p:sp>
      <p:sp>
        <p:nvSpPr>
          <p:cNvPr id="271" name="Rounded Rectangle 270">
            <a:extLst>
              <a:ext uri="{FF2B5EF4-FFF2-40B4-BE49-F238E27FC236}">
                <a16:creationId xmlns:a16="http://schemas.microsoft.com/office/drawing/2014/main" id="{AE5B4807-3093-D4FF-41BF-37146535B4E3}"/>
              </a:ext>
            </a:extLst>
          </p:cNvPr>
          <p:cNvSpPr/>
          <p:nvPr/>
        </p:nvSpPr>
        <p:spPr>
          <a:xfrm>
            <a:off x="8934882" y="5334770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95D1F6FB-9E65-E2DE-24F2-8469D9FDB356}"/>
              </a:ext>
            </a:extLst>
          </p:cNvPr>
          <p:cNvSpPr txBox="1"/>
          <p:nvPr/>
        </p:nvSpPr>
        <p:spPr>
          <a:xfrm>
            <a:off x="8934882" y="5334770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1.5</a:t>
            </a:r>
          </a:p>
        </p:txBody>
      </p:sp>
      <p:sp>
        <p:nvSpPr>
          <p:cNvPr id="273" name="Rounded Rectangle 272">
            <a:extLst>
              <a:ext uri="{FF2B5EF4-FFF2-40B4-BE49-F238E27FC236}">
                <a16:creationId xmlns:a16="http://schemas.microsoft.com/office/drawing/2014/main" id="{2B28FC06-BBCF-B74F-855C-6BA7908E7F71}"/>
              </a:ext>
            </a:extLst>
          </p:cNvPr>
          <p:cNvSpPr/>
          <p:nvPr/>
        </p:nvSpPr>
        <p:spPr>
          <a:xfrm>
            <a:off x="705282" y="5522222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280ED318-1E85-ED2F-3436-7C19203FF181}"/>
              </a:ext>
            </a:extLst>
          </p:cNvPr>
          <p:cNvSpPr txBox="1"/>
          <p:nvPr/>
        </p:nvSpPr>
        <p:spPr>
          <a:xfrm>
            <a:off x="751002" y="5522222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Deployment &amp; Go-Live</a:t>
            </a:r>
          </a:p>
        </p:txBody>
      </p:sp>
      <p:sp>
        <p:nvSpPr>
          <p:cNvPr id="275" name="Rounded Rectangle 274">
            <a:extLst>
              <a:ext uri="{FF2B5EF4-FFF2-40B4-BE49-F238E27FC236}">
                <a16:creationId xmlns:a16="http://schemas.microsoft.com/office/drawing/2014/main" id="{4CB0917E-50F8-672D-EED9-051E81867CE0}"/>
              </a:ext>
            </a:extLst>
          </p:cNvPr>
          <p:cNvSpPr/>
          <p:nvPr/>
        </p:nvSpPr>
        <p:spPr>
          <a:xfrm>
            <a:off x="3558210" y="5522222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95A2965-C932-C430-D2F9-CFA900F30729}"/>
              </a:ext>
            </a:extLst>
          </p:cNvPr>
          <p:cNvSpPr txBox="1"/>
          <p:nvPr/>
        </p:nvSpPr>
        <p:spPr>
          <a:xfrm>
            <a:off x="3558210" y="552222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277" name="Rounded Rectangle 276">
            <a:extLst>
              <a:ext uri="{FF2B5EF4-FFF2-40B4-BE49-F238E27FC236}">
                <a16:creationId xmlns:a16="http://schemas.microsoft.com/office/drawing/2014/main" id="{EC30046D-6E9A-9A16-50A5-D3F276595332}"/>
              </a:ext>
            </a:extLst>
          </p:cNvPr>
          <p:cNvSpPr/>
          <p:nvPr/>
        </p:nvSpPr>
        <p:spPr>
          <a:xfrm>
            <a:off x="4326306" y="552222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Rounded Rectangle 277">
            <a:extLst>
              <a:ext uri="{FF2B5EF4-FFF2-40B4-BE49-F238E27FC236}">
                <a16:creationId xmlns:a16="http://schemas.microsoft.com/office/drawing/2014/main" id="{0ED9C8ED-0091-B5B4-0781-140D89699AAA}"/>
              </a:ext>
            </a:extLst>
          </p:cNvPr>
          <p:cNvSpPr/>
          <p:nvPr/>
        </p:nvSpPr>
        <p:spPr>
          <a:xfrm>
            <a:off x="5094402" y="552222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Rounded Rectangle 278">
            <a:extLst>
              <a:ext uri="{FF2B5EF4-FFF2-40B4-BE49-F238E27FC236}">
                <a16:creationId xmlns:a16="http://schemas.microsoft.com/office/drawing/2014/main" id="{AA786BF2-BCAE-3B53-1D2E-BDC6AA7B789E}"/>
              </a:ext>
            </a:extLst>
          </p:cNvPr>
          <p:cNvSpPr/>
          <p:nvPr/>
        </p:nvSpPr>
        <p:spPr>
          <a:xfrm>
            <a:off x="5862498" y="5522222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1EB2C372-D515-FFD5-40EE-F2F82B27A806}"/>
              </a:ext>
            </a:extLst>
          </p:cNvPr>
          <p:cNvSpPr txBox="1"/>
          <p:nvPr/>
        </p:nvSpPr>
        <p:spPr>
          <a:xfrm>
            <a:off x="5862498" y="552222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281" name="Rounded Rectangle 280">
            <a:extLst>
              <a:ext uri="{FF2B5EF4-FFF2-40B4-BE49-F238E27FC236}">
                <a16:creationId xmlns:a16="http://schemas.microsoft.com/office/drawing/2014/main" id="{43CD1D7C-ECED-CD75-CFEF-15FC65C7CE17}"/>
              </a:ext>
            </a:extLst>
          </p:cNvPr>
          <p:cNvSpPr/>
          <p:nvPr/>
        </p:nvSpPr>
        <p:spPr>
          <a:xfrm>
            <a:off x="6630594" y="5522222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DFBBD8DB-6AB7-BC6D-D827-54B9B08E7F0F}"/>
              </a:ext>
            </a:extLst>
          </p:cNvPr>
          <p:cNvSpPr txBox="1"/>
          <p:nvPr/>
        </p:nvSpPr>
        <p:spPr>
          <a:xfrm>
            <a:off x="6630594" y="552222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283" name="Rounded Rectangle 282">
            <a:extLst>
              <a:ext uri="{FF2B5EF4-FFF2-40B4-BE49-F238E27FC236}">
                <a16:creationId xmlns:a16="http://schemas.microsoft.com/office/drawing/2014/main" id="{EB02A861-2DE2-DBC7-6F6F-AE866F8B0692}"/>
              </a:ext>
            </a:extLst>
          </p:cNvPr>
          <p:cNvSpPr/>
          <p:nvPr/>
        </p:nvSpPr>
        <p:spPr>
          <a:xfrm>
            <a:off x="7398690" y="5522222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2E978117-F69B-05CF-835E-A13CA43144D5}"/>
              </a:ext>
            </a:extLst>
          </p:cNvPr>
          <p:cNvSpPr/>
          <p:nvPr/>
        </p:nvSpPr>
        <p:spPr>
          <a:xfrm>
            <a:off x="8166786" y="5522222"/>
            <a:ext cx="768096" cy="187452"/>
          </a:xfrm>
          <a:prstGeom prst="roundRect">
            <a:avLst/>
          </a:prstGeom>
          <a:solidFill>
            <a:srgbClr val="77BCBC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B1352841-D7C7-B1C7-5222-DF2DFF8FC0B4}"/>
              </a:ext>
            </a:extLst>
          </p:cNvPr>
          <p:cNvSpPr txBox="1"/>
          <p:nvPr/>
        </p:nvSpPr>
        <p:spPr>
          <a:xfrm>
            <a:off x="8166786" y="5522222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0.7</a:t>
            </a:r>
          </a:p>
        </p:txBody>
      </p: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441EBAA1-5738-2B0B-2AB1-31B5EF70D612}"/>
              </a:ext>
            </a:extLst>
          </p:cNvPr>
          <p:cNvSpPr/>
          <p:nvPr/>
        </p:nvSpPr>
        <p:spPr>
          <a:xfrm>
            <a:off x="8934882" y="5522222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AE66A3F6-8BEC-F87A-711E-0F5C31AE9ED2}"/>
              </a:ext>
            </a:extLst>
          </p:cNvPr>
          <p:cNvSpPr txBox="1"/>
          <p:nvPr/>
        </p:nvSpPr>
        <p:spPr>
          <a:xfrm>
            <a:off x="8934882" y="5522222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1.4</a:t>
            </a: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46FAE3F2-06C4-1E24-B7F2-91D0A6EF0635}"/>
              </a:ext>
            </a:extLst>
          </p:cNvPr>
          <p:cNvSpPr/>
          <p:nvPr/>
        </p:nvSpPr>
        <p:spPr>
          <a:xfrm>
            <a:off x="705282" y="5709674"/>
            <a:ext cx="2852928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3EA797BE-4C53-716C-3CEB-45C7352700B6}"/>
              </a:ext>
            </a:extLst>
          </p:cNvPr>
          <p:cNvSpPr txBox="1"/>
          <p:nvPr/>
        </p:nvSpPr>
        <p:spPr>
          <a:xfrm>
            <a:off x="751002" y="5709674"/>
            <a:ext cx="276148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50" b="0">
                <a:solidFill>
                  <a:srgbClr val="232D37"/>
                </a:solidFill>
                <a:latin typeface="Aptos"/>
              </a:rPr>
              <a:t>Closure &amp; Handover</a:t>
            </a:r>
          </a:p>
        </p:txBody>
      </p:sp>
      <p:sp>
        <p:nvSpPr>
          <p:cNvPr id="290" name="Rounded Rectangle 289">
            <a:extLst>
              <a:ext uri="{FF2B5EF4-FFF2-40B4-BE49-F238E27FC236}">
                <a16:creationId xmlns:a16="http://schemas.microsoft.com/office/drawing/2014/main" id="{975079EF-1F31-225E-1EA0-4172D8C318CE}"/>
              </a:ext>
            </a:extLst>
          </p:cNvPr>
          <p:cNvSpPr/>
          <p:nvPr/>
        </p:nvSpPr>
        <p:spPr>
          <a:xfrm>
            <a:off x="3558210" y="5709674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1ACEC8DA-E60C-0AE9-FB5D-B9DE59DBDFA8}"/>
              </a:ext>
            </a:extLst>
          </p:cNvPr>
          <p:cNvSpPr txBox="1"/>
          <p:nvPr/>
        </p:nvSpPr>
        <p:spPr>
          <a:xfrm>
            <a:off x="3558210" y="570967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0.5</a:t>
            </a: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B29CE509-A118-1965-858C-C95C1A71D69A}"/>
              </a:ext>
            </a:extLst>
          </p:cNvPr>
          <p:cNvSpPr/>
          <p:nvPr/>
        </p:nvSpPr>
        <p:spPr>
          <a:xfrm>
            <a:off x="4326306" y="5709674"/>
            <a:ext cx="768096" cy="187452"/>
          </a:xfrm>
          <a:prstGeom prst="roundRect">
            <a:avLst/>
          </a:prstGeom>
          <a:solidFill>
            <a:srgbClr val="BEE0E0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37F7607C-1783-17DA-98F5-AFE4A1439229}"/>
              </a:ext>
            </a:extLst>
          </p:cNvPr>
          <p:cNvSpPr txBox="1"/>
          <p:nvPr/>
        </p:nvSpPr>
        <p:spPr>
          <a:xfrm>
            <a:off x="4326306" y="570967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0.3</a:t>
            </a:r>
          </a:p>
        </p:txBody>
      </p:sp>
      <p:sp>
        <p:nvSpPr>
          <p:cNvPr id="294" name="Rounded Rectangle 293">
            <a:extLst>
              <a:ext uri="{FF2B5EF4-FFF2-40B4-BE49-F238E27FC236}">
                <a16:creationId xmlns:a16="http://schemas.microsoft.com/office/drawing/2014/main" id="{C1C69762-43BC-850A-BFF2-3502B43173D4}"/>
              </a:ext>
            </a:extLst>
          </p:cNvPr>
          <p:cNvSpPr/>
          <p:nvPr/>
        </p:nvSpPr>
        <p:spPr>
          <a:xfrm>
            <a:off x="5094402" y="570967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Rounded Rectangle 294">
            <a:extLst>
              <a:ext uri="{FF2B5EF4-FFF2-40B4-BE49-F238E27FC236}">
                <a16:creationId xmlns:a16="http://schemas.microsoft.com/office/drawing/2014/main" id="{FCB71BC6-CE74-38D1-8157-01FEBE8FDB76}"/>
              </a:ext>
            </a:extLst>
          </p:cNvPr>
          <p:cNvSpPr/>
          <p:nvPr/>
        </p:nvSpPr>
        <p:spPr>
          <a:xfrm>
            <a:off x="5862498" y="570967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Rounded Rectangle 295">
            <a:extLst>
              <a:ext uri="{FF2B5EF4-FFF2-40B4-BE49-F238E27FC236}">
                <a16:creationId xmlns:a16="http://schemas.microsoft.com/office/drawing/2014/main" id="{65AE6CFE-22A1-493C-93CA-5585601918A3}"/>
              </a:ext>
            </a:extLst>
          </p:cNvPr>
          <p:cNvSpPr/>
          <p:nvPr/>
        </p:nvSpPr>
        <p:spPr>
          <a:xfrm>
            <a:off x="6630594" y="570967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Rounded Rectangle 296">
            <a:extLst>
              <a:ext uri="{FF2B5EF4-FFF2-40B4-BE49-F238E27FC236}">
                <a16:creationId xmlns:a16="http://schemas.microsoft.com/office/drawing/2014/main" id="{D9A55C29-EE14-58D1-C473-AA7F2EF4C65F}"/>
              </a:ext>
            </a:extLst>
          </p:cNvPr>
          <p:cNvSpPr/>
          <p:nvPr/>
        </p:nvSpPr>
        <p:spPr>
          <a:xfrm>
            <a:off x="7398690" y="5709674"/>
            <a:ext cx="768096" cy="1874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ounded Rectangle 297">
            <a:extLst>
              <a:ext uri="{FF2B5EF4-FFF2-40B4-BE49-F238E27FC236}">
                <a16:creationId xmlns:a16="http://schemas.microsoft.com/office/drawing/2014/main" id="{4A422F04-B510-E5A6-A639-3A3313F8F02F}"/>
              </a:ext>
            </a:extLst>
          </p:cNvPr>
          <p:cNvSpPr/>
          <p:nvPr/>
        </p:nvSpPr>
        <p:spPr>
          <a:xfrm>
            <a:off x="8166786" y="5709674"/>
            <a:ext cx="768096" cy="187452"/>
          </a:xfrm>
          <a:prstGeom prst="roundRect">
            <a:avLst/>
          </a:prstGeom>
          <a:solidFill>
            <a:srgbClr val="E8F2F3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D6161F4E-F8DB-19E3-EF92-E75178B3EEC8}"/>
              </a:ext>
            </a:extLst>
          </p:cNvPr>
          <p:cNvSpPr txBox="1"/>
          <p:nvPr/>
        </p:nvSpPr>
        <p:spPr>
          <a:xfrm>
            <a:off x="8166786" y="5709674"/>
            <a:ext cx="768096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1">
                <a:solidFill>
                  <a:srgbClr val="12304F"/>
                </a:solidFill>
                <a:latin typeface="Aptos"/>
              </a:rPr>
              <a:t>0.2</a:t>
            </a:r>
          </a:p>
        </p:txBody>
      </p:sp>
      <p:sp>
        <p:nvSpPr>
          <p:cNvPr id="300" name="Rounded Rectangle 299">
            <a:extLst>
              <a:ext uri="{FF2B5EF4-FFF2-40B4-BE49-F238E27FC236}">
                <a16:creationId xmlns:a16="http://schemas.microsoft.com/office/drawing/2014/main" id="{3E324D2F-0C75-F387-79F8-BA45870D9E6E}"/>
              </a:ext>
            </a:extLst>
          </p:cNvPr>
          <p:cNvSpPr/>
          <p:nvPr/>
        </p:nvSpPr>
        <p:spPr>
          <a:xfrm>
            <a:off x="8934882" y="5709674"/>
            <a:ext cx="841248" cy="187452"/>
          </a:xfrm>
          <a:prstGeom prst="roundRect">
            <a:avLst/>
          </a:prstGeom>
          <a:solidFill>
            <a:srgbClr val="EBF7F7"/>
          </a:solidFill>
          <a:ln w="635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CA67079A-8847-365C-7A23-CEE082017FBC}"/>
              </a:ext>
            </a:extLst>
          </p:cNvPr>
          <p:cNvSpPr txBox="1"/>
          <p:nvPr/>
        </p:nvSpPr>
        <p:spPr>
          <a:xfrm>
            <a:off x="8934882" y="5709674"/>
            <a:ext cx="841248" cy="1874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12304F"/>
                </a:solidFill>
                <a:latin typeface="Aptos"/>
              </a:rPr>
              <a:t>1</a:t>
            </a:r>
          </a:p>
        </p:txBody>
      </p:sp>
      <p:sp>
        <p:nvSpPr>
          <p:cNvPr id="302" name="Rounded Rectangle 346">
            <a:extLst>
              <a:ext uri="{FF2B5EF4-FFF2-40B4-BE49-F238E27FC236}">
                <a16:creationId xmlns:a16="http://schemas.microsoft.com/office/drawing/2014/main" id="{0DD57E4E-5C12-5242-A710-AE3B06D340C1}"/>
              </a:ext>
            </a:extLst>
          </p:cNvPr>
          <p:cNvSpPr/>
          <p:nvPr/>
        </p:nvSpPr>
        <p:spPr>
          <a:xfrm>
            <a:off x="705282" y="5983995"/>
            <a:ext cx="8613648" cy="420624"/>
          </a:xfrm>
          <a:prstGeom prst="roundRect">
            <a:avLst/>
          </a:prstGeom>
          <a:solidFill>
            <a:srgbClr val="12304F"/>
          </a:solidFill>
          <a:ln w="635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6E131A83-40BD-3FB7-A418-E83157AF7925}"/>
              </a:ext>
            </a:extLst>
          </p:cNvPr>
          <p:cNvSpPr txBox="1"/>
          <p:nvPr/>
        </p:nvSpPr>
        <p:spPr>
          <a:xfrm>
            <a:off x="860730" y="6048003"/>
            <a:ext cx="83027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Aptos"/>
              </a:rPr>
              <a:t>Planning insight  |  AI, UI and QA-heavy activities create the key capacity peaks that resource levelling must smooth.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E88A26EC-8DE4-75F7-DAA3-21BBB2DEB35B}"/>
              </a:ext>
            </a:extLst>
          </p:cNvPr>
          <p:cNvSpPr txBox="1"/>
          <p:nvPr/>
        </p:nvSpPr>
        <p:spPr>
          <a:xfrm>
            <a:off x="10164815" y="2177302"/>
            <a:ext cx="143918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>
                <a:solidFill>
                  <a:srgbClr val="12304F"/>
                </a:solidFill>
                <a:latin typeface="Aptos"/>
              </a:rPr>
              <a:t>ACTIVITY LOAD</a:t>
            </a: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56A53781-5567-9E99-4A87-4F79E1455A08}"/>
              </a:ext>
            </a:extLst>
          </p:cNvPr>
          <p:cNvSpPr txBox="1"/>
          <p:nvPr/>
        </p:nvSpPr>
        <p:spPr>
          <a:xfrm>
            <a:off x="10164815" y="2423689"/>
            <a:ext cx="1439186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69747E"/>
                </a:solidFill>
                <a:latin typeface="Aptos"/>
              </a:rPr>
              <a:t>Total FTE | highest first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0064DEA1-9A24-402E-5D15-682E971656F3}"/>
              </a:ext>
            </a:extLst>
          </p:cNvPr>
          <p:cNvSpPr txBox="1"/>
          <p:nvPr/>
        </p:nvSpPr>
        <p:spPr>
          <a:xfrm>
            <a:off x="9893423" y="2762875"/>
            <a:ext cx="951625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232D37"/>
                </a:solidFill>
                <a:latin typeface="Aptos"/>
              </a:rPr>
              <a:t>Hi-Fi UI Design</a:t>
            </a:r>
          </a:p>
        </p:txBody>
      </p:sp>
      <p:sp>
        <p:nvSpPr>
          <p:cNvPr id="307" name="Rounded Rectangle 304">
            <a:extLst>
              <a:ext uri="{FF2B5EF4-FFF2-40B4-BE49-F238E27FC236}">
                <a16:creationId xmlns:a16="http://schemas.microsoft.com/office/drawing/2014/main" id="{23BC92F3-D899-78CC-DA9E-2EFEAF6D82DB}"/>
              </a:ext>
            </a:extLst>
          </p:cNvPr>
          <p:cNvSpPr/>
          <p:nvPr/>
        </p:nvSpPr>
        <p:spPr>
          <a:xfrm>
            <a:off x="11205997" y="2792739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ounded Rectangle 305">
            <a:extLst>
              <a:ext uri="{FF2B5EF4-FFF2-40B4-BE49-F238E27FC236}">
                <a16:creationId xmlns:a16="http://schemas.microsoft.com/office/drawing/2014/main" id="{D66E42A7-ADC2-B098-2B2C-D0AC679B2D2B}"/>
              </a:ext>
            </a:extLst>
          </p:cNvPr>
          <p:cNvSpPr/>
          <p:nvPr/>
        </p:nvSpPr>
        <p:spPr>
          <a:xfrm>
            <a:off x="11172646" y="2792739"/>
            <a:ext cx="539254" cy="109728"/>
          </a:xfrm>
          <a:prstGeom prst="roundRect">
            <a:avLst/>
          </a:prstGeom>
          <a:solidFill>
            <a:srgbClr val="B93F3B"/>
          </a:solidFill>
          <a:ln w="635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0317F76A-6149-ECEA-B9F6-BA0859F00E62}"/>
              </a:ext>
            </a:extLst>
          </p:cNvPr>
          <p:cNvSpPr txBox="1"/>
          <p:nvPr/>
        </p:nvSpPr>
        <p:spPr>
          <a:xfrm>
            <a:off x="9893423" y="3073770"/>
            <a:ext cx="951625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 dirty="0">
                <a:solidFill>
                  <a:srgbClr val="232D37"/>
                </a:solidFill>
                <a:latin typeface="Aptos"/>
              </a:rPr>
              <a:t>AI: Resume Analyzer </a:t>
            </a:r>
          </a:p>
        </p:txBody>
      </p:sp>
      <p:sp>
        <p:nvSpPr>
          <p:cNvPr id="310" name="Rounded Rectangle 308">
            <a:extLst>
              <a:ext uri="{FF2B5EF4-FFF2-40B4-BE49-F238E27FC236}">
                <a16:creationId xmlns:a16="http://schemas.microsoft.com/office/drawing/2014/main" id="{96445239-835F-EAA8-857A-961E09A72508}"/>
              </a:ext>
            </a:extLst>
          </p:cNvPr>
          <p:cNvSpPr/>
          <p:nvPr/>
        </p:nvSpPr>
        <p:spPr>
          <a:xfrm>
            <a:off x="11205997" y="3103634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Rounded Rectangle 309">
            <a:extLst>
              <a:ext uri="{FF2B5EF4-FFF2-40B4-BE49-F238E27FC236}">
                <a16:creationId xmlns:a16="http://schemas.microsoft.com/office/drawing/2014/main" id="{1C361E2E-7FBE-14F0-711C-EA55E7E435E0}"/>
              </a:ext>
            </a:extLst>
          </p:cNvPr>
          <p:cNvSpPr/>
          <p:nvPr/>
        </p:nvSpPr>
        <p:spPr>
          <a:xfrm>
            <a:off x="11172646" y="3103634"/>
            <a:ext cx="539254" cy="109728"/>
          </a:xfrm>
          <a:prstGeom prst="roundRect">
            <a:avLst/>
          </a:prstGeom>
          <a:solidFill>
            <a:srgbClr val="B93F3B"/>
          </a:solidFill>
          <a:ln w="635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B18B94B1-0EBF-BC1C-4E14-65D1BD627ADC}"/>
              </a:ext>
            </a:extLst>
          </p:cNvPr>
          <p:cNvSpPr txBox="1"/>
          <p:nvPr/>
        </p:nvSpPr>
        <p:spPr>
          <a:xfrm>
            <a:off x="9893423" y="3384667"/>
            <a:ext cx="951625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 dirty="0">
                <a:solidFill>
                  <a:srgbClr val="232D37"/>
                </a:solidFill>
                <a:latin typeface="Aptos"/>
              </a:rPr>
              <a:t>AI: Matching Score </a:t>
            </a:r>
          </a:p>
        </p:txBody>
      </p:sp>
      <p:sp>
        <p:nvSpPr>
          <p:cNvPr id="313" name="Rounded Rectangle 312">
            <a:extLst>
              <a:ext uri="{FF2B5EF4-FFF2-40B4-BE49-F238E27FC236}">
                <a16:creationId xmlns:a16="http://schemas.microsoft.com/office/drawing/2014/main" id="{E7130A58-5695-C050-99BB-082465019C80}"/>
              </a:ext>
            </a:extLst>
          </p:cNvPr>
          <p:cNvSpPr/>
          <p:nvPr/>
        </p:nvSpPr>
        <p:spPr>
          <a:xfrm>
            <a:off x="11205997" y="3414531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Rounded Rectangle 313">
            <a:extLst>
              <a:ext uri="{FF2B5EF4-FFF2-40B4-BE49-F238E27FC236}">
                <a16:creationId xmlns:a16="http://schemas.microsoft.com/office/drawing/2014/main" id="{309FC214-6977-3878-7E34-A5C0A56A3030}"/>
              </a:ext>
            </a:extLst>
          </p:cNvPr>
          <p:cNvSpPr/>
          <p:nvPr/>
        </p:nvSpPr>
        <p:spPr>
          <a:xfrm>
            <a:off x="11172646" y="3414531"/>
            <a:ext cx="539254" cy="109728"/>
          </a:xfrm>
          <a:prstGeom prst="roundRect">
            <a:avLst/>
          </a:prstGeom>
          <a:solidFill>
            <a:srgbClr val="B93F3B"/>
          </a:solidFill>
          <a:ln w="635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B8E1CC84-3A1D-B0D7-1739-F2BE957BF145}"/>
              </a:ext>
            </a:extLst>
          </p:cNvPr>
          <p:cNvSpPr txBox="1"/>
          <p:nvPr/>
        </p:nvSpPr>
        <p:spPr>
          <a:xfrm>
            <a:off x="9893423" y="3695563"/>
            <a:ext cx="951625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 dirty="0">
                <a:solidFill>
                  <a:srgbClr val="232D37"/>
                </a:solidFill>
                <a:latin typeface="Aptos"/>
              </a:rPr>
              <a:t>QA (Functional + AI</a:t>
            </a:r>
          </a:p>
        </p:txBody>
      </p:sp>
      <p:sp>
        <p:nvSpPr>
          <p:cNvPr id="316" name="Rounded Rectangle 316">
            <a:extLst>
              <a:ext uri="{FF2B5EF4-FFF2-40B4-BE49-F238E27FC236}">
                <a16:creationId xmlns:a16="http://schemas.microsoft.com/office/drawing/2014/main" id="{F272E459-EC76-729C-FA41-50FB25BE47D0}"/>
              </a:ext>
            </a:extLst>
          </p:cNvPr>
          <p:cNvSpPr/>
          <p:nvPr/>
        </p:nvSpPr>
        <p:spPr>
          <a:xfrm>
            <a:off x="11205997" y="3725427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Rounded Rectangle 317">
            <a:extLst>
              <a:ext uri="{FF2B5EF4-FFF2-40B4-BE49-F238E27FC236}">
                <a16:creationId xmlns:a16="http://schemas.microsoft.com/office/drawing/2014/main" id="{67EB6566-F54F-BE15-D5A7-0DDA0F59E224}"/>
              </a:ext>
            </a:extLst>
          </p:cNvPr>
          <p:cNvSpPr/>
          <p:nvPr/>
        </p:nvSpPr>
        <p:spPr>
          <a:xfrm>
            <a:off x="11172646" y="3725427"/>
            <a:ext cx="539254" cy="109728"/>
          </a:xfrm>
          <a:prstGeom prst="roundRect">
            <a:avLst/>
          </a:prstGeom>
          <a:solidFill>
            <a:srgbClr val="B93F3B"/>
          </a:solidFill>
          <a:ln w="635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A714BCF7-111B-35CA-8F2C-5892910E059F}"/>
              </a:ext>
            </a:extLst>
          </p:cNvPr>
          <p:cNvSpPr txBox="1"/>
          <p:nvPr/>
        </p:nvSpPr>
        <p:spPr>
          <a:xfrm>
            <a:off x="9893423" y="3958754"/>
            <a:ext cx="951625" cy="2831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 dirty="0">
                <a:solidFill>
                  <a:srgbClr val="232D37"/>
                </a:solidFill>
                <a:latin typeface="Aptos"/>
              </a:rPr>
              <a:t>Requirement Gathering</a:t>
            </a:r>
          </a:p>
        </p:txBody>
      </p:sp>
      <p:sp>
        <p:nvSpPr>
          <p:cNvPr id="319" name="Rounded Rectangle 320">
            <a:extLst>
              <a:ext uri="{FF2B5EF4-FFF2-40B4-BE49-F238E27FC236}">
                <a16:creationId xmlns:a16="http://schemas.microsoft.com/office/drawing/2014/main" id="{A2B0E22C-EA25-5577-83FB-52A6B04479B7}"/>
              </a:ext>
            </a:extLst>
          </p:cNvPr>
          <p:cNvSpPr/>
          <p:nvPr/>
        </p:nvSpPr>
        <p:spPr>
          <a:xfrm>
            <a:off x="11205997" y="4036323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Rounded Rectangle 321">
            <a:extLst>
              <a:ext uri="{FF2B5EF4-FFF2-40B4-BE49-F238E27FC236}">
                <a16:creationId xmlns:a16="http://schemas.microsoft.com/office/drawing/2014/main" id="{22EFF338-264B-1719-299C-6122CEE1B871}"/>
              </a:ext>
            </a:extLst>
          </p:cNvPr>
          <p:cNvSpPr/>
          <p:nvPr/>
        </p:nvSpPr>
        <p:spPr>
          <a:xfrm>
            <a:off x="11155969" y="4036323"/>
            <a:ext cx="509295" cy="109728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55056290-1FC2-B180-3D83-507D315624D0}"/>
              </a:ext>
            </a:extLst>
          </p:cNvPr>
          <p:cNvSpPr txBox="1"/>
          <p:nvPr/>
        </p:nvSpPr>
        <p:spPr>
          <a:xfrm>
            <a:off x="9893423" y="4317355"/>
            <a:ext cx="1034717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 dirty="0">
                <a:solidFill>
                  <a:srgbClr val="232D37"/>
                </a:solidFill>
                <a:latin typeface="Aptos"/>
              </a:rPr>
              <a:t>AI: Interview Q-Gen</a:t>
            </a:r>
          </a:p>
        </p:txBody>
      </p:sp>
      <p:sp>
        <p:nvSpPr>
          <p:cNvPr id="322" name="Rounded Rectangle 324">
            <a:extLst>
              <a:ext uri="{FF2B5EF4-FFF2-40B4-BE49-F238E27FC236}">
                <a16:creationId xmlns:a16="http://schemas.microsoft.com/office/drawing/2014/main" id="{C8419962-940A-A45A-584E-4DC7565CC0D6}"/>
              </a:ext>
            </a:extLst>
          </p:cNvPr>
          <p:cNvSpPr/>
          <p:nvPr/>
        </p:nvSpPr>
        <p:spPr>
          <a:xfrm>
            <a:off x="11205997" y="4347219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ounded Rectangle 325">
            <a:extLst>
              <a:ext uri="{FF2B5EF4-FFF2-40B4-BE49-F238E27FC236}">
                <a16:creationId xmlns:a16="http://schemas.microsoft.com/office/drawing/2014/main" id="{8E132D8E-DE88-A982-BE80-F17D930FC529}"/>
              </a:ext>
            </a:extLst>
          </p:cNvPr>
          <p:cNvSpPr/>
          <p:nvPr/>
        </p:nvSpPr>
        <p:spPr>
          <a:xfrm>
            <a:off x="11139293" y="4347219"/>
            <a:ext cx="479337" cy="109728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156101B4-F138-52EF-B546-7AAA53C6F180}"/>
              </a:ext>
            </a:extLst>
          </p:cNvPr>
          <p:cNvSpPr txBox="1"/>
          <p:nvPr/>
        </p:nvSpPr>
        <p:spPr>
          <a:xfrm>
            <a:off x="9893423" y="4628251"/>
            <a:ext cx="951625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232D37"/>
                </a:solidFill>
                <a:latin typeface="Aptos"/>
              </a:rPr>
              <a:t>Charter &amp; Kickoff</a:t>
            </a:r>
          </a:p>
        </p:txBody>
      </p:sp>
      <p:sp>
        <p:nvSpPr>
          <p:cNvPr id="325" name="Rounded Rectangle 328">
            <a:extLst>
              <a:ext uri="{FF2B5EF4-FFF2-40B4-BE49-F238E27FC236}">
                <a16:creationId xmlns:a16="http://schemas.microsoft.com/office/drawing/2014/main" id="{8C4098C4-6140-C58C-433E-735E40227E32}"/>
              </a:ext>
            </a:extLst>
          </p:cNvPr>
          <p:cNvSpPr/>
          <p:nvPr/>
        </p:nvSpPr>
        <p:spPr>
          <a:xfrm>
            <a:off x="11205997" y="4658115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Rounded Rectangle 329">
            <a:extLst>
              <a:ext uri="{FF2B5EF4-FFF2-40B4-BE49-F238E27FC236}">
                <a16:creationId xmlns:a16="http://schemas.microsoft.com/office/drawing/2014/main" id="{4FC8C907-1166-F1AC-0734-F9951DCB5167}"/>
              </a:ext>
            </a:extLst>
          </p:cNvPr>
          <p:cNvSpPr/>
          <p:nvPr/>
        </p:nvSpPr>
        <p:spPr>
          <a:xfrm>
            <a:off x="11122619" y="4658115"/>
            <a:ext cx="449378" cy="109728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D186F41D-1DDA-A66D-FE54-BCB1179BB46E}"/>
              </a:ext>
            </a:extLst>
          </p:cNvPr>
          <p:cNvSpPr txBox="1"/>
          <p:nvPr/>
        </p:nvSpPr>
        <p:spPr>
          <a:xfrm>
            <a:off x="9893423" y="4891442"/>
            <a:ext cx="951625" cy="2831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232D37"/>
                </a:solidFill>
                <a:latin typeface="Aptos"/>
              </a:rPr>
              <a:t>Stakeholder &amp; Planning</a:t>
            </a:r>
          </a:p>
        </p:txBody>
      </p:sp>
      <p:sp>
        <p:nvSpPr>
          <p:cNvPr id="328" name="Rounded Rectangle 332">
            <a:extLst>
              <a:ext uri="{FF2B5EF4-FFF2-40B4-BE49-F238E27FC236}">
                <a16:creationId xmlns:a16="http://schemas.microsoft.com/office/drawing/2014/main" id="{B6676329-7445-3517-A0F7-425FC638A8F9}"/>
              </a:ext>
            </a:extLst>
          </p:cNvPr>
          <p:cNvSpPr/>
          <p:nvPr/>
        </p:nvSpPr>
        <p:spPr>
          <a:xfrm>
            <a:off x="11205997" y="4969011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Rounded Rectangle 333">
            <a:extLst>
              <a:ext uri="{FF2B5EF4-FFF2-40B4-BE49-F238E27FC236}">
                <a16:creationId xmlns:a16="http://schemas.microsoft.com/office/drawing/2014/main" id="{B3A50910-AEC1-2EC9-16CF-B9056C78D4B7}"/>
              </a:ext>
            </a:extLst>
          </p:cNvPr>
          <p:cNvSpPr/>
          <p:nvPr/>
        </p:nvSpPr>
        <p:spPr>
          <a:xfrm>
            <a:off x="11122619" y="4969011"/>
            <a:ext cx="449378" cy="109728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57866DAE-662A-96A5-DF9E-0B62AC1A2F3B}"/>
              </a:ext>
            </a:extLst>
          </p:cNvPr>
          <p:cNvSpPr txBox="1"/>
          <p:nvPr/>
        </p:nvSpPr>
        <p:spPr>
          <a:xfrm>
            <a:off x="9893423" y="5250043"/>
            <a:ext cx="951625" cy="18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232D37"/>
                </a:solidFill>
                <a:latin typeface="Aptos"/>
              </a:rPr>
              <a:t>System Integration</a:t>
            </a:r>
          </a:p>
        </p:txBody>
      </p:sp>
      <p:sp>
        <p:nvSpPr>
          <p:cNvPr id="331" name="Rounded Rectangle 336">
            <a:extLst>
              <a:ext uri="{FF2B5EF4-FFF2-40B4-BE49-F238E27FC236}">
                <a16:creationId xmlns:a16="http://schemas.microsoft.com/office/drawing/2014/main" id="{6ADE1ED8-40FF-2C4A-7C12-E53361AABC4F}"/>
              </a:ext>
            </a:extLst>
          </p:cNvPr>
          <p:cNvSpPr/>
          <p:nvPr/>
        </p:nvSpPr>
        <p:spPr>
          <a:xfrm>
            <a:off x="11205997" y="5279907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ounded Rectangle 337">
            <a:extLst>
              <a:ext uri="{FF2B5EF4-FFF2-40B4-BE49-F238E27FC236}">
                <a16:creationId xmlns:a16="http://schemas.microsoft.com/office/drawing/2014/main" id="{5CB62F03-C065-B133-31CE-DE6BE2432A30}"/>
              </a:ext>
            </a:extLst>
          </p:cNvPr>
          <p:cNvSpPr/>
          <p:nvPr/>
        </p:nvSpPr>
        <p:spPr>
          <a:xfrm>
            <a:off x="11122619" y="5279907"/>
            <a:ext cx="449378" cy="109728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4B9BB85D-B292-8B0A-46D9-6DAA82EBD44C}"/>
              </a:ext>
            </a:extLst>
          </p:cNvPr>
          <p:cNvSpPr txBox="1"/>
          <p:nvPr/>
        </p:nvSpPr>
        <p:spPr>
          <a:xfrm>
            <a:off x="9893423" y="5513233"/>
            <a:ext cx="951625" cy="2831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 dirty="0">
                <a:solidFill>
                  <a:srgbClr val="232D37"/>
                </a:solidFill>
                <a:latin typeface="Aptos"/>
              </a:rPr>
              <a:t>UAT (Students + </a:t>
            </a:r>
            <a:r>
              <a:rPr sz="620" b="0" dirty="0" err="1">
                <a:solidFill>
                  <a:srgbClr val="232D37"/>
                </a:solidFill>
                <a:latin typeface="Aptos"/>
              </a:rPr>
              <a:t>Placem</a:t>
            </a:r>
            <a:endParaRPr sz="620" b="0" dirty="0">
              <a:solidFill>
                <a:srgbClr val="232D37"/>
              </a:solidFill>
              <a:latin typeface="Aptos"/>
            </a:endParaRPr>
          </a:p>
        </p:txBody>
      </p:sp>
      <p:sp>
        <p:nvSpPr>
          <p:cNvPr id="334" name="Rounded Rectangle 340">
            <a:extLst>
              <a:ext uri="{FF2B5EF4-FFF2-40B4-BE49-F238E27FC236}">
                <a16:creationId xmlns:a16="http://schemas.microsoft.com/office/drawing/2014/main" id="{4A726836-5DAE-E696-584F-947AC74BBAB3}"/>
              </a:ext>
            </a:extLst>
          </p:cNvPr>
          <p:cNvSpPr/>
          <p:nvPr/>
        </p:nvSpPr>
        <p:spPr>
          <a:xfrm>
            <a:off x="11205997" y="5590802"/>
            <a:ext cx="599171" cy="109728"/>
          </a:xfrm>
          <a:prstGeom prst="roundRect">
            <a:avLst/>
          </a:prstGeom>
          <a:solidFill>
            <a:srgbClr val="E4EAEE"/>
          </a:solidFill>
          <a:ln w="6350">
            <a:solidFill>
              <a:srgbClr val="E4E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Rounded Rectangle 341">
            <a:extLst>
              <a:ext uri="{FF2B5EF4-FFF2-40B4-BE49-F238E27FC236}">
                <a16:creationId xmlns:a16="http://schemas.microsoft.com/office/drawing/2014/main" id="{B7BEC103-B263-E304-142E-D6CA2E1CEAC9}"/>
              </a:ext>
            </a:extLst>
          </p:cNvPr>
          <p:cNvSpPr/>
          <p:nvPr/>
        </p:nvSpPr>
        <p:spPr>
          <a:xfrm>
            <a:off x="11122619" y="5590802"/>
            <a:ext cx="449378" cy="109728"/>
          </a:xfrm>
          <a:prstGeom prst="roundRect">
            <a:avLst/>
          </a:prstGeom>
          <a:solidFill>
            <a:srgbClr val="1F8F91"/>
          </a:solidFill>
          <a:ln w="635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42874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289E-1917-0DA2-5326-FF0EFCB2692A}"/>
              </a:ext>
            </a:extLst>
          </p:cNvPr>
          <p:cNvSpPr txBox="1">
            <a:spLocks/>
          </p:cNvSpPr>
          <p:nvPr/>
        </p:nvSpPr>
        <p:spPr>
          <a:xfrm>
            <a:off x="568304" y="408417"/>
            <a:ext cx="10515600" cy="5991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100" b="1" dirty="0">
                <a:solidFill>
                  <a:srgbClr val="1F3864"/>
                </a:solidFill>
                <a:latin typeface="Calibri"/>
                <a:ea typeface="+mn-ea"/>
                <a:cs typeface="+mn-cs"/>
              </a:rPr>
              <a:t>Resource Levelling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3CF0D4F9-FCBF-BA73-577F-87A2045F51B9}"/>
              </a:ext>
            </a:extLst>
          </p:cNvPr>
          <p:cNvSpPr/>
          <p:nvPr/>
        </p:nvSpPr>
        <p:spPr>
          <a:xfrm>
            <a:off x="451287" y="1007579"/>
            <a:ext cx="260604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A6A50-9563-8B7A-BC83-10A38BBEE9AB}"/>
              </a:ext>
            </a:extLst>
          </p:cNvPr>
          <p:cNvSpPr txBox="1"/>
          <p:nvPr/>
        </p:nvSpPr>
        <p:spPr>
          <a:xfrm>
            <a:off x="561015" y="1071587"/>
            <a:ext cx="8229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B93F3B"/>
                </a:solidFill>
                <a:latin typeface="Aptos"/>
              </a:rPr>
              <a:t>3.3 FTE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BE92E-4482-C2E8-BEFB-5FBE22C98626}"/>
              </a:ext>
            </a:extLst>
          </p:cNvPr>
          <p:cNvSpPr txBox="1"/>
          <p:nvPr/>
        </p:nvSpPr>
        <p:spPr>
          <a:xfrm>
            <a:off x="1393119" y="1071587"/>
            <a:ext cx="14813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32D37"/>
                </a:solidFill>
                <a:latin typeface="Aptos"/>
              </a:rPr>
              <a:t>Peak demand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EA66FD-ADF9-FE9E-55EB-6DE56DA165A1}"/>
              </a:ext>
            </a:extLst>
          </p:cNvPr>
          <p:cNvSpPr txBox="1"/>
          <p:nvPr/>
        </p:nvSpPr>
        <p:spPr>
          <a:xfrm>
            <a:off x="1393119" y="1281899"/>
            <a:ext cx="148132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69747E"/>
                </a:solidFill>
                <a:latin typeface="Aptos"/>
              </a:rPr>
              <a:t>Before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AD77ED8E-11C7-550F-AEB9-E4CAE6DFE43C}"/>
              </a:ext>
            </a:extLst>
          </p:cNvPr>
          <p:cNvSpPr/>
          <p:nvPr/>
        </p:nvSpPr>
        <p:spPr>
          <a:xfrm>
            <a:off x="3267639" y="1007579"/>
            <a:ext cx="260604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3604D-B592-0130-261D-5DE617B2C1CA}"/>
              </a:ext>
            </a:extLst>
          </p:cNvPr>
          <p:cNvSpPr txBox="1"/>
          <p:nvPr/>
        </p:nvSpPr>
        <p:spPr>
          <a:xfrm>
            <a:off x="3377367" y="1071587"/>
            <a:ext cx="8229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1.0 FTE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418CF-05B8-2DA8-746A-61565265D1D2}"/>
              </a:ext>
            </a:extLst>
          </p:cNvPr>
          <p:cNvSpPr txBox="1"/>
          <p:nvPr/>
        </p:nvSpPr>
        <p:spPr>
          <a:xfrm>
            <a:off x="4209471" y="1071587"/>
            <a:ext cx="14813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32D37"/>
                </a:solidFill>
                <a:latin typeface="Aptos"/>
              </a:rPr>
              <a:t>Role capacity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4C63F5-0629-2831-F6C1-C3C9FC36D6B0}"/>
              </a:ext>
            </a:extLst>
          </p:cNvPr>
          <p:cNvSpPr txBox="1"/>
          <p:nvPr/>
        </p:nvSpPr>
        <p:spPr>
          <a:xfrm>
            <a:off x="4209471" y="1281899"/>
            <a:ext cx="148132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69747E"/>
                </a:solidFill>
                <a:latin typeface="Aptos"/>
              </a:rPr>
              <a:t>Per resource</a:t>
            </a:r>
          </a:p>
        </p:txBody>
      </p:sp>
      <p:sp>
        <p:nvSpPr>
          <p:cNvPr id="11" name="Rounded Rectangle 11">
            <a:extLst>
              <a:ext uri="{FF2B5EF4-FFF2-40B4-BE49-F238E27FC236}">
                <a16:creationId xmlns:a16="http://schemas.microsoft.com/office/drawing/2014/main" id="{40C37BF9-CF6E-5628-F794-23D0ACB2EDC1}"/>
              </a:ext>
            </a:extLst>
          </p:cNvPr>
          <p:cNvSpPr/>
          <p:nvPr/>
        </p:nvSpPr>
        <p:spPr>
          <a:xfrm>
            <a:off x="6083991" y="1007579"/>
            <a:ext cx="260604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81F2F1-2BCA-158B-17D0-3EDC037EF353}"/>
              </a:ext>
            </a:extLst>
          </p:cNvPr>
          <p:cNvSpPr txBox="1"/>
          <p:nvPr/>
        </p:nvSpPr>
        <p:spPr>
          <a:xfrm>
            <a:off x="6193719" y="1071587"/>
            <a:ext cx="8229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W16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0E8616-DCB3-3C1E-51A5-71D402BE493B}"/>
              </a:ext>
            </a:extLst>
          </p:cNvPr>
          <p:cNvSpPr txBox="1"/>
          <p:nvPr/>
        </p:nvSpPr>
        <p:spPr>
          <a:xfrm>
            <a:off x="7025823" y="1071587"/>
            <a:ext cx="14813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32D37"/>
                </a:solidFill>
                <a:latin typeface="Aptos"/>
              </a:rPr>
              <a:t>Peak week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DF26F6-9C9F-DDB3-39C6-888417E2E434}"/>
              </a:ext>
            </a:extLst>
          </p:cNvPr>
          <p:cNvSpPr txBox="1"/>
          <p:nvPr/>
        </p:nvSpPr>
        <p:spPr>
          <a:xfrm>
            <a:off x="7025823" y="1281899"/>
            <a:ext cx="148132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69747E"/>
                </a:solidFill>
                <a:latin typeface="Aptos"/>
              </a:rPr>
              <a:t>Highest load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63A8DB33-FC45-83C4-9BE2-1FFD2884B5AE}"/>
              </a:ext>
            </a:extLst>
          </p:cNvPr>
          <p:cNvSpPr/>
          <p:nvPr/>
        </p:nvSpPr>
        <p:spPr>
          <a:xfrm>
            <a:off x="8900343" y="1007579"/>
            <a:ext cx="260604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B98B4-E492-8B15-A23D-EA9FE95587A4}"/>
              </a:ext>
            </a:extLst>
          </p:cNvPr>
          <p:cNvSpPr txBox="1"/>
          <p:nvPr/>
        </p:nvSpPr>
        <p:spPr>
          <a:xfrm>
            <a:off x="9010071" y="1071587"/>
            <a:ext cx="8229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W31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55125-4578-E701-78F9-2566B2C19719}"/>
              </a:ext>
            </a:extLst>
          </p:cNvPr>
          <p:cNvSpPr txBox="1"/>
          <p:nvPr/>
        </p:nvSpPr>
        <p:spPr>
          <a:xfrm>
            <a:off x="9842175" y="1071587"/>
            <a:ext cx="148132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32D37"/>
                </a:solidFill>
                <a:latin typeface="Aptos"/>
              </a:rPr>
              <a:t>CPM finish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BB8871-9E60-9578-2ABA-9151535E98B6}"/>
              </a:ext>
            </a:extLst>
          </p:cNvPr>
          <p:cNvSpPr txBox="1"/>
          <p:nvPr/>
        </p:nvSpPr>
        <p:spPr>
          <a:xfrm>
            <a:off x="9842175" y="1281899"/>
            <a:ext cx="1481328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69747E"/>
                </a:solidFill>
                <a:latin typeface="Aptos"/>
              </a:rPr>
              <a:t>Protected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33CC31-DA1C-B611-74A1-0DB95C335F65}"/>
              </a:ext>
            </a:extLst>
          </p:cNvPr>
          <p:cNvSpPr txBox="1"/>
          <p:nvPr/>
        </p:nvSpPr>
        <p:spPr>
          <a:xfrm>
            <a:off x="561015" y="1693379"/>
            <a:ext cx="3200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304F"/>
                </a:solidFill>
                <a:latin typeface="Aptos"/>
              </a:rPr>
              <a:t>BEFORE — RESOURCE DEMAND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80BD7-5EF1-4883-9975-CBA8E899714B}"/>
              </a:ext>
            </a:extLst>
          </p:cNvPr>
          <p:cNvSpPr txBox="1"/>
          <p:nvPr/>
        </p:nvSpPr>
        <p:spPr>
          <a:xfrm>
            <a:off x="7556175" y="1949411"/>
            <a:ext cx="3840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304F"/>
                </a:solidFill>
                <a:latin typeface="Aptos"/>
              </a:rPr>
              <a:t>LEVELLING ACTIONS</a:t>
            </a:r>
          </a:p>
        </p:txBody>
      </p:sp>
      <p:sp>
        <p:nvSpPr>
          <p:cNvPr id="21" name="Rounded Rectangle 66">
            <a:extLst>
              <a:ext uri="{FF2B5EF4-FFF2-40B4-BE49-F238E27FC236}">
                <a16:creationId xmlns:a16="http://schemas.microsoft.com/office/drawing/2014/main" id="{3251C3B9-933F-9AEA-D3B3-D4E89216085D}"/>
              </a:ext>
            </a:extLst>
          </p:cNvPr>
          <p:cNvSpPr/>
          <p:nvPr/>
        </p:nvSpPr>
        <p:spPr>
          <a:xfrm>
            <a:off x="7556175" y="2315171"/>
            <a:ext cx="388620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67">
            <a:extLst>
              <a:ext uri="{FF2B5EF4-FFF2-40B4-BE49-F238E27FC236}">
                <a16:creationId xmlns:a16="http://schemas.microsoft.com/office/drawing/2014/main" id="{EEEFE775-EB5F-6C4E-523A-CF78350EBF7D}"/>
              </a:ext>
            </a:extLst>
          </p:cNvPr>
          <p:cNvSpPr/>
          <p:nvPr/>
        </p:nvSpPr>
        <p:spPr>
          <a:xfrm>
            <a:off x="7665902" y="2452330"/>
            <a:ext cx="384048" cy="384048"/>
          </a:xfrm>
          <a:prstGeom prst="round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7578F9-11BE-D115-3D23-AA7264ED34D2}"/>
              </a:ext>
            </a:extLst>
          </p:cNvPr>
          <p:cNvSpPr txBox="1"/>
          <p:nvPr/>
        </p:nvSpPr>
        <p:spPr>
          <a:xfrm>
            <a:off x="7665902" y="245233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FFBD03-913D-FBF8-3F83-C3A0EC002B7B}"/>
              </a:ext>
            </a:extLst>
          </p:cNvPr>
          <p:cNvSpPr txBox="1"/>
          <p:nvPr/>
        </p:nvSpPr>
        <p:spPr>
          <a:xfrm>
            <a:off x="8196254" y="2379178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2304F"/>
                </a:solidFill>
                <a:latin typeface="Aptos"/>
              </a:rPr>
              <a:t>Use float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577555-086E-4B4A-3E31-A1A828C72AA5}"/>
              </a:ext>
            </a:extLst>
          </p:cNvPr>
          <p:cNvSpPr txBox="1"/>
          <p:nvPr/>
        </p:nvSpPr>
        <p:spPr>
          <a:xfrm>
            <a:off x="8196254" y="258949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10" b="0" dirty="0">
                <a:solidFill>
                  <a:srgbClr val="69747E"/>
                </a:solidFill>
                <a:latin typeface="Aptos"/>
              </a:rPr>
              <a:t>Shift M within its available float
W14–16 → W18–20</a:t>
            </a:r>
          </a:p>
        </p:txBody>
      </p:sp>
      <p:sp>
        <p:nvSpPr>
          <p:cNvPr id="26" name="Rounded Rectangle 71">
            <a:extLst>
              <a:ext uri="{FF2B5EF4-FFF2-40B4-BE49-F238E27FC236}">
                <a16:creationId xmlns:a16="http://schemas.microsoft.com/office/drawing/2014/main" id="{AE8D0B7D-A2AA-3081-BFB9-677FFC560929}"/>
              </a:ext>
            </a:extLst>
          </p:cNvPr>
          <p:cNvSpPr/>
          <p:nvPr/>
        </p:nvSpPr>
        <p:spPr>
          <a:xfrm>
            <a:off x="7556175" y="3046690"/>
            <a:ext cx="388620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72">
            <a:extLst>
              <a:ext uri="{FF2B5EF4-FFF2-40B4-BE49-F238E27FC236}">
                <a16:creationId xmlns:a16="http://schemas.microsoft.com/office/drawing/2014/main" id="{53502A47-E28F-4E5F-D1DA-465D091E5C7B}"/>
              </a:ext>
            </a:extLst>
          </p:cNvPr>
          <p:cNvSpPr/>
          <p:nvPr/>
        </p:nvSpPr>
        <p:spPr>
          <a:xfrm>
            <a:off x="7665902" y="3183850"/>
            <a:ext cx="384048" cy="384048"/>
          </a:xfrm>
          <a:prstGeom prst="roundRect">
            <a:avLst/>
          </a:prstGeom>
          <a:solidFill>
            <a:srgbClr val="12304F"/>
          </a:solidFill>
          <a:ln w="762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221827-399E-575D-1A63-1856AFC51B5C}"/>
              </a:ext>
            </a:extLst>
          </p:cNvPr>
          <p:cNvSpPr txBox="1"/>
          <p:nvPr/>
        </p:nvSpPr>
        <p:spPr>
          <a:xfrm>
            <a:off x="7665902" y="3183850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CC69B6-DA4A-55C4-EECE-AABD5DAC375B}"/>
              </a:ext>
            </a:extLst>
          </p:cNvPr>
          <p:cNvSpPr txBox="1"/>
          <p:nvPr/>
        </p:nvSpPr>
        <p:spPr>
          <a:xfrm>
            <a:off x="8196254" y="3110698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2304F"/>
                </a:solidFill>
                <a:latin typeface="Aptos"/>
              </a:rPr>
              <a:t>Redistribute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D6DD7A-ACC6-3BD4-AC0A-9DE2BA85763C}"/>
              </a:ext>
            </a:extLst>
          </p:cNvPr>
          <p:cNvSpPr txBox="1"/>
          <p:nvPr/>
        </p:nvSpPr>
        <p:spPr>
          <a:xfrm>
            <a:off x="8196254" y="332101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10" b="0">
                <a:solidFill>
                  <a:srgbClr val="69747E"/>
                </a:solidFill>
                <a:latin typeface="Aptos"/>
              </a:rPr>
              <a:t>Split Frontend / Backend workload
across overlapping activities</a:t>
            </a:r>
          </a:p>
        </p:txBody>
      </p:sp>
      <p:sp>
        <p:nvSpPr>
          <p:cNvPr id="31" name="Rounded Rectangle 76">
            <a:extLst>
              <a:ext uri="{FF2B5EF4-FFF2-40B4-BE49-F238E27FC236}">
                <a16:creationId xmlns:a16="http://schemas.microsoft.com/office/drawing/2014/main" id="{169ED982-C21C-13D7-35B0-220B58616595}"/>
              </a:ext>
            </a:extLst>
          </p:cNvPr>
          <p:cNvSpPr/>
          <p:nvPr/>
        </p:nvSpPr>
        <p:spPr>
          <a:xfrm>
            <a:off x="7556175" y="3778210"/>
            <a:ext cx="388620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77">
            <a:extLst>
              <a:ext uri="{FF2B5EF4-FFF2-40B4-BE49-F238E27FC236}">
                <a16:creationId xmlns:a16="http://schemas.microsoft.com/office/drawing/2014/main" id="{47CEAD03-D65D-7606-D2B6-7B08BCAA91D3}"/>
              </a:ext>
            </a:extLst>
          </p:cNvPr>
          <p:cNvSpPr/>
          <p:nvPr/>
        </p:nvSpPr>
        <p:spPr>
          <a:xfrm>
            <a:off x="7665902" y="3915371"/>
            <a:ext cx="384048" cy="384048"/>
          </a:xfrm>
          <a:prstGeom prst="roundRect">
            <a:avLst/>
          </a:prstGeom>
          <a:solidFill>
            <a:srgbClr val="BF8F19"/>
          </a:solidFill>
          <a:ln w="7620">
            <a:solidFill>
              <a:srgbClr val="BF8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673A85-5991-3A2D-5E8F-1CA81A7D58FF}"/>
              </a:ext>
            </a:extLst>
          </p:cNvPr>
          <p:cNvSpPr txBox="1"/>
          <p:nvPr/>
        </p:nvSpPr>
        <p:spPr>
          <a:xfrm>
            <a:off x="7665902" y="3915371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DBC1BFF-4FE5-A6E3-C1D5-DB3E5B42C642}"/>
              </a:ext>
            </a:extLst>
          </p:cNvPr>
          <p:cNvSpPr txBox="1"/>
          <p:nvPr/>
        </p:nvSpPr>
        <p:spPr>
          <a:xfrm>
            <a:off x="8196254" y="3842219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2304F"/>
                </a:solidFill>
                <a:latin typeface="Aptos"/>
              </a:rPr>
              <a:t>Sequence AI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417913-301D-9A4D-CB25-90E30F0E2460}"/>
              </a:ext>
            </a:extLst>
          </p:cNvPr>
          <p:cNvSpPr txBox="1"/>
          <p:nvPr/>
        </p:nvSpPr>
        <p:spPr>
          <a:xfrm>
            <a:off x="8196254" y="405253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10" b="0">
                <a:solidFill>
                  <a:srgbClr val="69747E"/>
                </a:solidFill>
                <a:latin typeface="Aptos"/>
              </a:rPr>
              <a:t>Control J/K overlap + QA support
for AI test-harness work</a:t>
            </a:r>
          </a:p>
        </p:txBody>
      </p:sp>
      <p:sp>
        <p:nvSpPr>
          <p:cNvPr id="36" name="Rounded Rectangle 81">
            <a:extLst>
              <a:ext uri="{FF2B5EF4-FFF2-40B4-BE49-F238E27FC236}">
                <a16:creationId xmlns:a16="http://schemas.microsoft.com/office/drawing/2014/main" id="{EDC03547-70EE-A90B-429A-5F67107BF9C4}"/>
              </a:ext>
            </a:extLst>
          </p:cNvPr>
          <p:cNvSpPr/>
          <p:nvPr/>
        </p:nvSpPr>
        <p:spPr>
          <a:xfrm>
            <a:off x="7556175" y="4509730"/>
            <a:ext cx="3886200" cy="6583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82">
            <a:extLst>
              <a:ext uri="{FF2B5EF4-FFF2-40B4-BE49-F238E27FC236}">
                <a16:creationId xmlns:a16="http://schemas.microsoft.com/office/drawing/2014/main" id="{AC270E08-840E-5733-FD9B-5EDE0F25F37C}"/>
              </a:ext>
            </a:extLst>
          </p:cNvPr>
          <p:cNvSpPr/>
          <p:nvPr/>
        </p:nvSpPr>
        <p:spPr>
          <a:xfrm>
            <a:off x="7665902" y="4646891"/>
            <a:ext cx="384048" cy="384048"/>
          </a:xfrm>
          <a:prstGeom prst="roundRect">
            <a:avLst/>
          </a:prstGeom>
          <a:solidFill>
            <a:srgbClr val="487D4F"/>
          </a:solidFill>
          <a:ln w="7620">
            <a:solidFill>
              <a:srgbClr val="48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B0B31D-B9F4-1090-D0EE-415C783B9FC0}"/>
              </a:ext>
            </a:extLst>
          </p:cNvPr>
          <p:cNvSpPr txBox="1"/>
          <p:nvPr/>
        </p:nvSpPr>
        <p:spPr>
          <a:xfrm>
            <a:off x="7665902" y="4646891"/>
            <a:ext cx="384048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F586EC-6397-C92E-E4AE-502C9DBBB724}"/>
              </a:ext>
            </a:extLst>
          </p:cNvPr>
          <p:cNvSpPr txBox="1"/>
          <p:nvPr/>
        </p:nvSpPr>
        <p:spPr>
          <a:xfrm>
            <a:off x="8196254" y="4573739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2304F"/>
                </a:solidFill>
                <a:latin typeface="Aptos"/>
              </a:rPr>
              <a:t>Protect path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72855E-B97A-1B0E-1A4C-ECCC75138DFA}"/>
              </a:ext>
            </a:extLst>
          </p:cNvPr>
          <p:cNvSpPr txBox="1"/>
          <p:nvPr/>
        </p:nvSpPr>
        <p:spPr>
          <a:xfrm>
            <a:off x="8196254" y="4784050"/>
            <a:ext cx="3017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10" b="0">
                <a:solidFill>
                  <a:srgbClr val="69747E"/>
                </a:solidFill>
                <a:latin typeface="Aptos"/>
              </a:rPr>
              <a:t>Do not move critical-path completion
beyond Week 31</a:t>
            </a:r>
          </a:p>
        </p:txBody>
      </p:sp>
      <p:sp>
        <p:nvSpPr>
          <p:cNvPr id="41" name="Rounded Rectangle 86">
            <a:extLst>
              <a:ext uri="{FF2B5EF4-FFF2-40B4-BE49-F238E27FC236}">
                <a16:creationId xmlns:a16="http://schemas.microsoft.com/office/drawing/2014/main" id="{DC97BE98-32AB-49EA-C9FB-46C4D2BCB2B7}"/>
              </a:ext>
            </a:extLst>
          </p:cNvPr>
          <p:cNvSpPr/>
          <p:nvPr/>
        </p:nvSpPr>
        <p:spPr>
          <a:xfrm>
            <a:off x="7556175" y="5305259"/>
            <a:ext cx="3886200" cy="822960"/>
          </a:xfrm>
          <a:prstGeom prst="roundRect">
            <a:avLst/>
          </a:prstGeom>
          <a:solidFill>
            <a:srgbClr val="E7F4E9"/>
          </a:solidFill>
          <a:ln w="7620">
            <a:solidFill>
              <a:srgbClr val="48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8229FE-4E0B-C6A4-F2E3-6AC1DCACF7B0}"/>
              </a:ext>
            </a:extLst>
          </p:cNvPr>
          <p:cNvSpPr txBox="1"/>
          <p:nvPr/>
        </p:nvSpPr>
        <p:spPr>
          <a:xfrm>
            <a:off x="7720766" y="5396699"/>
            <a:ext cx="10515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487D4F"/>
                </a:solidFill>
                <a:latin typeface="Aptos"/>
              </a:rPr>
              <a:t>AFTER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EAA13E-2A74-2F36-C414-E6FF24462102}"/>
              </a:ext>
            </a:extLst>
          </p:cNvPr>
          <p:cNvSpPr txBox="1"/>
          <p:nvPr/>
        </p:nvSpPr>
        <p:spPr>
          <a:xfrm>
            <a:off x="8744895" y="5360123"/>
            <a:ext cx="24231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232D37"/>
                </a:solidFill>
                <a:latin typeface="Aptos"/>
              </a:rPr>
              <a:t>Demand peaks are smoothed
without changing W31 completion.</a:t>
            </a:r>
          </a:p>
        </p:txBody>
      </p:sp>
      <p:sp>
        <p:nvSpPr>
          <p:cNvPr id="44" name="Rounded Rectangle 89">
            <a:extLst>
              <a:ext uri="{FF2B5EF4-FFF2-40B4-BE49-F238E27FC236}">
                <a16:creationId xmlns:a16="http://schemas.microsoft.com/office/drawing/2014/main" id="{4F090FEA-91C8-F908-C60B-FC029B945A01}"/>
              </a:ext>
            </a:extLst>
          </p:cNvPr>
          <p:cNvSpPr/>
          <p:nvPr/>
        </p:nvSpPr>
        <p:spPr>
          <a:xfrm>
            <a:off x="451287" y="5972771"/>
            <a:ext cx="10991088" cy="420624"/>
          </a:xfrm>
          <a:prstGeom prst="roundRect">
            <a:avLst/>
          </a:prstGeom>
          <a:solidFill>
            <a:srgbClr val="12304F"/>
          </a:solidFill>
          <a:ln w="762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F7B4E6-56D1-340D-6D05-49EA6AEE445E}"/>
              </a:ext>
            </a:extLst>
          </p:cNvPr>
          <p:cNvSpPr txBox="1"/>
          <p:nvPr/>
        </p:nvSpPr>
        <p:spPr>
          <a:xfrm>
            <a:off x="634167" y="6036779"/>
            <a:ext cx="10652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PM DECISION  |  Level first using float + workload redistribution; crash only if management values earlier completion.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89E409-2733-1558-B01E-C05B13F5C339}"/>
              </a:ext>
            </a:extLst>
          </p:cNvPr>
          <p:cNvSpPr/>
          <p:nvPr/>
        </p:nvSpPr>
        <p:spPr>
          <a:xfrm>
            <a:off x="451287" y="1885403"/>
            <a:ext cx="6720840" cy="3520440"/>
          </a:xfrm>
          <a:prstGeom prst="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B52143B-EBE3-C847-866B-C421C9418150}"/>
              </a:ext>
            </a:extLst>
          </p:cNvPr>
          <p:cNvSpPr/>
          <p:nvPr/>
        </p:nvSpPr>
        <p:spPr>
          <a:xfrm>
            <a:off x="890199" y="5177243"/>
            <a:ext cx="5989320" cy="548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4F676E-4137-C147-9C55-84173AD1250C}"/>
              </a:ext>
            </a:extLst>
          </p:cNvPr>
          <p:cNvSpPr txBox="1"/>
          <p:nvPr/>
        </p:nvSpPr>
        <p:spPr>
          <a:xfrm>
            <a:off x="506150" y="5104091"/>
            <a:ext cx="25603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9747E"/>
                </a:solidFill>
                <a:latin typeface="Aptos"/>
              </a:rPr>
              <a:t>0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4C50E9-DBB9-A387-5740-9BFE62056472}"/>
              </a:ext>
            </a:extLst>
          </p:cNvPr>
          <p:cNvSpPr/>
          <p:nvPr/>
        </p:nvSpPr>
        <p:spPr>
          <a:xfrm>
            <a:off x="890199" y="4434293"/>
            <a:ext cx="5989320" cy="548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5285A5-9ED1-8F0B-3DDE-C8B74E4CB66F}"/>
              </a:ext>
            </a:extLst>
          </p:cNvPr>
          <p:cNvSpPr txBox="1"/>
          <p:nvPr/>
        </p:nvSpPr>
        <p:spPr>
          <a:xfrm>
            <a:off x="506150" y="4361141"/>
            <a:ext cx="25603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9747E"/>
                </a:solidFill>
                <a:latin typeface="Aptos"/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D4A7807-564E-8AD6-2917-CAAA7C522BD9}"/>
              </a:ext>
            </a:extLst>
          </p:cNvPr>
          <p:cNvSpPr/>
          <p:nvPr/>
        </p:nvSpPr>
        <p:spPr>
          <a:xfrm>
            <a:off x="890199" y="3691342"/>
            <a:ext cx="5989320" cy="548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1EE58-8977-9FB9-8068-213FAF2F4DF9}"/>
              </a:ext>
            </a:extLst>
          </p:cNvPr>
          <p:cNvSpPr txBox="1"/>
          <p:nvPr/>
        </p:nvSpPr>
        <p:spPr>
          <a:xfrm>
            <a:off x="506150" y="3618190"/>
            <a:ext cx="25603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9747E"/>
                </a:solidFill>
                <a:latin typeface="Aptos"/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71AD112-B641-0C50-347C-9A6D168114F1}"/>
              </a:ext>
            </a:extLst>
          </p:cNvPr>
          <p:cNvSpPr/>
          <p:nvPr/>
        </p:nvSpPr>
        <p:spPr>
          <a:xfrm>
            <a:off x="890199" y="2948392"/>
            <a:ext cx="5989320" cy="548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70C146-B18D-B543-2E95-1902CF116987}"/>
              </a:ext>
            </a:extLst>
          </p:cNvPr>
          <p:cNvSpPr txBox="1"/>
          <p:nvPr/>
        </p:nvSpPr>
        <p:spPr>
          <a:xfrm>
            <a:off x="506150" y="2875240"/>
            <a:ext cx="25603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9747E"/>
                </a:solidFill>
                <a:latin typeface="Aptos"/>
              </a:rPr>
              <a:t>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6D1CE7B-8FB2-219F-36A5-FD906030B102}"/>
              </a:ext>
            </a:extLst>
          </p:cNvPr>
          <p:cNvSpPr/>
          <p:nvPr/>
        </p:nvSpPr>
        <p:spPr>
          <a:xfrm>
            <a:off x="890199" y="2205442"/>
            <a:ext cx="5989320" cy="5486"/>
          </a:xfrm>
          <a:prstGeom prst="rect">
            <a:avLst/>
          </a:prstGeom>
          <a:solidFill>
            <a:srgbClr val="DA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649809E-1BE9-5076-B949-9C5C6963E423}"/>
              </a:ext>
            </a:extLst>
          </p:cNvPr>
          <p:cNvSpPr txBox="1"/>
          <p:nvPr/>
        </p:nvSpPr>
        <p:spPr>
          <a:xfrm>
            <a:off x="506150" y="2132290"/>
            <a:ext cx="256032" cy="146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650" b="0">
                <a:solidFill>
                  <a:srgbClr val="69747E"/>
                </a:solidFill>
                <a:latin typeface="Aptos"/>
              </a:rPr>
              <a:t>4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9EEE3B8-BC4A-0E77-3F1F-1C6012DB8E5E}"/>
              </a:ext>
            </a:extLst>
          </p:cNvPr>
          <p:cNvSpPr/>
          <p:nvPr/>
        </p:nvSpPr>
        <p:spPr>
          <a:xfrm>
            <a:off x="935918" y="4434293"/>
            <a:ext cx="132588" cy="74295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D4FB164-83D0-C72D-86D5-B3E1BFABDDF6}"/>
              </a:ext>
            </a:extLst>
          </p:cNvPr>
          <p:cNvSpPr/>
          <p:nvPr/>
        </p:nvSpPr>
        <p:spPr>
          <a:xfrm>
            <a:off x="1126173" y="3988523"/>
            <a:ext cx="132588" cy="118872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9CB2E17-325D-E91F-11E3-97B405F3EAAA}"/>
              </a:ext>
            </a:extLst>
          </p:cNvPr>
          <p:cNvSpPr/>
          <p:nvPr/>
        </p:nvSpPr>
        <p:spPr>
          <a:xfrm>
            <a:off x="1316427" y="3988523"/>
            <a:ext cx="132588" cy="118872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F7333A7-7DD4-FBCE-864F-CFDFAAD4BB77}"/>
              </a:ext>
            </a:extLst>
          </p:cNvPr>
          <p:cNvSpPr/>
          <p:nvPr/>
        </p:nvSpPr>
        <p:spPr>
          <a:xfrm>
            <a:off x="1506681" y="4062817"/>
            <a:ext cx="132588" cy="111442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11D9E3-03B4-61B3-A46A-0AC5AAEA8E1F}"/>
              </a:ext>
            </a:extLst>
          </p:cNvPr>
          <p:cNvSpPr/>
          <p:nvPr/>
        </p:nvSpPr>
        <p:spPr>
          <a:xfrm>
            <a:off x="1696935" y="4062817"/>
            <a:ext cx="132588" cy="111442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83460F4-CB81-0875-234B-BC10E25EFE0A}"/>
              </a:ext>
            </a:extLst>
          </p:cNvPr>
          <p:cNvSpPr/>
          <p:nvPr/>
        </p:nvSpPr>
        <p:spPr>
          <a:xfrm>
            <a:off x="1887189" y="4062817"/>
            <a:ext cx="132588" cy="111442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3340D6C-0E38-33D4-675B-000469E7D01E}"/>
              </a:ext>
            </a:extLst>
          </p:cNvPr>
          <p:cNvSpPr/>
          <p:nvPr/>
        </p:nvSpPr>
        <p:spPr>
          <a:xfrm>
            <a:off x="2077444" y="3245572"/>
            <a:ext cx="132588" cy="193167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EF81729-5F6B-6448-90FD-A553E095C23F}"/>
              </a:ext>
            </a:extLst>
          </p:cNvPr>
          <p:cNvSpPr/>
          <p:nvPr/>
        </p:nvSpPr>
        <p:spPr>
          <a:xfrm>
            <a:off x="2267698" y="3245572"/>
            <a:ext cx="132588" cy="193167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60C84DC-0BD7-1033-C710-88CD2AEBA60F}"/>
              </a:ext>
            </a:extLst>
          </p:cNvPr>
          <p:cNvSpPr/>
          <p:nvPr/>
        </p:nvSpPr>
        <p:spPr>
          <a:xfrm>
            <a:off x="2457952" y="3171277"/>
            <a:ext cx="132588" cy="200596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72E1227-9797-65C2-3D18-622AAD90FA34}"/>
              </a:ext>
            </a:extLst>
          </p:cNvPr>
          <p:cNvSpPr/>
          <p:nvPr/>
        </p:nvSpPr>
        <p:spPr>
          <a:xfrm>
            <a:off x="2648206" y="3171277"/>
            <a:ext cx="132588" cy="200596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2AC4CC-4CF2-C1EC-CC74-C430820F1C86}"/>
              </a:ext>
            </a:extLst>
          </p:cNvPr>
          <p:cNvSpPr/>
          <p:nvPr/>
        </p:nvSpPr>
        <p:spPr>
          <a:xfrm>
            <a:off x="2838460" y="3468458"/>
            <a:ext cx="132588" cy="170878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7C76E14-CEB8-D09A-ED88-B1BD1137D90E}"/>
              </a:ext>
            </a:extLst>
          </p:cNvPr>
          <p:cNvSpPr/>
          <p:nvPr/>
        </p:nvSpPr>
        <p:spPr>
          <a:xfrm>
            <a:off x="3028715" y="3096983"/>
            <a:ext cx="132588" cy="208026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2D67C25-C1D9-208D-9BEE-92846FCBF444}"/>
              </a:ext>
            </a:extLst>
          </p:cNvPr>
          <p:cNvSpPr/>
          <p:nvPr/>
        </p:nvSpPr>
        <p:spPr>
          <a:xfrm>
            <a:off x="3218969" y="3096983"/>
            <a:ext cx="132588" cy="208026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BAC408E-8DFF-8376-B19F-3736DFB3777D}"/>
              </a:ext>
            </a:extLst>
          </p:cNvPr>
          <p:cNvSpPr/>
          <p:nvPr/>
        </p:nvSpPr>
        <p:spPr>
          <a:xfrm>
            <a:off x="3409223" y="3022688"/>
            <a:ext cx="132588" cy="2154554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32DDC8-B19D-E4D9-1FA2-3CC03A0FD2D2}"/>
              </a:ext>
            </a:extLst>
          </p:cNvPr>
          <p:cNvSpPr/>
          <p:nvPr/>
        </p:nvSpPr>
        <p:spPr>
          <a:xfrm>
            <a:off x="3599477" y="3022688"/>
            <a:ext cx="132588" cy="2154554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8F32074-E013-91BA-5816-C2641425C4A2}"/>
              </a:ext>
            </a:extLst>
          </p:cNvPr>
          <p:cNvSpPr/>
          <p:nvPr/>
        </p:nvSpPr>
        <p:spPr>
          <a:xfrm>
            <a:off x="3789731" y="2725508"/>
            <a:ext cx="132588" cy="2451735"/>
          </a:xfrm>
          <a:prstGeom prst="rect">
            <a:avLst/>
          </a:prstGeom>
          <a:solidFill>
            <a:srgbClr val="B93F3B"/>
          </a:solidFill>
          <a:ln w="762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A931459-87F6-3889-9056-71BDFBAB47C6}"/>
              </a:ext>
            </a:extLst>
          </p:cNvPr>
          <p:cNvSpPr/>
          <p:nvPr/>
        </p:nvSpPr>
        <p:spPr>
          <a:xfrm>
            <a:off x="3979986" y="3691342"/>
            <a:ext cx="132588" cy="148590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490E70F-41FB-6326-04AE-8891C94C2904}"/>
              </a:ext>
            </a:extLst>
          </p:cNvPr>
          <p:cNvSpPr/>
          <p:nvPr/>
        </p:nvSpPr>
        <p:spPr>
          <a:xfrm>
            <a:off x="4170240" y="3096983"/>
            <a:ext cx="132588" cy="2080260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9914BD2-8CA4-9350-8194-F870AF10C9A6}"/>
              </a:ext>
            </a:extLst>
          </p:cNvPr>
          <p:cNvSpPr/>
          <p:nvPr/>
        </p:nvSpPr>
        <p:spPr>
          <a:xfrm>
            <a:off x="4360494" y="3096983"/>
            <a:ext cx="132588" cy="2080260"/>
          </a:xfrm>
          <a:prstGeom prst="rect">
            <a:avLst/>
          </a:prstGeom>
          <a:solidFill>
            <a:srgbClr val="B93F3B"/>
          </a:solidFill>
          <a:ln w="762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996EC65-FA0A-52CF-C910-3DF18262981D}"/>
              </a:ext>
            </a:extLst>
          </p:cNvPr>
          <p:cNvSpPr/>
          <p:nvPr/>
        </p:nvSpPr>
        <p:spPr>
          <a:xfrm>
            <a:off x="4550748" y="3096983"/>
            <a:ext cx="132588" cy="2080260"/>
          </a:xfrm>
          <a:prstGeom prst="rect">
            <a:avLst/>
          </a:prstGeom>
          <a:solidFill>
            <a:srgbClr val="B93F3B"/>
          </a:solidFill>
          <a:ln w="762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2E4D1E3-730F-0181-081A-3E1D987243F8}"/>
              </a:ext>
            </a:extLst>
          </p:cNvPr>
          <p:cNvSpPr/>
          <p:nvPr/>
        </p:nvSpPr>
        <p:spPr>
          <a:xfrm>
            <a:off x="4741002" y="3617048"/>
            <a:ext cx="132588" cy="156019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C47F003-C8C1-2442-E0EE-87A5159D9B2D}"/>
              </a:ext>
            </a:extLst>
          </p:cNvPr>
          <p:cNvSpPr/>
          <p:nvPr/>
        </p:nvSpPr>
        <p:spPr>
          <a:xfrm>
            <a:off x="4931257" y="3617048"/>
            <a:ext cx="132588" cy="156019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E4CA150-77E2-5E19-FF0D-B25B1D491B0A}"/>
              </a:ext>
            </a:extLst>
          </p:cNvPr>
          <p:cNvSpPr/>
          <p:nvPr/>
        </p:nvSpPr>
        <p:spPr>
          <a:xfrm>
            <a:off x="5121511" y="3617048"/>
            <a:ext cx="132588" cy="156019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E86CFE00-4F5C-E634-8023-261332E4DDC6}"/>
              </a:ext>
            </a:extLst>
          </p:cNvPr>
          <p:cNvSpPr/>
          <p:nvPr/>
        </p:nvSpPr>
        <p:spPr>
          <a:xfrm>
            <a:off x="5311765" y="3617048"/>
            <a:ext cx="132588" cy="156019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C3EF43A-8141-ABBB-EC01-D231C5A39B6D}"/>
              </a:ext>
            </a:extLst>
          </p:cNvPr>
          <p:cNvSpPr/>
          <p:nvPr/>
        </p:nvSpPr>
        <p:spPr>
          <a:xfrm>
            <a:off x="5502019" y="3617048"/>
            <a:ext cx="132588" cy="156019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F93F0F2-6ABE-5C40-F755-A704C5CB1A65}"/>
              </a:ext>
            </a:extLst>
          </p:cNvPr>
          <p:cNvSpPr/>
          <p:nvPr/>
        </p:nvSpPr>
        <p:spPr>
          <a:xfrm>
            <a:off x="5692273" y="3617048"/>
            <a:ext cx="132588" cy="156019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599BAB8-FD99-CC58-F995-21CA4AF339BA}"/>
              </a:ext>
            </a:extLst>
          </p:cNvPr>
          <p:cNvSpPr/>
          <p:nvPr/>
        </p:nvSpPr>
        <p:spPr>
          <a:xfrm>
            <a:off x="5882528" y="3765637"/>
            <a:ext cx="132588" cy="141160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08910D7-ECDC-329A-9F67-F8EDC894881E}"/>
              </a:ext>
            </a:extLst>
          </p:cNvPr>
          <p:cNvSpPr/>
          <p:nvPr/>
        </p:nvSpPr>
        <p:spPr>
          <a:xfrm>
            <a:off x="6072782" y="3765637"/>
            <a:ext cx="132588" cy="141160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E9E6084-0EF6-41D6-6D6E-FD4743921465}"/>
              </a:ext>
            </a:extLst>
          </p:cNvPr>
          <p:cNvSpPr/>
          <p:nvPr/>
        </p:nvSpPr>
        <p:spPr>
          <a:xfrm>
            <a:off x="6263036" y="3765637"/>
            <a:ext cx="132588" cy="141160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F9A90C1-3901-6A3E-BE8D-EE450BBCFB71}"/>
              </a:ext>
            </a:extLst>
          </p:cNvPr>
          <p:cNvSpPr/>
          <p:nvPr/>
        </p:nvSpPr>
        <p:spPr>
          <a:xfrm>
            <a:off x="6453290" y="3765637"/>
            <a:ext cx="132588" cy="141160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698EE3C-56B2-CAB9-4403-8B1AB410D8AF}"/>
              </a:ext>
            </a:extLst>
          </p:cNvPr>
          <p:cNvSpPr/>
          <p:nvPr/>
        </p:nvSpPr>
        <p:spPr>
          <a:xfrm>
            <a:off x="6643544" y="4062817"/>
            <a:ext cx="132588" cy="1114425"/>
          </a:xfrm>
          <a:prstGeom prst="rect">
            <a:avLst/>
          </a:prstGeom>
          <a:solidFill>
            <a:srgbClr val="1F8F91"/>
          </a:solidFill>
          <a:ln w="7620">
            <a:solidFill>
              <a:srgbClr val="1F8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4ED529-69CD-46DF-E996-56A636FC9986}"/>
              </a:ext>
            </a:extLst>
          </p:cNvPr>
          <p:cNvSpPr txBox="1"/>
          <p:nvPr/>
        </p:nvSpPr>
        <p:spPr>
          <a:xfrm>
            <a:off x="844478" y="5286971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>
                <a:solidFill>
                  <a:srgbClr val="69747E"/>
                </a:solidFill>
                <a:latin typeface="Aptos"/>
              </a:rPr>
              <a:t>W1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41C24E-398E-2C6E-3AF4-E383819ACA5A}"/>
              </a:ext>
            </a:extLst>
          </p:cNvPr>
          <p:cNvSpPr txBox="1"/>
          <p:nvPr/>
        </p:nvSpPr>
        <p:spPr>
          <a:xfrm>
            <a:off x="2176258" y="5286971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>
                <a:solidFill>
                  <a:srgbClr val="69747E"/>
                </a:solidFill>
                <a:latin typeface="Aptos"/>
              </a:rPr>
              <a:t>W8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CA9861C-64BD-41E7-9F4E-BAAC736918AE}"/>
              </a:ext>
            </a:extLst>
          </p:cNvPr>
          <p:cNvSpPr txBox="1"/>
          <p:nvPr/>
        </p:nvSpPr>
        <p:spPr>
          <a:xfrm>
            <a:off x="3698291" y="5286971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>
                <a:solidFill>
                  <a:srgbClr val="69747E"/>
                </a:solidFill>
                <a:latin typeface="Aptos"/>
              </a:rPr>
              <a:t>W16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387451B-4A65-6F1D-1416-6A41FFE26541}"/>
              </a:ext>
            </a:extLst>
          </p:cNvPr>
          <p:cNvSpPr txBox="1"/>
          <p:nvPr/>
        </p:nvSpPr>
        <p:spPr>
          <a:xfrm>
            <a:off x="5220325" y="5286971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>
                <a:solidFill>
                  <a:srgbClr val="69747E"/>
                </a:solidFill>
                <a:latin typeface="Aptos"/>
              </a:rPr>
              <a:t>W24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3500F9C-32D2-0A3C-F6E1-310FB2CAE571}"/>
              </a:ext>
            </a:extLst>
          </p:cNvPr>
          <p:cNvSpPr txBox="1"/>
          <p:nvPr/>
        </p:nvSpPr>
        <p:spPr>
          <a:xfrm>
            <a:off x="6552104" y="5286971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50" b="0">
                <a:solidFill>
                  <a:srgbClr val="69747E"/>
                </a:solidFill>
                <a:latin typeface="Aptos"/>
              </a:rPr>
              <a:t>W31</a:t>
            </a:r>
          </a:p>
        </p:txBody>
      </p:sp>
      <p:sp>
        <p:nvSpPr>
          <p:cNvPr id="93" name="Rounded Rectangle 63">
            <a:extLst>
              <a:ext uri="{FF2B5EF4-FFF2-40B4-BE49-F238E27FC236}">
                <a16:creationId xmlns:a16="http://schemas.microsoft.com/office/drawing/2014/main" id="{9A75F1DD-B677-D198-270F-92E8F2AB408A}"/>
              </a:ext>
            </a:extLst>
          </p:cNvPr>
          <p:cNvSpPr/>
          <p:nvPr/>
        </p:nvSpPr>
        <p:spPr>
          <a:xfrm>
            <a:off x="3350819" y="2314027"/>
            <a:ext cx="1143000" cy="310896"/>
          </a:xfrm>
          <a:prstGeom prst="roundRect">
            <a:avLst/>
          </a:prstGeom>
          <a:solidFill>
            <a:srgbClr val="FCEBE9"/>
          </a:solidFill>
          <a:ln w="7620">
            <a:solidFill>
              <a:srgbClr val="B93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12581E7-52EE-2F68-79DC-F8FE047DFE36}"/>
              </a:ext>
            </a:extLst>
          </p:cNvPr>
          <p:cNvSpPr txBox="1"/>
          <p:nvPr/>
        </p:nvSpPr>
        <p:spPr>
          <a:xfrm>
            <a:off x="3396539" y="2341460"/>
            <a:ext cx="105156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B93F3B"/>
                </a:solidFill>
                <a:latin typeface="Aptos"/>
              </a:rPr>
              <a:t>3.3 FTE peak</a:t>
            </a:r>
          </a:p>
        </p:txBody>
      </p:sp>
    </p:spTree>
    <p:extLst>
      <p:ext uri="{BB962C8B-B14F-4D97-AF65-F5344CB8AC3E}">
        <p14:creationId xmlns:p14="http://schemas.microsoft.com/office/powerpoint/2010/main" val="244035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77D1AA-772B-0B27-DC60-C13244D3907F}"/>
              </a:ext>
            </a:extLst>
          </p:cNvPr>
          <p:cNvSpPr txBox="1">
            <a:spLocks/>
          </p:cNvSpPr>
          <p:nvPr/>
        </p:nvSpPr>
        <p:spPr>
          <a:xfrm>
            <a:off x="533930" y="360236"/>
            <a:ext cx="10515600" cy="75958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b="1" dirty="0">
                <a:solidFill>
                  <a:srgbClr val="1F3864"/>
                </a:solidFill>
                <a:latin typeface="Calibri"/>
              </a:rPr>
              <a:t>Project Crashing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D9812-9D3D-7671-D86F-D9B4A818843E}"/>
              </a:ext>
            </a:extLst>
          </p:cNvPr>
          <p:cNvSpPr txBox="1"/>
          <p:nvPr/>
        </p:nvSpPr>
        <p:spPr>
          <a:xfrm>
            <a:off x="524786" y="1106424"/>
            <a:ext cx="107899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0">
                <a:solidFill>
                  <a:srgbClr val="69747E"/>
                </a:solidFill>
                <a:latin typeface="Aptos"/>
              </a:rPr>
              <a:t>Selective compression of critical-path activities to accelerate completion — without compromising the Week 34 deadline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F84C1B38-3B44-1954-79A9-03F106719A49}"/>
              </a:ext>
            </a:extLst>
          </p:cNvPr>
          <p:cNvSpPr/>
          <p:nvPr/>
        </p:nvSpPr>
        <p:spPr>
          <a:xfrm>
            <a:off x="506498" y="1481328"/>
            <a:ext cx="2606040" cy="6675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56F2A0-A744-E07F-C161-79DAD88130A9}"/>
              </a:ext>
            </a:extLst>
          </p:cNvPr>
          <p:cNvSpPr txBox="1"/>
          <p:nvPr/>
        </p:nvSpPr>
        <p:spPr>
          <a:xfrm>
            <a:off x="616226" y="1554480"/>
            <a:ext cx="114300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F8F91"/>
                </a:solidFill>
                <a:latin typeface="Aptos"/>
              </a:rPr>
              <a:t>31 → 29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723EA4-1369-4823-C1BE-3711309DFAFF}"/>
              </a:ext>
            </a:extLst>
          </p:cNvPr>
          <p:cNvSpPr txBox="1"/>
          <p:nvPr/>
        </p:nvSpPr>
        <p:spPr>
          <a:xfrm>
            <a:off x="1750082" y="1545336"/>
            <a:ext cx="1225296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E37"/>
                </a:solidFill>
                <a:latin typeface="Aptos"/>
              </a:rPr>
              <a:t>Weeks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A7785-1914-4F89-F683-B55199B23DF3}"/>
              </a:ext>
            </a:extLst>
          </p:cNvPr>
          <p:cNvSpPr txBox="1"/>
          <p:nvPr/>
        </p:nvSpPr>
        <p:spPr>
          <a:xfrm>
            <a:off x="1750082" y="1746504"/>
            <a:ext cx="12252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69747E"/>
                </a:solidFill>
                <a:latin typeface="Aptos"/>
              </a:rPr>
              <a:t>2 weeks faster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43E8144B-3423-E574-70B6-A17896500758}"/>
              </a:ext>
            </a:extLst>
          </p:cNvPr>
          <p:cNvSpPr/>
          <p:nvPr/>
        </p:nvSpPr>
        <p:spPr>
          <a:xfrm>
            <a:off x="3322850" y="1481328"/>
            <a:ext cx="2606040" cy="6675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F5456-87A9-1C45-66FC-66A0E0B4B779}"/>
              </a:ext>
            </a:extLst>
          </p:cNvPr>
          <p:cNvSpPr txBox="1"/>
          <p:nvPr/>
        </p:nvSpPr>
        <p:spPr>
          <a:xfrm>
            <a:off x="3432578" y="1554480"/>
            <a:ext cx="114300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BF8F19"/>
                </a:solidFill>
                <a:latin typeface="Aptos"/>
              </a:rPr>
              <a:t>₹1.05L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5A3CE-AF7D-CB7E-91D5-265A46ADEFF7}"/>
              </a:ext>
            </a:extLst>
          </p:cNvPr>
          <p:cNvSpPr txBox="1"/>
          <p:nvPr/>
        </p:nvSpPr>
        <p:spPr>
          <a:xfrm>
            <a:off x="4566434" y="1545336"/>
            <a:ext cx="1225296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E37"/>
                </a:solidFill>
                <a:latin typeface="Aptos"/>
              </a:rPr>
              <a:t>Incremental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3CF97E-D4EF-C909-C801-93EF11C9D05C}"/>
              </a:ext>
            </a:extLst>
          </p:cNvPr>
          <p:cNvSpPr txBox="1"/>
          <p:nvPr/>
        </p:nvSpPr>
        <p:spPr>
          <a:xfrm>
            <a:off x="4566434" y="1746504"/>
            <a:ext cx="12252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69747E"/>
                </a:solidFill>
                <a:latin typeface="Aptos"/>
              </a:rPr>
              <a:t>Crash investment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6B17319C-EECD-9FA7-5FA4-D656DDF0FCF6}"/>
              </a:ext>
            </a:extLst>
          </p:cNvPr>
          <p:cNvSpPr/>
          <p:nvPr/>
        </p:nvSpPr>
        <p:spPr>
          <a:xfrm>
            <a:off x="6139202" y="1481328"/>
            <a:ext cx="2606040" cy="6675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F928C-CD91-C65F-5731-1C2756944C6C}"/>
              </a:ext>
            </a:extLst>
          </p:cNvPr>
          <p:cNvSpPr txBox="1"/>
          <p:nvPr/>
        </p:nvSpPr>
        <p:spPr>
          <a:xfrm>
            <a:off x="6248930" y="1554480"/>
            <a:ext cx="114300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304F"/>
                </a:solidFill>
                <a:latin typeface="Aptos"/>
              </a:rPr>
              <a:t>₹52.5K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B03CA-778C-1256-7B66-828AFD626A75}"/>
              </a:ext>
            </a:extLst>
          </p:cNvPr>
          <p:cNvSpPr txBox="1"/>
          <p:nvPr/>
        </p:nvSpPr>
        <p:spPr>
          <a:xfrm>
            <a:off x="7382786" y="1545336"/>
            <a:ext cx="1225296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E37"/>
                </a:solidFill>
                <a:latin typeface="Aptos"/>
              </a:rPr>
              <a:t>Cost / week saved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AFCC1-C13E-125B-05AD-EB6D2082D052}"/>
              </a:ext>
            </a:extLst>
          </p:cNvPr>
          <p:cNvSpPr txBox="1"/>
          <p:nvPr/>
        </p:nvSpPr>
        <p:spPr>
          <a:xfrm>
            <a:off x="7382786" y="1746504"/>
            <a:ext cx="12252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69747E"/>
                </a:solidFill>
                <a:latin typeface="Aptos"/>
              </a:rPr>
              <a:t>Average crash cost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DC6DC8FE-C055-DED3-6E04-51C8D40E2A51}"/>
              </a:ext>
            </a:extLst>
          </p:cNvPr>
          <p:cNvSpPr/>
          <p:nvPr/>
        </p:nvSpPr>
        <p:spPr>
          <a:xfrm>
            <a:off x="8955554" y="1481328"/>
            <a:ext cx="2606040" cy="6675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F80599-9043-4D01-8984-AD37A27E1575}"/>
              </a:ext>
            </a:extLst>
          </p:cNvPr>
          <p:cNvSpPr txBox="1"/>
          <p:nvPr/>
        </p:nvSpPr>
        <p:spPr>
          <a:xfrm>
            <a:off x="9065282" y="1554480"/>
            <a:ext cx="1143000" cy="2651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487D4F"/>
                </a:solidFill>
                <a:latin typeface="Aptos"/>
              </a:rPr>
              <a:t>5 WEEKS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4EA628-AD0B-7401-0FA0-CFFB1B982977}"/>
              </a:ext>
            </a:extLst>
          </p:cNvPr>
          <p:cNvSpPr txBox="1"/>
          <p:nvPr/>
        </p:nvSpPr>
        <p:spPr>
          <a:xfrm>
            <a:off x="10199138" y="1545336"/>
            <a:ext cx="1225296" cy="1737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262E37"/>
                </a:solidFill>
                <a:latin typeface="Aptos"/>
              </a:rPr>
              <a:t>Remaining buffer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3F380E-55D5-4041-746B-483D056FEA63}"/>
              </a:ext>
            </a:extLst>
          </p:cNvPr>
          <p:cNvSpPr txBox="1"/>
          <p:nvPr/>
        </p:nvSpPr>
        <p:spPr>
          <a:xfrm>
            <a:off x="10199138" y="1746504"/>
            <a:ext cx="12252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69747E"/>
                </a:solidFill>
                <a:latin typeface="Aptos"/>
              </a:rPr>
              <a:t>Against Week 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1B47A-DCEE-CA3C-2717-7CDAFF7E3F05}"/>
              </a:ext>
            </a:extLst>
          </p:cNvPr>
          <p:cNvSpPr txBox="1"/>
          <p:nvPr/>
        </p:nvSpPr>
        <p:spPr>
          <a:xfrm>
            <a:off x="506498" y="2322576"/>
            <a:ext cx="530352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304F"/>
                </a:solidFill>
                <a:latin typeface="Aptos"/>
              </a:rPr>
              <a:t>1  |  WHERE DID WE CRASH?</a:t>
            </a:r>
          </a:p>
        </p:txBody>
      </p:sp>
      <p:sp>
        <p:nvSpPr>
          <p:cNvPr id="22" name="Rounded Rectangle 20">
            <a:extLst>
              <a:ext uri="{FF2B5EF4-FFF2-40B4-BE49-F238E27FC236}">
                <a16:creationId xmlns:a16="http://schemas.microsoft.com/office/drawing/2014/main" id="{92FDA81D-2A8C-DE4D-C521-7B95872FA464}"/>
              </a:ext>
            </a:extLst>
          </p:cNvPr>
          <p:cNvSpPr/>
          <p:nvPr/>
        </p:nvSpPr>
        <p:spPr>
          <a:xfrm>
            <a:off x="506498" y="2697480"/>
            <a:ext cx="507492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3C1013FC-7B18-3F5A-E2C3-17412C786804}"/>
              </a:ext>
            </a:extLst>
          </p:cNvPr>
          <p:cNvSpPr/>
          <p:nvPr/>
        </p:nvSpPr>
        <p:spPr>
          <a:xfrm>
            <a:off x="625370" y="2825496"/>
            <a:ext cx="429768" cy="429768"/>
          </a:xfrm>
          <a:prstGeom prst="roundRect">
            <a:avLst/>
          </a:prstGeom>
          <a:solidFill>
            <a:srgbClr val="BF8F19"/>
          </a:solidFill>
          <a:ln w="7620">
            <a:solidFill>
              <a:srgbClr val="BF8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0618D9-F985-92D0-1014-6702A7595A62}"/>
              </a:ext>
            </a:extLst>
          </p:cNvPr>
          <p:cNvSpPr txBox="1"/>
          <p:nvPr/>
        </p:nvSpPr>
        <p:spPr>
          <a:xfrm>
            <a:off x="625370" y="2825496"/>
            <a:ext cx="42976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D3A4B9-0FBD-15B9-E83F-570EF25B3B37}"/>
              </a:ext>
            </a:extLst>
          </p:cNvPr>
          <p:cNvSpPr txBox="1"/>
          <p:nvPr/>
        </p:nvSpPr>
        <p:spPr>
          <a:xfrm>
            <a:off x="1192298" y="2779776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2304F"/>
                </a:solidFill>
                <a:latin typeface="Aptos"/>
              </a:rPr>
              <a:t>System Integration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25161-2D1F-EC39-763D-92D4874EA310}"/>
              </a:ext>
            </a:extLst>
          </p:cNvPr>
          <p:cNvSpPr txBox="1"/>
          <p:nvPr/>
        </p:nvSpPr>
        <p:spPr>
          <a:xfrm>
            <a:off x="1192298" y="3026664"/>
            <a:ext cx="6583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2E37"/>
                </a:solidFill>
                <a:latin typeface="Aptos"/>
              </a:rPr>
              <a:t>2 → 1 wk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D62348-4E51-CBF8-FFA2-673B40ECC3E9}"/>
              </a:ext>
            </a:extLst>
          </p:cNvPr>
          <p:cNvSpPr txBox="1"/>
          <p:nvPr/>
        </p:nvSpPr>
        <p:spPr>
          <a:xfrm>
            <a:off x="1987826" y="3044952"/>
            <a:ext cx="69494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1F8F91"/>
                </a:solidFill>
                <a:latin typeface="Aptos"/>
              </a:rPr>
              <a:t>1 wk saved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FAE915-9CB8-3647-D529-3D41D4A43101}"/>
              </a:ext>
            </a:extLst>
          </p:cNvPr>
          <p:cNvSpPr txBox="1"/>
          <p:nvPr/>
        </p:nvSpPr>
        <p:spPr>
          <a:xfrm>
            <a:off x="2883938" y="3035808"/>
            <a:ext cx="6583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BF8F19"/>
                </a:solidFill>
                <a:latin typeface="Aptos"/>
              </a:rPr>
              <a:t>₹50K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FF07F4-8123-4CCA-600C-2151699D3CC7}"/>
              </a:ext>
            </a:extLst>
          </p:cNvPr>
          <p:cNvSpPr txBox="1"/>
          <p:nvPr/>
        </p:nvSpPr>
        <p:spPr>
          <a:xfrm>
            <a:off x="3688609" y="3008376"/>
            <a:ext cx="166420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 dirty="0">
                <a:solidFill>
                  <a:srgbClr val="69747E"/>
                </a:solidFill>
                <a:latin typeface="Aptos"/>
              </a:rPr>
              <a:t>Common post-merge critical path</a:t>
            </a:r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56B7C99A-24EA-65EA-6452-B8522226FFE6}"/>
              </a:ext>
            </a:extLst>
          </p:cNvPr>
          <p:cNvSpPr/>
          <p:nvPr/>
        </p:nvSpPr>
        <p:spPr>
          <a:xfrm>
            <a:off x="506498" y="3703320"/>
            <a:ext cx="5074920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29">
            <a:extLst>
              <a:ext uri="{FF2B5EF4-FFF2-40B4-BE49-F238E27FC236}">
                <a16:creationId xmlns:a16="http://schemas.microsoft.com/office/drawing/2014/main" id="{34659CE3-B742-AA93-DC24-705BBFEAB696}"/>
              </a:ext>
            </a:extLst>
          </p:cNvPr>
          <p:cNvSpPr/>
          <p:nvPr/>
        </p:nvSpPr>
        <p:spPr>
          <a:xfrm>
            <a:off x="625370" y="3831336"/>
            <a:ext cx="429768" cy="429768"/>
          </a:xfrm>
          <a:prstGeom prst="roundRect">
            <a:avLst/>
          </a:prstGeom>
          <a:solidFill>
            <a:srgbClr val="BF8F19"/>
          </a:solidFill>
          <a:ln w="7620">
            <a:solidFill>
              <a:srgbClr val="BF8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821116-AB1B-C468-D6BF-8ECE8CE931F0}"/>
              </a:ext>
            </a:extLst>
          </p:cNvPr>
          <p:cNvSpPr txBox="1"/>
          <p:nvPr/>
        </p:nvSpPr>
        <p:spPr>
          <a:xfrm>
            <a:off x="625370" y="3831336"/>
            <a:ext cx="429768" cy="4297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30889B-2FC3-BDC7-FF1D-750E47765749}"/>
              </a:ext>
            </a:extLst>
          </p:cNvPr>
          <p:cNvSpPr txBox="1"/>
          <p:nvPr/>
        </p:nvSpPr>
        <p:spPr>
          <a:xfrm>
            <a:off x="1192298" y="3785615"/>
            <a:ext cx="23317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2304F"/>
                </a:solidFill>
                <a:latin typeface="Aptos"/>
              </a:rPr>
              <a:t>QA (Functional + AI Accuracy)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6E4815-4CF9-56B2-8387-0CCE3CA44185}"/>
              </a:ext>
            </a:extLst>
          </p:cNvPr>
          <p:cNvSpPr txBox="1"/>
          <p:nvPr/>
        </p:nvSpPr>
        <p:spPr>
          <a:xfrm>
            <a:off x="1192298" y="4032503"/>
            <a:ext cx="6583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262E37"/>
                </a:solidFill>
                <a:latin typeface="Aptos"/>
              </a:rPr>
              <a:t>4 → 3 wk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BE2F71-E211-EF07-5C44-9279F691AE7A}"/>
              </a:ext>
            </a:extLst>
          </p:cNvPr>
          <p:cNvSpPr txBox="1"/>
          <p:nvPr/>
        </p:nvSpPr>
        <p:spPr>
          <a:xfrm>
            <a:off x="1987826" y="4050791"/>
            <a:ext cx="694944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1">
                <a:solidFill>
                  <a:srgbClr val="1F8F91"/>
                </a:solidFill>
                <a:latin typeface="Aptos"/>
              </a:rPr>
              <a:t>1 wk saved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B8D563-89FF-5E8B-6606-55692D34C1A3}"/>
              </a:ext>
            </a:extLst>
          </p:cNvPr>
          <p:cNvSpPr txBox="1"/>
          <p:nvPr/>
        </p:nvSpPr>
        <p:spPr>
          <a:xfrm>
            <a:off x="2883938" y="4041648"/>
            <a:ext cx="65836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BF8F19"/>
                </a:solidFill>
                <a:latin typeface="Aptos"/>
              </a:rPr>
              <a:t>₹55K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0E1012-4321-D586-EC4C-004FCFD6703F}"/>
              </a:ext>
            </a:extLst>
          </p:cNvPr>
          <p:cNvSpPr txBox="1"/>
          <p:nvPr/>
        </p:nvSpPr>
        <p:spPr>
          <a:xfrm>
            <a:off x="3688609" y="4014215"/>
            <a:ext cx="1664208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69747E"/>
                </a:solidFill>
                <a:latin typeface="Aptos"/>
              </a:rPr>
              <a:t>Common post-merge critical path</a:t>
            </a:r>
          </a:p>
        </p:txBody>
      </p:sp>
      <p:sp>
        <p:nvSpPr>
          <p:cNvPr id="38" name="Rounded Rectangle 36">
            <a:extLst>
              <a:ext uri="{FF2B5EF4-FFF2-40B4-BE49-F238E27FC236}">
                <a16:creationId xmlns:a16="http://schemas.microsoft.com/office/drawing/2014/main" id="{0C649430-CD2E-4594-9C63-D53FA65CF722}"/>
              </a:ext>
            </a:extLst>
          </p:cNvPr>
          <p:cNvSpPr/>
          <p:nvPr/>
        </p:nvSpPr>
        <p:spPr>
          <a:xfrm>
            <a:off x="506498" y="4709160"/>
            <a:ext cx="5186636" cy="777240"/>
          </a:xfrm>
          <a:prstGeom prst="roundRect">
            <a:avLst/>
          </a:prstGeom>
          <a:solidFill>
            <a:srgbClr val="E8F4EA"/>
          </a:solidFill>
          <a:ln w="7620">
            <a:solidFill>
              <a:srgbClr val="48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7945AC-1565-6F00-40B9-E5332CDD826E}"/>
              </a:ext>
            </a:extLst>
          </p:cNvPr>
          <p:cNvSpPr txBox="1"/>
          <p:nvPr/>
        </p:nvSpPr>
        <p:spPr>
          <a:xfrm>
            <a:off x="652802" y="4800600"/>
            <a:ext cx="1325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487D4F"/>
                </a:solidFill>
                <a:latin typeface="Aptos"/>
              </a:rPr>
              <a:t>SELECTION LOGIC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EC04D3-49A3-58CC-1F47-7DF5214ABC1D}"/>
              </a:ext>
            </a:extLst>
          </p:cNvPr>
          <p:cNvSpPr txBox="1"/>
          <p:nvPr/>
        </p:nvSpPr>
        <p:spPr>
          <a:xfrm>
            <a:off x="652802" y="5038344"/>
            <a:ext cx="461772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60" b="1">
                <a:solidFill>
                  <a:srgbClr val="262E37"/>
                </a:solidFill>
                <a:latin typeface="Aptos"/>
              </a:rPr>
              <a:t>Crash activities that sit on the common critical path — otherwise the time saved may not reduce project duration.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D0061C-23C1-6902-1514-0CA2D64A800A}"/>
              </a:ext>
            </a:extLst>
          </p:cNvPr>
          <p:cNvSpPr txBox="1"/>
          <p:nvPr/>
        </p:nvSpPr>
        <p:spPr>
          <a:xfrm>
            <a:off x="5810018" y="2322576"/>
            <a:ext cx="2651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304F"/>
                </a:solidFill>
                <a:latin typeface="Aptos"/>
              </a:rPr>
              <a:t>2  |  CRASHING PATH</a:t>
            </a:r>
          </a:p>
        </p:txBody>
      </p:sp>
      <p:sp>
        <p:nvSpPr>
          <p:cNvPr id="42" name="Rounded Rectangle 40">
            <a:extLst>
              <a:ext uri="{FF2B5EF4-FFF2-40B4-BE49-F238E27FC236}">
                <a16:creationId xmlns:a16="http://schemas.microsoft.com/office/drawing/2014/main" id="{1CD4C7C5-3A59-6880-BDDE-F6947B0D0DF8}"/>
              </a:ext>
            </a:extLst>
          </p:cNvPr>
          <p:cNvSpPr/>
          <p:nvPr/>
        </p:nvSpPr>
        <p:spPr>
          <a:xfrm>
            <a:off x="5810018" y="2697480"/>
            <a:ext cx="1572768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F0BCB6-4D35-B5A7-59AA-6EB6207EF771}"/>
              </a:ext>
            </a:extLst>
          </p:cNvPr>
          <p:cNvSpPr txBox="1"/>
          <p:nvPr/>
        </p:nvSpPr>
        <p:spPr>
          <a:xfrm>
            <a:off x="5919746" y="2788920"/>
            <a:ext cx="135331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69747E"/>
                </a:solidFill>
                <a:latin typeface="Aptos"/>
              </a:rPr>
              <a:t>NORMAL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CD0681-7BE5-9B67-DF8F-EF7682C4C254}"/>
              </a:ext>
            </a:extLst>
          </p:cNvPr>
          <p:cNvSpPr txBox="1"/>
          <p:nvPr/>
        </p:nvSpPr>
        <p:spPr>
          <a:xfrm>
            <a:off x="5919746" y="3008376"/>
            <a:ext cx="13533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12304F"/>
                </a:solidFill>
                <a:latin typeface="Aptos"/>
              </a:rPr>
              <a:t>31 WEEKS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C1FDAC-6550-C81A-3278-7ECD2DCD5FF9}"/>
              </a:ext>
            </a:extLst>
          </p:cNvPr>
          <p:cNvSpPr txBox="1"/>
          <p:nvPr/>
        </p:nvSpPr>
        <p:spPr>
          <a:xfrm>
            <a:off x="5919746" y="3310128"/>
            <a:ext cx="1353312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80" b="0">
                <a:solidFill>
                  <a:srgbClr val="69747E"/>
                </a:solidFill>
                <a:latin typeface="Aptos"/>
              </a:rPr>
              <a:t>Baseline CPM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F87F35-B47E-9F75-8E65-726E4CBD0B05}"/>
              </a:ext>
            </a:extLst>
          </p:cNvPr>
          <p:cNvSpPr txBox="1"/>
          <p:nvPr/>
        </p:nvSpPr>
        <p:spPr>
          <a:xfrm>
            <a:off x="7446794" y="2999232"/>
            <a:ext cx="34747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F8F91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45">
            <a:extLst>
              <a:ext uri="{FF2B5EF4-FFF2-40B4-BE49-F238E27FC236}">
                <a16:creationId xmlns:a16="http://schemas.microsoft.com/office/drawing/2014/main" id="{5BFA1A38-FCF2-65BB-5B5B-40DF591999ED}"/>
              </a:ext>
            </a:extLst>
          </p:cNvPr>
          <p:cNvSpPr/>
          <p:nvPr/>
        </p:nvSpPr>
        <p:spPr>
          <a:xfrm>
            <a:off x="7821698" y="2697480"/>
            <a:ext cx="1170432" cy="960120"/>
          </a:xfrm>
          <a:prstGeom prst="roundRect">
            <a:avLst/>
          </a:prstGeom>
          <a:solidFill>
            <a:srgbClr val="FBF6E1"/>
          </a:solidFill>
          <a:ln w="7620">
            <a:solidFill>
              <a:srgbClr val="BF8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255EED3-262B-BB52-4A8C-DEE35EC165F3}"/>
              </a:ext>
            </a:extLst>
          </p:cNvPr>
          <p:cNvSpPr txBox="1"/>
          <p:nvPr/>
        </p:nvSpPr>
        <p:spPr>
          <a:xfrm>
            <a:off x="7913138" y="2788920"/>
            <a:ext cx="98755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BF8F19"/>
                </a:solidFill>
                <a:latin typeface="Aptos"/>
              </a:rPr>
              <a:t>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D8CDD3-1E12-046A-279B-820086793E41}"/>
              </a:ext>
            </a:extLst>
          </p:cNvPr>
          <p:cNvSpPr txBox="1"/>
          <p:nvPr/>
        </p:nvSpPr>
        <p:spPr>
          <a:xfrm>
            <a:off x="7913138" y="3008376"/>
            <a:ext cx="987552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304F"/>
                </a:solidFill>
                <a:latin typeface="Aptos"/>
              </a:rPr>
              <a:t>−1 WK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3CC432-0456-0AD1-3189-BC6D3F928066}"/>
              </a:ext>
            </a:extLst>
          </p:cNvPr>
          <p:cNvSpPr txBox="1"/>
          <p:nvPr/>
        </p:nvSpPr>
        <p:spPr>
          <a:xfrm>
            <a:off x="7913138" y="3282696"/>
            <a:ext cx="987552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262E37"/>
                </a:solidFill>
                <a:latin typeface="Aptos"/>
              </a:rPr>
              <a:t>₹50K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125179-F2E5-B89B-0EA4-88D0512AB945}"/>
              </a:ext>
            </a:extLst>
          </p:cNvPr>
          <p:cNvSpPr txBox="1"/>
          <p:nvPr/>
        </p:nvSpPr>
        <p:spPr>
          <a:xfrm>
            <a:off x="9037850" y="299923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F8F91"/>
                </a:solidFill>
                <a:latin typeface="Aptos"/>
              </a:rPr>
              <a:t>→</a:t>
            </a:r>
          </a:p>
        </p:txBody>
      </p:sp>
      <p:sp>
        <p:nvSpPr>
          <p:cNvPr id="52" name="Rounded Rectangle 50">
            <a:extLst>
              <a:ext uri="{FF2B5EF4-FFF2-40B4-BE49-F238E27FC236}">
                <a16:creationId xmlns:a16="http://schemas.microsoft.com/office/drawing/2014/main" id="{361D4873-80FD-3C1E-2E96-5B7F64B38C62}"/>
              </a:ext>
            </a:extLst>
          </p:cNvPr>
          <p:cNvSpPr/>
          <p:nvPr/>
        </p:nvSpPr>
        <p:spPr>
          <a:xfrm>
            <a:off x="9394466" y="2697480"/>
            <a:ext cx="1170432" cy="960120"/>
          </a:xfrm>
          <a:prstGeom prst="roundRect">
            <a:avLst/>
          </a:prstGeom>
          <a:solidFill>
            <a:srgbClr val="FBF6E1"/>
          </a:solidFill>
          <a:ln w="7620">
            <a:solidFill>
              <a:srgbClr val="BF8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583158-593A-6BD3-295F-279FCCC3AB2D}"/>
              </a:ext>
            </a:extLst>
          </p:cNvPr>
          <p:cNvSpPr txBox="1"/>
          <p:nvPr/>
        </p:nvSpPr>
        <p:spPr>
          <a:xfrm>
            <a:off x="9485906" y="2788920"/>
            <a:ext cx="987552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BF8F19"/>
                </a:solidFill>
                <a:latin typeface="Aptos"/>
              </a:rPr>
              <a:t>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B348B5-A2FF-81F8-8A2D-9878578FBAB1}"/>
              </a:ext>
            </a:extLst>
          </p:cNvPr>
          <p:cNvSpPr txBox="1"/>
          <p:nvPr/>
        </p:nvSpPr>
        <p:spPr>
          <a:xfrm>
            <a:off x="9485906" y="3008376"/>
            <a:ext cx="987552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2304F"/>
                </a:solidFill>
                <a:latin typeface="Aptos"/>
              </a:rPr>
              <a:t>−1 WK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0B4EB2-FC85-1980-6F9A-D38B4FD5736D}"/>
              </a:ext>
            </a:extLst>
          </p:cNvPr>
          <p:cNvSpPr txBox="1"/>
          <p:nvPr/>
        </p:nvSpPr>
        <p:spPr>
          <a:xfrm>
            <a:off x="9485906" y="3282696"/>
            <a:ext cx="987552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262E37"/>
                </a:solidFill>
                <a:latin typeface="Aptos"/>
              </a:rPr>
              <a:t>₹55K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06A04C-3F56-1633-1BB9-A619B9F2E2BC}"/>
              </a:ext>
            </a:extLst>
          </p:cNvPr>
          <p:cNvSpPr txBox="1"/>
          <p:nvPr/>
        </p:nvSpPr>
        <p:spPr>
          <a:xfrm>
            <a:off x="10574042" y="299923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1F8F91"/>
                </a:solidFill>
                <a:latin typeface="Aptos"/>
              </a:rPr>
              <a:t>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887258-1BF2-3D60-7F50-CE0AFF5656F8}"/>
              </a:ext>
            </a:extLst>
          </p:cNvPr>
          <p:cNvSpPr txBox="1"/>
          <p:nvPr/>
        </p:nvSpPr>
        <p:spPr>
          <a:xfrm>
            <a:off x="11003810" y="2788920"/>
            <a:ext cx="8229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487D4F"/>
                </a:solidFill>
                <a:latin typeface="Aptos"/>
              </a:rPr>
              <a:t>RESULT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360891-32BD-02DC-2893-8BE835C28A59}"/>
              </a:ext>
            </a:extLst>
          </p:cNvPr>
          <p:cNvSpPr txBox="1"/>
          <p:nvPr/>
        </p:nvSpPr>
        <p:spPr>
          <a:xfrm>
            <a:off x="11003810" y="3017520"/>
            <a:ext cx="8229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87D4F"/>
                </a:solidFill>
                <a:latin typeface="Aptos"/>
              </a:rPr>
              <a:t>29 WK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F34C93-D7DF-C5E4-F54E-57D1847FC0B0}"/>
              </a:ext>
            </a:extLst>
          </p:cNvPr>
          <p:cNvSpPr txBox="1"/>
          <p:nvPr/>
        </p:nvSpPr>
        <p:spPr>
          <a:xfrm>
            <a:off x="11003810" y="3291840"/>
            <a:ext cx="822960" cy="1554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80" b="1">
                <a:solidFill>
                  <a:srgbClr val="262E37"/>
                </a:solidFill>
                <a:latin typeface="Aptos"/>
              </a:rPr>
              <a:t>−2 WK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D1ED36-892F-4149-07F8-465B39E6A68C}"/>
              </a:ext>
            </a:extLst>
          </p:cNvPr>
          <p:cNvSpPr txBox="1"/>
          <p:nvPr/>
        </p:nvSpPr>
        <p:spPr>
          <a:xfrm>
            <a:off x="5810018" y="3913632"/>
            <a:ext cx="25603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2304F"/>
                </a:solidFill>
                <a:latin typeface="Aptos"/>
              </a:rPr>
              <a:t>COST IMPACT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1E087D68-B765-ED15-7CDC-E8D74D5C217C}"/>
              </a:ext>
            </a:extLst>
          </p:cNvPr>
          <p:cNvSpPr/>
          <p:nvPr/>
        </p:nvSpPr>
        <p:spPr>
          <a:xfrm>
            <a:off x="5810018" y="4206240"/>
            <a:ext cx="4645152" cy="4297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A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14156A-14BE-4ADC-DB51-9A0991F25BAF}"/>
              </a:ext>
            </a:extLst>
          </p:cNvPr>
          <p:cNvSpPr txBox="1"/>
          <p:nvPr/>
        </p:nvSpPr>
        <p:spPr>
          <a:xfrm>
            <a:off x="5974610" y="4288536"/>
            <a:ext cx="91440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1">
                <a:solidFill>
                  <a:srgbClr val="12304F"/>
                </a:solidFill>
                <a:latin typeface="Aptos"/>
              </a:rPr>
              <a:t>O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B071D54-4896-A7AD-3E15-784B62FC1E0C}"/>
              </a:ext>
            </a:extLst>
          </p:cNvPr>
          <p:cNvSpPr txBox="1"/>
          <p:nvPr/>
        </p:nvSpPr>
        <p:spPr>
          <a:xfrm>
            <a:off x="6742706" y="4279392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BF8F19"/>
                </a:solidFill>
                <a:latin typeface="Aptos"/>
              </a:rPr>
              <a:t>₹50K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996642-5577-D6FB-DD7E-C9912EB12B80}"/>
              </a:ext>
            </a:extLst>
          </p:cNvPr>
          <p:cNvSpPr txBox="1"/>
          <p:nvPr/>
        </p:nvSpPr>
        <p:spPr>
          <a:xfrm>
            <a:off x="7711970" y="4288536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47E"/>
                </a:solidFill>
                <a:latin typeface="Aptos"/>
              </a:rPr>
              <a:t>+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9088E7-203F-BC16-E47F-DF8BD1888CB6}"/>
              </a:ext>
            </a:extLst>
          </p:cNvPr>
          <p:cNvSpPr txBox="1"/>
          <p:nvPr/>
        </p:nvSpPr>
        <p:spPr>
          <a:xfrm>
            <a:off x="8032010" y="4279392"/>
            <a:ext cx="10058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BF8F19"/>
                </a:solidFill>
                <a:latin typeface="Aptos"/>
              </a:rPr>
              <a:t>₹55K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FB9ECF-6DF9-19DE-2AD3-1A88B87224F5}"/>
              </a:ext>
            </a:extLst>
          </p:cNvPr>
          <p:cNvSpPr txBox="1"/>
          <p:nvPr/>
        </p:nvSpPr>
        <p:spPr>
          <a:xfrm>
            <a:off x="8992130" y="4288536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69747E"/>
                </a:solidFill>
                <a:latin typeface="Aptos"/>
              </a:rPr>
              <a:t>=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202F915-55D2-0B1C-EDFB-407D0C63FBC4}"/>
              </a:ext>
            </a:extLst>
          </p:cNvPr>
          <p:cNvSpPr txBox="1"/>
          <p:nvPr/>
        </p:nvSpPr>
        <p:spPr>
          <a:xfrm>
            <a:off x="9312170" y="4242816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12304F"/>
                </a:solidFill>
                <a:latin typeface="Aptos"/>
              </a:rPr>
              <a:t>₹1.05L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2C622D-08F2-A890-575B-23F3A22F100A}"/>
              </a:ext>
            </a:extLst>
          </p:cNvPr>
          <p:cNvSpPr txBox="1"/>
          <p:nvPr/>
        </p:nvSpPr>
        <p:spPr>
          <a:xfrm>
            <a:off x="5810018" y="5093208"/>
            <a:ext cx="502920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12304F"/>
                </a:solidFill>
                <a:latin typeface="Aptos"/>
              </a:rPr>
              <a:t>3  |  SCHEDULE IMPACT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9873802-507E-7801-F6E4-5CE0B5C9219F}"/>
              </a:ext>
            </a:extLst>
          </p:cNvPr>
          <p:cNvSpPr/>
          <p:nvPr/>
        </p:nvSpPr>
        <p:spPr>
          <a:xfrm>
            <a:off x="5901458" y="5879592"/>
            <a:ext cx="5257800" cy="32004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6382865-4497-3399-427C-269C32A5ABBE}"/>
              </a:ext>
            </a:extLst>
          </p:cNvPr>
          <p:cNvSpPr/>
          <p:nvPr/>
        </p:nvSpPr>
        <p:spPr>
          <a:xfrm>
            <a:off x="5901458" y="5650992"/>
            <a:ext cx="22860" cy="475488"/>
          </a:xfrm>
          <a:prstGeom prst="rect">
            <a:avLst/>
          </a:prstGeom>
          <a:solidFill>
            <a:srgbClr val="1F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49E5548-0EBA-C92F-39F5-9D4D2177CAFD}"/>
              </a:ext>
            </a:extLst>
          </p:cNvPr>
          <p:cNvSpPr txBox="1"/>
          <p:nvPr/>
        </p:nvSpPr>
        <p:spPr>
          <a:xfrm>
            <a:off x="5535698" y="5358384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1F8F91"/>
                </a:solidFill>
                <a:latin typeface="Aptos"/>
              </a:rPr>
              <a:t>W29
Crashed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BA2695C-44BC-CEB7-EDE8-D6120BBFD3C0}"/>
              </a:ext>
            </a:extLst>
          </p:cNvPr>
          <p:cNvSpPr/>
          <p:nvPr/>
        </p:nvSpPr>
        <p:spPr>
          <a:xfrm>
            <a:off x="8004578" y="5650992"/>
            <a:ext cx="22860" cy="475488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7EA889-B9AD-BBC5-6B9C-4863B5F0B27F}"/>
              </a:ext>
            </a:extLst>
          </p:cNvPr>
          <p:cNvSpPr txBox="1"/>
          <p:nvPr/>
        </p:nvSpPr>
        <p:spPr>
          <a:xfrm>
            <a:off x="7638818" y="5358384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12304F"/>
                </a:solidFill>
                <a:latin typeface="Aptos"/>
              </a:rPr>
              <a:t>W31
Normal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00FA586-B509-49C3-80A0-BAA1AC91C3C9}"/>
              </a:ext>
            </a:extLst>
          </p:cNvPr>
          <p:cNvSpPr/>
          <p:nvPr/>
        </p:nvSpPr>
        <p:spPr>
          <a:xfrm>
            <a:off x="11159258" y="5650992"/>
            <a:ext cx="22860" cy="475488"/>
          </a:xfrm>
          <a:prstGeom prst="rect">
            <a:avLst/>
          </a:prstGeom>
          <a:solidFill>
            <a:srgbClr val="B93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31B07E-CE29-86A3-4C5A-868A5E8E03E4}"/>
              </a:ext>
            </a:extLst>
          </p:cNvPr>
          <p:cNvSpPr txBox="1"/>
          <p:nvPr/>
        </p:nvSpPr>
        <p:spPr>
          <a:xfrm>
            <a:off x="10793498" y="5358384"/>
            <a:ext cx="7315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1">
                <a:solidFill>
                  <a:srgbClr val="B93F3B"/>
                </a:solidFill>
                <a:latin typeface="Aptos"/>
              </a:rPr>
              <a:t>W34
Deadline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1F64380-4F6D-F3DD-E83B-46D7069AED86}"/>
              </a:ext>
            </a:extLst>
          </p:cNvPr>
          <p:cNvSpPr/>
          <p:nvPr/>
        </p:nvSpPr>
        <p:spPr>
          <a:xfrm>
            <a:off x="8004578" y="6035040"/>
            <a:ext cx="3154679" cy="237744"/>
          </a:xfrm>
          <a:prstGeom prst="rect">
            <a:avLst/>
          </a:prstGeom>
          <a:solidFill>
            <a:srgbClr val="E8F4EA"/>
          </a:solidFill>
          <a:ln w="7620">
            <a:solidFill>
              <a:srgbClr val="48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EE66957-4142-7DA5-6775-58FDCF028957}"/>
              </a:ext>
            </a:extLst>
          </p:cNvPr>
          <p:cNvSpPr txBox="1"/>
          <p:nvPr/>
        </p:nvSpPr>
        <p:spPr>
          <a:xfrm>
            <a:off x="8004578" y="6035040"/>
            <a:ext cx="3154679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20" b="1">
                <a:solidFill>
                  <a:srgbClr val="487D4F"/>
                </a:solidFill>
                <a:latin typeface="Aptos"/>
              </a:rPr>
              <a:t>5-week buffer to deadline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9CF2134-C218-1EBA-1042-84DB4118A939}"/>
              </a:ext>
            </a:extLst>
          </p:cNvPr>
          <p:cNvSpPr/>
          <p:nvPr/>
        </p:nvSpPr>
        <p:spPr>
          <a:xfrm>
            <a:off x="506498" y="6419088"/>
            <a:ext cx="11000232" cy="438912"/>
          </a:xfrm>
          <a:prstGeom prst="roundRect">
            <a:avLst/>
          </a:prstGeom>
          <a:solidFill>
            <a:srgbClr val="12304F"/>
          </a:solidFill>
          <a:ln w="7620">
            <a:solidFill>
              <a:srgbClr val="123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48FD6E-87EA-0476-9DF0-4D2F035AE256}"/>
              </a:ext>
            </a:extLst>
          </p:cNvPr>
          <p:cNvSpPr txBox="1"/>
          <p:nvPr/>
        </p:nvSpPr>
        <p:spPr>
          <a:xfrm>
            <a:off x="689378" y="6483096"/>
            <a:ext cx="10652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ptos"/>
              </a:rPr>
              <a:t>PM TAKEAWAY  |  We crash O and P because each saves 1 week on the common critical path; ₹1.05L buys 2 weeks of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837691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3624-EBFA-804C-64AA-255DB6FB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002">
            <a:extLst>
              <a:ext uri="{FF2B5EF4-FFF2-40B4-BE49-F238E27FC236}">
                <a16:creationId xmlns:a16="http://schemas.microsoft.com/office/drawing/2014/main" id="{51834BE2-1603-3667-6684-FBF0686E185A}"/>
              </a:ext>
            </a:extLst>
          </p:cNvPr>
          <p:cNvSpPr txBox="1"/>
          <p:nvPr/>
        </p:nvSpPr>
        <p:spPr>
          <a:xfrm>
            <a:off x="521208" y="100584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dirty="0">
                <a:latin typeface="Aptos"/>
              </a:rPr>
              <a:t>The governance rhythm that keeps the AI-heavy critical path under control</a:t>
            </a:r>
          </a:p>
        </p:txBody>
      </p:sp>
      <p:sp>
        <p:nvSpPr>
          <p:cNvPr id="7" name="TextBox 1003">
            <a:extLst>
              <a:ext uri="{FF2B5EF4-FFF2-40B4-BE49-F238E27FC236}">
                <a16:creationId xmlns:a16="http://schemas.microsoft.com/office/drawing/2014/main" id="{3D032953-F272-DA65-014F-CD469717CB4E}"/>
              </a:ext>
            </a:extLst>
          </p:cNvPr>
          <p:cNvSpPr txBox="1"/>
          <p:nvPr/>
        </p:nvSpPr>
        <p:spPr>
          <a:xfrm>
            <a:off x="521208" y="1536192"/>
            <a:ext cx="3538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12304F"/>
                </a:solidFill>
                <a:latin typeface="Aptos"/>
              </a:rPr>
              <a:t>TOP RISKS  (P × I)</a:t>
            </a:r>
          </a:p>
        </p:txBody>
      </p:sp>
      <p:sp>
        <p:nvSpPr>
          <p:cNvPr id="9" name="Shape 1004">
            <a:extLst>
              <a:ext uri="{FF2B5EF4-FFF2-40B4-BE49-F238E27FC236}">
                <a16:creationId xmlns:a16="http://schemas.microsoft.com/office/drawing/2014/main" id="{5D4ECA9B-D601-89A1-42BA-794963F84A79}"/>
              </a:ext>
            </a:extLst>
          </p:cNvPr>
          <p:cNvSpPr/>
          <p:nvPr/>
        </p:nvSpPr>
        <p:spPr>
          <a:xfrm>
            <a:off x="521208" y="1920240"/>
            <a:ext cx="35387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1" name="Shape 1005">
            <a:extLst>
              <a:ext uri="{FF2B5EF4-FFF2-40B4-BE49-F238E27FC236}">
                <a16:creationId xmlns:a16="http://schemas.microsoft.com/office/drawing/2014/main" id="{EEF23905-9A5D-B51E-E939-CEC52F2E2F40}"/>
              </a:ext>
            </a:extLst>
          </p:cNvPr>
          <p:cNvSpPr/>
          <p:nvPr/>
        </p:nvSpPr>
        <p:spPr>
          <a:xfrm>
            <a:off x="667512" y="2048256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FCEBE9"/>
          </a:solidFill>
          <a:ln w="6350">
            <a:solidFill>
              <a:srgbClr val="B93F3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3" name="TextBox 1006">
            <a:extLst>
              <a:ext uri="{FF2B5EF4-FFF2-40B4-BE49-F238E27FC236}">
                <a16:creationId xmlns:a16="http://schemas.microsoft.com/office/drawing/2014/main" id="{8043E0D9-0318-8ABF-FE97-3F4C6F383308}"/>
              </a:ext>
            </a:extLst>
          </p:cNvPr>
          <p:cNvSpPr txBox="1"/>
          <p:nvPr/>
        </p:nvSpPr>
        <p:spPr>
          <a:xfrm>
            <a:off x="667512" y="2048256"/>
            <a:ext cx="566928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 dirty="0">
                <a:solidFill>
                  <a:srgbClr val="B93F3B"/>
                </a:solidFill>
                <a:latin typeface="Aptos"/>
              </a:rPr>
              <a:t>R1</a:t>
            </a:r>
          </a:p>
        </p:txBody>
      </p:sp>
      <p:sp>
        <p:nvSpPr>
          <p:cNvPr id="15" name="Shape 1007">
            <a:extLst>
              <a:ext uri="{FF2B5EF4-FFF2-40B4-BE49-F238E27FC236}">
                <a16:creationId xmlns:a16="http://schemas.microsoft.com/office/drawing/2014/main" id="{0481A07B-41C7-D6F7-6F8D-057790845C1A}"/>
              </a:ext>
            </a:extLst>
          </p:cNvPr>
          <p:cNvSpPr/>
          <p:nvPr/>
        </p:nvSpPr>
        <p:spPr>
          <a:xfrm>
            <a:off x="3099816" y="2048256"/>
            <a:ext cx="813816" cy="310896"/>
          </a:xfrm>
          <a:prstGeom prst="roundRect">
            <a:avLst>
              <a:gd name="adj" fmla="val 12000"/>
            </a:avLst>
          </a:prstGeom>
          <a:solidFill>
            <a:srgbClr val="FCEBE9"/>
          </a:solidFill>
          <a:ln w="6350">
            <a:solidFill>
              <a:srgbClr val="B93F3B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7" name="TextBox 1008">
            <a:extLst>
              <a:ext uri="{FF2B5EF4-FFF2-40B4-BE49-F238E27FC236}">
                <a16:creationId xmlns:a16="http://schemas.microsoft.com/office/drawing/2014/main" id="{44B4C671-C5A9-AD8D-9667-37412F48A576}"/>
              </a:ext>
            </a:extLst>
          </p:cNvPr>
          <p:cNvSpPr txBox="1"/>
          <p:nvPr/>
        </p:nvSpPr>
        <p:spPr>
          <a:xfrm>
            <a:off x="3099816" y="2048256"/>
            <a:ext cx="81381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dirty="0">
                <a:solidFill>
                  <a:srgbClr val="B93F3B"/>
                </a:solidFill>
                <a:latin typeface="Aptos"/>
              </a:rPr>
              <a:t>16 High</a:t>
            </a:r>
          </a:p>
        </p:txBody>
      </p:sp>
      <p:sp>
        <p:nvSpPr>
          <p:cNvPr id="19" name="TextBox 1009">
            <a:extLst>
              <a:ext uri="{FF2B5EF4-FFF2-40B4-BE49-F238E27FC236}">
                <a16:creationId xmlns:a16="http://schemas.microsoft.com/office/drawing/2014/main" id="{28343811-C181-BEAA-561E-59E99886ACBB}"/>
              </a:ext>
            </a:extLst>
          </p:cNvPr>
          <p:cNvSpPr txBox="1"/>
          <p:nvPr/>
        </p:nvSpPr>
        <p:spPr>
          <a:xfrm>
            <a:off x="667512" y="243815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AI Hallucination in generated interview content</a:t>
            </a:r>
          </a:p>
        </p:txBody>
      </p:sp>
      <p:sp>
        <p:nvSpPr>
          <p:cNvPr id="21" name="TextBox 1010">
            <a:extLst>
              <a:ext uri="{FF2B5EF4-FFF2-40B4-BE49-F238E27FC236}">
                <a16:creationId xmlns:a16="http://schemas.microsoft.com/office/drawing/2014/main" id="{6ED0C8C5-036B-A94D-120C-236825F082F1}"/>
              </a:ext>
            </a:extLst>
          </p:cNvPr>
          <p:cNvSpPr txBox="1"/>
          <p:nvPr/>
        </p:nvSpPr>
        <p:spPr>
          <a:xfrm>
            <a:off x="667512" y="294032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i="1" dirty="0">
                <a:latin typeface="Aptos"/>
              </a:rPr>
              <a:t>Prompt guardrails + human-reviewed fallback bank</a:t>
            </a:r>
          </a:p>
        </p:txBody>
      </p:sp>
      <p:sp>
        <p:nvSpPr>
          <p:cNvPr id="23" name="Shape 1011">
            <a:extLst>
              <a:ext uri="{FF2B5EF4-FFF2-40B4-BE49-F238E27FC236}">
                <a16:creationId xmlns:a16="http://schemas.microsoft.com/office/drawing/2014/main" id="{3F15F877-8530-6A7E-CEB1-DDD871101E6D}"/>
              </a:ext>
            </a:extLst>
          </p:cNvPr>
          <p:cNvSpPr/>
          <p:nvPr/>
        </p:nvSpPr>
        <p:spPr>
          <a:xfrm>
            <a:off x="521208" y="3346704"/>
            <a:ext cx="35387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5" name="Shape 1012">
            <a:extLst>
              <a:ext uri="{FF2B5EF4-FFF2-40B4-BE49-F238E27FC236}">
                <a16:creationId xmlns:a16="http://schemas.microsoft.com/office/drawing/2014/main" id="{06583A6C-42D6-7894-59D6-F83BEA6CE8EA}"/>
              </a:ext>
            </a:extLst>
          </p:cNvPr>
          <p:cNvSpPr/>
          <p:nvPr/>
        </p:nvSpPr>
        <p:spPr>
          <a:xfrm>
            <a:off x="667512" y="3474720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FBF6E1"/>
          </a:solidFill>
          <a:ln w="6350">
            <a:solidFill>
              <a:srgbClr val="BF8F1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27" name="TextBox 1013">
            <a:extLst>
              <a:ext uri="{FF2B5EF4-FFF2-40B4-BE49-F238E27FC236}">
                <a16:creationId xmlns:a16="http://schemas.microsoft.com/office/drawing/2014/main" id="{168AA605-22B2-DA33-7391-DB557FC330F2}"/>
              </a:ext>
            </a:extLst>
          </p:cNvPr>
          <p:cNvSpPr txBox="1"/>
          <p:nvPr/>
        </p:nvSpPr>
        <p:spPr>
          <a:xfrm>
            <a:off x="667512" y="3474720"/>
            <a:ext cx="566928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 dirty="0">
                <a:solidFill>
                  <a:srgbClr val="BF8F19"/>
                </a:solidFill>
                <a:latin typeface="Aptos"/>
              </a:rPr>
              <a:t>R8</a:t>
            </a:r>
          </a:p>
        </p:txBody>
      </p:sp>
      <p:sp>
        <p:nvSpPr>
          <p:cNvPr id="29" name="Shape 1014">
            <a:extLst>
              <a:ext uri="{FF2B5EF4-FFF2-40B4-BE49-F238E27FC236}">
                <a16:creationId xmlns:a16="http://schemas.microsoft.com/office/drawing/2014/main" id="{106EFFD2-A27E-2A0B-ECD2-1B60181FD5C5}"/>
              </a:ext>
            </a:extLst>
          </p:cNvPr>
          <p:cNvSpPr/>
          <p:nvPr/>
        </p:nvSpPr>
        <p:spPr>
          <a:xfrm>
            <a:off x="3099816" y="3474720"/>
            <a:ext cx="813816" cy="310896"/>
          </a:xfrm>
          <a:prstGeom prst="roundRect">
            <a:avLst>
              <a:gd name="adj" fmla="val 12000"/>
            </a:avLst>
          </a:prstGeom>
          <a:solidFill>
            <a:srgbClr val="FBF6E1"/>
          </a:solidFill>
          <a:ln w="6350">
            <a:solidFill>
              <a:srgbClr val="BF8F1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1" name="TextBox 1015">
            <a:extLst>
              <a:ext uri="{FF2B5EF4-FFF2-40B4-BE49-F238E27FC236}">
                <a16:creationId xmlns:a16="http://schemas.microsoft.com/office/drawing/2014/main" id="{47672262-0CAA-7848-AA76-08CDEDE33E49}"/>
              </a:ext>
            </a:extLst>
          </p:cNvPr>
          <p:cNvSpPr txBox="1"/>
          <p:nvPr/>
        </p:nvSpPr>
        <p:spPr>
          <a:xfrm>
            <a:off x="3099816" y="3410712"/>
            <a:ext cx="81381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BF8F19"/>
                </a:solidFill>
                <a:latin typeface="Aptos"/>
              </a:rPr>
              <a:t>12 Medium</a:t>
            </a:r>
          </a:p>
        </p:txBody>
      </p:sp>
      <p:sp>
        <p:nvSpPr>
          <p:cNvPr id="33" name="TextBox 1016">
            <a:extLst>
              <a:ext uri="{FF2B5EF4-FFF2-40B4-BE49-F238E27FC236}">
                <a16:creationId xmlns:a16="http://schemas.microsoft.com/office/drawing/2014/main" id="{C4DF9173-F4A5-27F5-2052-5FD9C7942D1D}"/>
              </a:ext>
            </a:extLst>
          </p:cNvPr>
          <p:cNvSpPr txBox="1"/>
          <p:nvPr/>
        </p:nvSpPr>
        <p:spPr>
          <a:xfrm>
            <a:off x="667512" y="3894594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AI-module schedule risk (dual critical path)</a:t>
            </a:r>
          </a:p>
        </p:txBody>
      </p:sp>
      <p:sp>
        <p:nvSpPr>
          <p:cNvPr id="35" name="TextBox 1017">
            <a:extLst>
              <a:ext uri="{FF2B5EF4-FFF2-40B4-BE49-F238E27FC236}">
                <a16:creationId xmlns:a16="http://schemas.microsoft.com/office/drawing/2014/main" id="{2ED51A89-C8EB-2B06-9A47-4BDEC96CC458}"/>
              </a:ext>
            </a:extLst>
          </p:cNvPr>
          <p:cNvSpPr txBox="1"/>
          <p:nvPr/>
        </p:nvSpPr>
        <p:spPr>
          <a:xfrm>
            <a:off x="667512" y="4396764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i="1" dirty="0">
                <a:latin typeface="Aptos"/>
              </a:rPr>
              <a:t>de-scope AI polish features if needed</a:t>
            </a:r>
          </a:p>
        </p:txBody>
      </p:sp>
      <p:sp>
        <p:nvSpPr>
          <p:cNvPr id="37" name="Shape 1018">
            <a:extLst>
              <a:ext uri="{FF2B5EF4-FFF2-40B4-BE49-F238E27FC236}">
                <a16:creationId xmlns:a16="http://schemas.microsoft.com/office/drawing/2014/main" id="{6EB5FC49-12E8-86D2-8C36-5A1C7A0E948F}"/>
              </a:ext>
            </a:extLst>
          </p:cNvPr>
          <p:cNvSpPr/>
          <p:nvPr/>
        </p:nvSpPr>
        <p:spPr>
          <a:xfrm>
            <a:off x="521208" y="4773168"/>
            <a:ext cx="35387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39" name="Shape 1019">
            <a:extLst>
              <a:ext uri="{FF2B5EF4-FFF2-40B4-BE49-F238E27FC236}">
                <a16:creationId xmlns:a16="http://schemas.microsoft.com/office/drawing/2014/main" id="{7EC10A52-4289-A0FD-894C-059828EEE48E}"/>
              </a:ext>
            </a:extLst>
          </p:cNvPr>
          <p:cNvSpPr/>
          <p:nvPr/>
        </p:nvSpPr>
        <p:spPr>
          <a:xfrm>
            <a:off x="667512" y="4901184"/>
            <a:ext cx="566928" cy="310896"/>
          </a:xfrm>
          <a:prstGeom prst="roundRect">
            <a:avLst>
              <a:gd name="adj" fmla="val 12000"/>
            </a:avLst>
          </a:prstGeom>
          <a:solidFill>
            <a:srgbClr val="FBF6E1"/>
          </a:solidFill>
          <a:ln w="6350">
            <a:solidFill>
              <a:srgbClr val="BF8F1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1" name="TextBox 1020">
            <a:extLst>
              <a:ext uri="{FF2B5EF4-FFF2-40B4-BE49-F238E27FC236}">
                <a16:creationId xmlns:a16="http://schemas.microsoft.com/office/drawing/2014/main" id="{EB20D4B0-010F-C138-2627-56D312F3E78A}"/>
              </a:ext>
            </a:extLst>
          </p:cNvPr>
          <p:cNvSpPr txBox="1"/>
          <p:nvPr/>
        </p:nvSpPr>
        <p:spPr>
          <a:xfrm>
            <a:off x="667512" y="4901184"/>
            <a:ext cx="566928" cy="31089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600" b="1" dirty="0">
                <a:solidFill>
                  <a:srgbClr val="BF8F19"/>
                </a:solidFill>
                <a:latin typeface="Aptos"/>
              </a:rPr>
              <a:t>R6</a:t>
            </a:r>
          </a:p>
        </p:txBody>
      </p:sp>
      <p:sp>
        <p:nvSpPr>
          <p:cNvPr id="43" name="Shape 1021">
            <a:extLst>
              <a:ext uri="{FF2B5EF4-FFF2-40B4-BE49-F238E27FC236}">
                <a16:creationId xmlns:a16="http://schemas.microsoft.com/office/drawing/2014/main" id="{606E2340-A3E0-10D4-7845-28BD334A4CBE}"/>
              </a:ext>
            </a:extLst>
          </p:cNvPr>
          <p:cNvSpPr/>
          <p:nvPr/>
        </p:nvSpPr>
        <p:spPr>
          <a:xfrm>
            <a:off x="3099816" y="4901184"/>
            <a:ext cx="813816" cy="310896"/>
          </a:xfrm>
          <a:prstGeom prst="roundRect">
            <a:avLst>
              <a:gd name="adj" fmla="val 12000"/>
            </a:avLst>
          </a:prstGeom>
          <a:solidFill>
            <a:srgbClr val="FBF6E1"/>
          </a:solidFill>
          <a:ln w="6350">
            <a:solidFill>
              <a:srgbClr val="BF8F19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45" name="TextBox 1022">
            <a:extLst>
              <a:ext uri="{FF2B5EF4-FFF2-40B4-BE49-F238E27FC236}">
                <a16:creationId xmlns:a16="http://schemas.microsoft.com/office/drawing/2014/main" id="{19AC1FB8-DAAE-F27F-B22E-B88D246A5EFE}"/>
              </a:ext>
            </a:extLst>
          </p:cNvPr>
          <p:cNvSpPr txBox="1"/>
          <p:nvPr/>
        </p:nvSpPr>
        <p:spPr>
          <a:xfrm>
            <a:off x="3099816" y="4901184"/>
            <a:ext cx="81381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BF8F19"/>
                </a:solidFill>
                <a:latin typeface="Aptos"/>
              </a:rPr>
              <a:t>10 Medium</a:t>
            </a:r>
          </a:p>
        </p:txBody>
      </p:sp>
      <p:sp>
        <p:nvSpPr>
          <p:cNvPr id="47" name="TextBox 1023">
            <a:extLst>
              <a:ext uri="{FF2B5EF4-FFF2-40B4-BE49-F238E27FC236}">
                <a16:creationId xmlns:a16="http://schemas.microsoft.com/office/drawing/2014/main" id="{3346A31E-2A24-02E6-DC44-99BC4D375858}"/>
              </a:ext>
            </a:extLst>
          </p:cNvPr>
          <p:cNvSpPr txBox="1"/>
          <p:nvPr/>
        </p:nvSpPr>
        <p:spPr>
          <a:xfrm>
            <a:off x="667512" y="5351038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Data privacy breach (student PII)</a:t>
            </a:r>
          </a:p>
        </p:txBody>
      </p:sp>
      <p:sp>
        <p:nvSpPr>
          <p:cNvPr id="49" name="TextBox 1024">
            <a:extLst>
              <a:ext uri="{FF2B5EF4-FFF2-40B4-BE49-F238E27FC236}">
                <a16:creationId xmlns:a16="http://schemas.microsoft.com/office/drawing/2014/main" id="{EAD6F9CC-099C-D197-A002-7768068D8C75}"/>
              </a:ext>
            </a:extLst>
          </p:cNvPr>
          <p:cNvSpPr txBox="1"/>
          <p:nvPr/>
        </p:nvSpPr>
        <p:spPr>
          <a:xfrm>
            <a:off x="667512" y="5733288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i="1" dirty="0">
                <a:latin typeface="Aptos"/>
              </a:rPr>
              <a:t>Encryption, RBAC, pre-launch security audit</a:t>
            </a:r>
          </a:p>
        </p:txBody>
      </p:sp>
      <p:sp>
        <p:nvSpPr>
          <p:cNvPr id="51" name="TextBox 1025">
            <a:extLst>
              <a:ext uri="{FF2B5EF4-FFF2-40B4-BE49-F238E27FC236}">
                <a16:creationId xmlns:a16="http://schemas.microsoft.com/office/drawing/2014/main" id="{C5703743-5C78-3C46-C1C3-20966180E20B}"/>
              </a:ext>
            </a:extLst>
          </p:cNvPr>
          <p:cNvSpPr txBox="1"/>
          <p:nvPr/>
        </p:nvSpPr>
        <p:spPr>
          <a:xfrm>
            <a:off x="4325112" y="1536192"/>
            <a:ext cx="3538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12304F"/>
                </a:solidFill>
                <a:latin typeface="Aptos"/>
              </a:rPr>
              <a:t>QUALITY GATES</a:t>
            </a:r>
          </a:p>
        </p:txBody>
      </p:sp>
      <p:sp>
        <p:nvSpPr>
          <p:cNvPr id="53" name="Shape 1026">
            <a:extLst>
              <a:ext uri="{FF2B5EF4-FFF2-40B4-BE49-F238E27FC236}">
                <a16:creationId xmlns:a16="http://schemas.microsoft.com/office/drawing/2014/main" id="{5C7FB786-A0D1-3060-A941-BC54D87897E5}"/>
              </a:ext>
            </a:extLst>
          </p:cNvPr>
          <p:cNvSpPr/>
          <p:nvPr/>
        </p:nvSpPr>
        <p:spPr>
          <a:xfrm>
            <a:off x="4325112" y="1920240"/>
            <a:ext cx="3538728" cy="566928"/>
          </a:xfrm>
          <a:prstGeom prst="roundRect">
            <a:avLst>
              <a:gd name="adj" fmla="val 8000"/>
            </a:avLst>
          </a:prstGeom>
          <a:solidFill>
            <a:srgbClr val="E8F2F3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55" name="TextBox 1027">
            <a:extLst>
              <a:ext uri="{FF2B5EF4-FFF2-40B4-BE49-F238E27FC236}">
                <a16:creationId xmlns:a16="http://schemas.microsoft.com/office/drawing/2014/main" id="{9BA84578-B72C-B061-DD07-64CCC3637C4F}"/>
              </a:ext>
            </a:extLst>
          </p:cNvPr>
          <p:cNvSpPr txBox="1"/>
          <p:nvPr/>
        </p:nvSpPr>
        <p:spPr>
          <a:xfrm>
            <a:off x="4507992" y="1920240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dirty="0">
                <a:solidFill>
                  <a:srgbClr val="1F8F91"/>
                </a:solidFill>
                <a:latin typeface="Aptos"/>
              </a:rPr>
              <a:t>Zero</a:t>
            </a:r>
            <a:r>
              <a:rPr sz="1400" dirty="0">
                <a:solidFill>
                  <a:srgbClr val="232D37"/>
                </a:solidFill>
                <a:latin typeface="Aptos"/>
              </a:rPr>
              <a:t>  Sev-1 defects open at Go-Live</a:t>
            </a:r>
          </a:p>
        </p:txBody>
      </p:sp>
      <p:sp>
        <p:nvSpPr>
          <p:cNvPr id="57" name="Shape 1028">
            <a:extLst>
              <a:ext uri="{FF2B5EF4-FFF2-40B4-BE49-F238E27FC236}">
                <a16:creationId xmlns:a16="http://schemas.microsoft.com/office/drawing/2014/main" id="{5D797C2E-98C7-2041-9CEE-706EF545A01B}"/>
              </a:ext>
            </a:extLst>
          </p:cNvPr>
          <p:cNvSpPr/>
          <p:nvPr/>
        </p:nvSpPr>
        <p:spPr>
          <a:xfrm>
            <a:off x="4325112" y="2606040"/>
            <a:ext cx="3538728" cy="566928"/>
          </a:xfrm>
          <a:prstGeom prst="roundRect">
            <a:avLst>
              <a:gd name="adj" fmla="val 8000"/>
            </a:avLst>
          </a:prstGeom>
          <a:solidFill>
            <a:srgbClr val="E8F2F3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59" name="TextBox 1029">
            <a:extLst>
              <a:ext uri="{FF2B5EF4-FFF2-40B4-BE49-F238E27FC236}">
                <a16:creationId xmlns:a16="http://schemas.microsoft.com/office/drawing/2014/main" id="{B267FC0C-F502-C99C-E1FA-F96ED7E9ED0E}"/>
              </a:ext>
            </a:extLst>
          </p:cNvPr>
          <p:cNvSpPr txBox="1"/>
          <p:nvPr/>
        </p:nvSpPr>
        <p:spPr>
          <a:xfrm>
            <a:off x="4507992" y="2606040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dirty="0">
                <a:solidFill>
                  <a:srgbClr val="1F8F91"/>
                </a:solidFill>
                <a:latin typeface="Aptos"/>
              </a:rPr>
              <a:t>≥80%</a:t>
            </a:r>
            <a:r>
              <a:rPr sz="1400" dirty="0">
                <a:solidFill>
                  <a:srgbClr val="232D37"/>
                </a:solidFill>
                <a:latin typeface="Aptos"/>
              </a:rPr>
              <a:t>  AI matching-engine precision</a:t>
            </a:r>
          </a:p>
        </p:txBody>
      </p:sp>
      <p:sp>
        <p:nvSpPr>
          <p:cNvPr id="61" name="Shape 1030">
            <a:extLst>
              <a:ext uri="{FF2B5EF4-FFF2-40B4-BE49-F238E27FC236}">
                <a16:creationId xmlns:a16="http://schemas.microsoft.com/office/drawing/2014/main" id="{F7185AF9-E602-11DD-BADE-1FE9AFE1EAA2}"/>
              </a:ext>
            </a:extLst>
          </p:cNvPr>
          <p:cNvSpPr/>
          <p:nvPr/>
        </p:nvSpPr>
        <p:spPr>
          <a:xfrm>
            <a:off x="4325112" y="3291840"/>
            <a:ext cx="3538728" cy="566928"/>
          </a:xfrm>
          <a:prstGeom prst="roundRect">
            <a:avLst>
              <a:gd name="adj" fmla="val 8000"/>
            </a:avLst>
          </a:prstGeom>
          <a:solidFill>
            <a:srgbClr val="E8F2F3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63" name="TextBox 1031">
            <a:extLst>
              <a:ext uri="{FF2B5EF4-FFF2-40B4-BE49-F238E27FC236}">
                <a16:creationId xmlns:a16="http://schemas.microsoft.com/office/drawing/2014/main" id="{66AF968D-DA6B-D785-34C9-A07F3B30D7B4}"/>
              </a:ext>
            </a:extLst>
          </p:cNvPr>
          <p:cNvSpPr txBox="1"/>
          <p:nvPr/>
        </p:nvSpPr>
        <p:spPr>
          <a:xfrm>
            <a:off x="4507992" y="3291840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dirty="0">
                <a:solidFill>
                  <a:srgbClr val="1F8F91"/>
                </a:solidFill>
                <a:latin typeface="Aptos"/>
              </a:rPr>
              <a:t>&lt; 5 sec</a:t>
            </a:r>
            <a:r>
              <a:rPr sz="1400" dirty="0">
                <a:solidFill>
                  <a:srgbClr val="232D37"/>
                </a:solidFill>
                <a:latin typeface="Aptos"/>
              </a:rPr>
              <a:t>  AI response latency (p95)</a:t>
            </a:r>
          </a:p>
        </p:txBody>
      </p:sp>
      <p:sp>
        <p:nvSpPr>
          <p:cNvPr id="65" name="Shape 1032">
            <a:extLst>
              <a:ext uri="{FF2B5EF4-FFF2-40B4-BE49-F238E27FC236}">
                <a16:creationId xmlns:a16="http://schemas.microsoft.com/office/drawing/2014/main" id="{15B05ADB-B0D4-C67A-3AF7-22BCC544C9D4}"/>
              </a:ext>
            </a:extLst>
          </p:cNvPr>
          <p:cNvSpPr/>
          <p:nvPr/>
        </p:nvSpPr>
        <p:spPr>
          <a:xfrm>
            <a:off x="4325112" y="3977640"/>
            <a:ext cx="3538728" cy="566928"/>
          </a:xfrm>
          <a:prstGeom prst="roundRect">
            <a:avLst>
              <a:gd name="adj" fmla="val 8000"/>
            </a:avLst>
          </a:prstGeom>
          <a:solidFill>
            <a:srgbClr val="E8F2F3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67" name="TextBox 1033">
            <a:extLst>
              <a:ext uri="{FF2B5EF4-FFF2-40B4-BE49-F238E27FC236}">
                <a16:creationId xmlns:a16="http://schemas.microsoft.com/office/drawing/2014/main" id="{6562DC48-4AD0-4137-5FBD-0638836B91A2}"/>
              </a:ext>
            </a:extLst>
          </p:cNvPr>
          <p:cNvSpPr txBox="1"/>
          <p:nvPr/>
        </p:nvSpPr>
        <p:spPr>
          <a:xfrm>
            <a:off x="4507992" y="3977640"/>
            <a:ext cx="321868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dirty="0">
                <a:solidFill>
                  <a:srgbClr val="1F8F91"/>
                </a:solidFill>
                <a:latin typeface="Aptos"/>
              </a:rPr>
              <a:t>≥4.0/5</a:t>
            </a:r>
            <a:r>
              <a:rPr sz="1400" dirty="0">
                <a:solidFill>
                  <a:srgbClr val="232D37"/>
                </a:solidFill>
                <a:latin typeface="Aptos"/>
              </a:rPr>
              <a:t>  User satisfaction (CSAT)</a:t>
            </a:r>
          </a:p>
        </p:txBody>
      </p:sp>
      <p:sp>
        <p:nvSpPr>
          <p:cNvPr id="69" name="TextBox 1034">
            <a:extLst>
              <a:ext uri="{FF2B5EF4-FFF2-40B4-BE49-F238E27FC236}">
                <a16:creationId xmlns:a16="http://schemas.microsoft.com/office/drawing/2014/main" id="{0FD993B7-17D6-C8AF-FEA5-BA785DB88684}"/>
              </a:ext>
            </a:extLst>
          </p:cNvPr>
          <p:cNvSpPr txBox="1"/>
          <p:nvPr/>
        </p:nvSpPr>
        <p:spPr>
          <a:xfrm>
            <a:off x="4343400" y="4782312"/>
            <a:ext cx="3538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12304F"/>
                </a:solidFill>
                <a:latin typeface="Aptos"/>
              </a:rPr>
              <a:t>QA PRACTICE</a:t>
            </a:r>
          </a:p>
        </p:txBody>
      </p:sp>
      <p:sp>
        <p:nvSpPr>
          <p:cNvPr id="71" name="Shape 1035">
            <a:extLst>
              <a:ext uri="{FF2B5EF4-FFF2-40B4-BE49-F238E27FC236}">
                <a16:creationId xmlns:a16="http://schemas.microsoft.com/office/drawing/2014/main" id="{6EAF50F5-A984-B664-E9D4-909B42C963D3}"/>
              </a:ext>
            </a:extLst>
          </p:cNvPr>
          <p:cNvSpPr/>
          <p:nvPr/>
        </p:nvSpPr>
        <p:spPr>
          <a:xfrm>
            <a:off x="4325112" y="5138928"/>
            <a:ext cx="35387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 dirty="0"/>
          </a:p>
        </p:txBody>
      </p:sp>
      <p:sp>
        <p:nvSpPr>
          <p:cNvPr id="73" name="TextBox 1036">
            <a:extLst>
              <a:ext uri="{FF2B5EF4-FFF2-40B4-BE49-F238E27FC236}">
                <a16:creationId xmlns:a16="http://schemas.microsoft.com/office/drawing/2014/main" id="{DDED683D-90A1-E0F7-8A72-B1C9CF89DDC8}"/>
              </a:ext>
            </a:extLst>
          </p:cNvPr>
          <p:cNvSpPr txBox="1"/>
          <p:nvPr/>
        </p:nvSpPr>
        <p:spPr>
          <a:xfrm>
            <a:off x="4489704" y="5250754"/>
            <a:ext cx="320954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dirty="0">
                <a:latin typeface="Aptos"/>
              </a:rPr>
              <a:t>Shift-left QA from Sprint 3, peer code review on every PR, and a Definition-of-Done gate before any story ships.</a:t>
            </a:r>
          </a:p>
        </p:txBody>
      </p:sp>
      <p:sp>
        <p:nvSpPr>
          <p:cNvPr id="75" name="TextBox 1037">
            <a:extLst>
              <a:ext uri="{FF2B5EF4-FFF2-40B4-BE49-F238E27FC236}">
                <a16:creationId xmlns:a16="http://schemas.microsoft.com/office/drawing/2014/main" id="{1A701076-E041-A2C7-A76F-EF87B2256A96}"/>
              </a:ext>
            </a:extLst>
          </p:cNvPr>
          <p:cNvSpPr txBox="1"/>
          <p:nvPr/>
        </p:nvSpPr>
        <p:spPr>
          <a:xfrm>
            <a:off x="8129016" y="1536192"/>
            <a:ext cx="3538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12304F"/>
                </a:solidFill>
                <a:latin typeface="Aptos"/>
              </a:rPr>
              <a:t>COMMUNICATION CADENCE</a:t>
            </a:r>
          </a:p>
        </p:txBody>
      </p:sp>
      <p:sp>
        <p:nvSpPr>
          <p:cNvPr id="77" name="Shape 1038">
            <a:extLst>
              <a:ext uri="{FF2B5EF4-FFF2-40B4-BE49-F238E27FC236}">
                <a16:creationId xmlns:a16="http://schemas.microsoft.com/office/drawing/2014/main" id="{DE5B817C-32DE-74CE-EA84-F04A9CEF3B4B}"/>
              </a:ext>
            </a:extLst>
          </p:cNvPr>
          <p:cNvSpPr/>
          <p:nvPr/>
        </p:nvSpPr>
        <p:spPr>
          <a:xfrm>
            <a:off x="8129016" y="1920240"/>
            <a:ext cx="3538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79" name="Shape 1039">
            <a:extLst>
              <a:ext uri="{FF2B5EF4-FFF2-40B4-BE49-F238E27FC236}">
                <a16:creationId xmlns:a16="http://schemas.microsoft.com/office/drawing/2014/main" id="{F4BFE784-8B15-7172-5FF6-84E0E2C706C5}"/>
              </a:ext>
            </a:extLst>
          </p:cNvPr>
          <p:cNvSpPr/>
          <p:nvPr/>
        </p:nvSpPr>
        <p:spPr>
          <a:xfrm>
            <a:off x="8257032" y="2029968"/>
            <a:ext cx="960120" cy="347472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81" name="TextBox 1040">
            <a:extLst>
              <a:ext uri="{FF2B5EF4-FFF2-40B4-BE49-F238E27FC236}">
                <a16:creationId xmlns:a16="http://schemas.microsoft.com/office/drawing/2014/main" id="{E9747753-89D2-F8EF-E006-CB762FF0EF38}"/>
              </a:ext>
            </a:extLst>
          </p:cNvPr>
          <p:cNvSpPr txBox="1"/>
          <p:nvPr/>
        </p:nvSpPr>
        <p:spPr>
          <a:xfrm>
            <a:off x="8257032" y="2029968"/>
            <a:ext cx="960120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Daily</a:t>
            </a:r>
          </a:p>
        </p:txBody>
      </p:sp>
      <p:sp>
        <p:nvSpPr>
          <p:cNvPr id="83" name="TextBox 1041">
            <a:extLst>
              <a:ext uri="{FF2B5EF4-FFF2-40B4-BE49-F238E27FC236}">
                <a16:creationId xmlns:a16="http://schemas.microsoft.com/office/drawing/2014/main" id="{6B796D98-D346-0E12-A3C2-A52BC06DAEA9}"/>
              </a:ext>
            </a:extLst>
          </p:cNvPr>
          <p:cNvSpPr txBox="1"/>
          <p:nvPr/>
        </p:nvSpPr>
        <p:spPr>
          <a:xfrm>
            <a:off x="9317736" y="1975104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Standup</a:t>
            </a:r>
          </a:p>
        </p:txBody>
      </p:sp>
      <p:sp>
        <p:nvSpPr>
          <p:cNvPr id="85" name="TextBox 1042">
            <a:extLst>
              <a:ext uri="{FF2B5EF4-FFF2-40B4-BE49-F238E27FC236}">
                <a16:creationId xmlns:a16="http://schemas.microsoft.com/office/drawing/2014/main" id="{2BA38B0D-BD92-FA96-A54F-0B2741F6F015}"/>
              </a:ext>
            </a:extLst>
          </p:cNvPr>
          <p:cNvSpPr txBox="1"/>
          <p:nvPr/>
        </p:nvSpPr>
        <p:spPr>
          <a:xfrm>
            <a:off x="9317736" y="2231136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dirty="0">
                <a:latin typeface="Aptos"/>
              </a:rPr>
              <a:t>Dev Team</a:t>
            </a:r>
            <a:endParaRPr sz="900" dirty="0">
              <a:latin typeface="Aptos"/>
            </a:endParaRPr>
          </a:p>
        </p:txBody>
      </p:sp>
      <p:sp>
        <p:nvSpPr>
          <p:cNvPr id="87" name="Shape 1043">
            <a:extLst>
              <a:ext uri="{FF2B5EF4-FFF2-40B4-BE49-F238E27FC236}">
                <a16:creationId xmlns:a16="http://schemas.microsoft.com/office/drawing/2014/main" id="{200A5B67-2603-C49E-B6C9-4B87418EC5AD}"/>
              </a:ext>
            </a:extLst>
          </p:cNvPr>
          <p:cNvSpPr/>
          <p:nvPr/>
        </p:nvSpPr>
        <p:spPr>
          <a:xfrm>
            <a:off x="8129016" y="2606040"/>
            <a:ext cx="3538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89" name="Shape 1044">
            <a:extLst>
              <a:ext uri="{FF2B5EF4-FFF2-40B4-BE49-F238E27FC236}">
                <a16:creationId xmlns:a16="http://schemas.microsoft.com/office/drawing/2014/main" id="{EF84C9B3-B0F6-B711-6D76-16FE411F04D6}"/>
              </a:ext>
            </a:extLst>
          </p:cNvPr>
          <p:cNvSpPr/>
          <p:nvPr/>
        </p:nvSpPr>
        <p:spPr>
          <a:xfrm>
            <a:off x="8257032" y="2715768"/>
            <a:ext cx="960120" cy="347472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91" name="TextBox 1045">
            <a:extLst>
              <a:ext uri="{FF2B5EF4-FFF2-40B4-BE49-F238E27FC236}">
                <a16:creationId xmlns:a16="http://schemas.microsoft.com/office/drawing/2014/main" id="{0C2C80E5-5309-EBDC-3A86-0B968A4BC4D1}"/>
              </a:ext>
            </a:extLst>
          </p:cNvPr>
          <p:cNvSpPr txBox="1"/>
          <p:nvPr/>
        </p:nvSpPr>
        <p:spPr>
          <a:xfrm>
            <a:off x="8257032" y="2715768"/>
            <a:ext cx="960120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Bi-weekly</a:t>
            </a:r>
          </a:p>
        </p:txBody>
      </p:sp>
      <p:sp>
        <p:nvSpPr>
          <p:cNvPr id="93" name="TextBox 1046">
            <a:extLst>
              <a:ext uri="{FF2B5EF4-FFF2-40B4-BE49-F238E27FC236}">
                <a16:creationId xmlns:a16="http://schemas.microsoft.com/office/drawing/2014/main" id="{A70E1EF1-4CFD-5850-CDC7-B9DF5564E9CC}"/>
              </a:ext>
            </a:extLst>
          </p:cNvPr>
          <p:cNvSpPr txBox="1"/>
          <p:nvPr/>
        </p:nvSpPr>
        <p:spPr>
          <a:xfrm>
            <a:off x="9317736" y="2660904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Sprint Review &amp; Retro</a:t>
            </a:r>
          </a:p>
        </p:txBody>
      </p:sp>
      <p:sp>
        <p:nvSpPr>
          <p:cNvPr id="95" name="TextBox 1047">
            <a:extLst>
              <a:ext uri="{FF2B5EF4-FFF2-40B4-BE49-F238E27FC236}">
                <a16:creationId xmlns:a16="http://schemas.microsoft.com/office/drawing/2014/main" id="{505F6067-CFE0-0AD1-0F08-7B74F48E5A2F}"/>
              </a:ext>
            </a:extLst>
          </p:cNvPr>
          <p:cNvSpPr txBox="1"/>
          <p:nvPr/>
        </p:nvSpPr>
        <p:spPr>
          <a:xfrm>
            <a:off x="9317736" y="2916936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dirty="0">
                <a:latin typeface="Aptos"/>
              </a:rPr>
              <a:t>Team + Placement Cell</a:t>
            </a:r>
          </a:p>
        </p:txBody>
      </p:sp>
      <p:sp>
        <p:nvSpPr>
          <p:cNvPr id="97" name="Shape 1048">
            <a:extLst>
              <a:ext uri="{FF2B5EF4-FFF2-40B4-BE49-F238E27FC236}">
                <a16:creationId xmlns:a16="http://schemas.microsoft.com/office/drawing/2014/main" id="{223843E0-6388-5D09-B083-07FF0BC733AB}"/>
              </a:ext>
            </a:extLst>
          </p:cNvPr>
          <p:cNvSpPr/>
          <p:nvPr/>
        </p:nvSpPr>
        <p:spPr>
          <a:xfrm>
            <a:off x="8129016" y="3291840"/>
            <a:ext cx="3538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99" name="Shape 1049">
            <a:extLst>
              <a:ext uri="{FF2B5EF4-FFF2-40B4-BE49-F238E27FC236}">
                <a16:creationId xmlns:a16="http://schemas.microsoft.com/office/drawing/2014/main" id="{8E073416-F070-8E6C-F72C-046ABB977736}"/>
              </a:ext>
            </a:extLst>
          </p:cNvPr>
          <p:cNvSpPr/>
          <p:nvPr/>
        </p:nvSpPr>
        <p:spPr>
          <a:xfrm>
            <a:off x="8257032" y="3401568"/>
            <a:ext cx="960120" cy="347472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01" name="TextBox 1050">
            <a:extLst>
              <a:ext uri="{FF2B5EF4-FFF2-40B4-BE49-F238E27FC236}">
                <a16:creationId xmlns:a16="http://schemas.microsoft.com/office/drawing/2014/main" id="{4A685A25-4D36-39E1-AA80-52E928B839AB}"/>
              </a:ext>
            </a:extLst>
          </p:cNvPr>
          <p:cNvSpPr txBox="1"/>
          <p:nvPr/>
        </p:nvSpPr>
        <p:spPr>
          <a:xfrm>
            <a:off x="8257032" y="3401568"/>
            <a:ext cx="960120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Bi-weekly</a:t>
            </a:r>
          </a:p>
        </p:txBody>
      </p:sp>
      <p:sp>
        <p:nvSpPr>
          <p:cNvPr id="103" name="TextBox 1051">
            <a:extLst>
              <a:ext uri="{FF2B5EF4-FFF2-40B4-BE49-F238E27FC236}">
                <a16:creationId xmlns:a16="http://schemas.microsoft.com/office/drawing/2014/main" id="{7650B790-5C13-94EB-686E-D348A5740A85}"/>
              </a:ext>
            </a:extLst>
          </p:cNvPr>
          <p:cNvSpPr txBox="1"/>
          <p:nvPr/>
        </p:nvSpPr>
        <p:spPr>
          <a:xfrm>
            <a:off x="9317736" y="3346704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Risk &amp; Issue Review</a:t>
            </a:r>
          </a:p>
        </p:txBody>
      </p:sp>
      <p:sp>
        <p:nvSpPr>
          <p:cNvPr id="105" name="TextBox 1052">
            <a:extLst>
              <a:ext uri="{FF2B5EF4-FFF2-40B4-BE49-F238E27FC236}">
                <a16:creationId xmlns:a16="http://schemas.microsoft.com/office/drawing/2014/main" id="{77E7D762-3243-2A13-CC9D-B20FC6345036}"/>
              </a:ext>
            </a:extLst>
          </p:cNvPr>
          <p:cNvSpPr txBox="1"/>
          <p:nvPr/>
        </p:nvSpPr>
        <p:spPr>
          <a:xfrm>
            <a:off x="9317736" y="3602736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dirty="0">
                <a:latin typeface="Aptos"/>
              </a:rPr>
              <a:t>PM + Risk Owners</a:t>
            </a:r>
          </a:p>
        </p:txBody>
      </p:sp>
      <p:sp>
        <p:nvSpPr>
          <p:cNvPr id="107" name="Shape 1053">
            <a:extLst>
              <a:ext uri="{FF2B5EF4-FFF2-40B4-BE49-F238E27FC236}">
                <a16:creationId xmlns:a16="http://schemas.microsoft.com/office/drawing/2014/main" id="{4820626E-CC0A-0151-E875-046DBEA8C49E}"/>
              </a:ext>
            </a:extLst>
          </p:cNvPr>
          <p:cNvSpPr/>
          <p:nvPr/>
        </p:nvSpPr>
        <p:spPr>
          <a:xfrm>
            <a:off x="8129016" y="3977640"/>
            <a:ext cx="3538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6350">
            <a:solidFill>
              <a:srgbClr val="DAE1E6"/>
            </a:solidFill>
          </a:ln>
        </p:spPr>
        <p:txBody>
          <a:bodyPr anchor="ctr"/>
          <a:lstStyle/>
          <a:p>
            <a:endParaRPr/>
          </a:p>
        </p:txBody>
      </p:sp>
      <p:sp>
        <p:nvSpPr>
          <p:cNvPr id="109" name="Shape 1054">
            <a:extLst>
              <a:ext uri="{FF2B5EF4-FFF2-40B4-BE49-F238E27FC236}">
                <a16:creationId xmlns:a16="http://schemas.microsoft.com/office/drawing/2014/main" id="{68C3ED8A-A968-594B-BF53-D754AB2830DE}"/>
              </a:ext>
            </a:extLst>
          </p:cNvPr>
          <p:cNvSpPr/>
          <p:nvPr/>
        </p:nvSpPr>
        <p:spPr>
          <a:xfrm>
            <a:off x="8257032" y="4087368"/>
            <a:ext cx="960120" cy="347472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1" name="TextBox 1055">
            <a:extLst>
              <a:ext uri="{FF2B5EF4-FFF2-40B4-BE49-F238E27FC236}">
                <a16:creationId xmlns:a16="http://schemas.microsoft.com/office/drawing/2014/main" id="{20D8649D-2040-3D82-41D9-A22D86B8885F}"/>
              </a:ext>
            </a:extLst>
          </p:cNvPr>
          <p:cNvSpPr txBox="1"/>
          <p:nvPr/>
        </p:nvSpPr>
        <p:spPr>
          <a:xfrm>
            <a:off x="8257032" y="4087368"/>
            <a:ext cx="960120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Monthly</a:t>
            </a:r>
          </a:p>
        </p:txBody>
      </p:sp>
      <p:sp>
        <p:nvSpPr>
          <p:cNvPr id="113" name="TextBox 1056">
            <a:extLst>
              <a:ext uri="{FF2B5EF4-FFF2-40B4-BE49-F238E27FC236}">
                <a16:creationId xmlns:a16="http://schemas.microsoft.com/office/drawing/2014/main" id="{D26C477B-6E55-CEFD-DF76-D6511B54E1DF}"/>
              </a:ext>
            </a:extLst>
          </p:cNvPr>
          <p:cNvSpPr txBox="1"/>
          <p:nvPr/>
        </p:nvSpPr>
        <p:spPr>
          <a:xfrm>
            <a:off x="9317736" y="4032504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dirty="0">
                <a:solidFill>
                  <a:srgbClr val="232D37"/>
                </a:solidFill>
                <a:latin typeface="Aptos"/>
              </a:rPr>
              <a:t>Steering Committee Report</a:t>
            </a:r>
          </a:p>
        </p:txBody>
      </p:sp>
      <p:sp>
        <p:nvSpPr>
          <p:cNvPr id="115" name="TextBox 1057">
            <a:extLst>
              <a:ext uri="{FF2B5EF4-FFF2-40B4-BE49-F238E27FC236}">
                <a16:creationId xmlns:a16="http://schemas.microsoft.com/office/drawing/2014/main" id="{0B69D587-BB5B-71F8-3DBE-B41D2B09FA12}"/>
              </a:ext>
            </a:extLst>
          </p:cNvPr>
          <p:cNvSpPr txBox="1"/>
          <p:nvPr/>
        </p:nvSpPr>
        <p:spPr>
          <a:xfrm>
            <a:off x="9317736" y="4288536"/>
            <a:ext cx="22128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dirty="0">
                <a:latin typeface="Aptos"/>
              </a:rPr>
              <a:t>Sponsor + College Admin</a:t>
            </a:r>
          </a:p>
        </p:txBody>
      </p:sp>
      <p:sp>
        <p:nvSpPr>
          <p:cNvPr id="117" name="Shape 1058">
            <a:extLst>
              <a:ext uri="{FF2B5EF4-FFF2-40B4-BE49-F238E27FC236}">
                <a16:creationId xmlns:a16="http://schemas.microsoft.com/office/drawing/2014/main" id="{7F0A3FDF-5424-E3C0-1ED4-4BED728541A5}"/>
              </a:ext>
            </a:extLst>
          </p:cNvPr>
          <p:cNvSpPr/>
          <p:nvPr/>
        </p:nvSpPr>
        <p:spPr>
          <a:xfrm>
            <a:off x="521208" y="6144768"/>
            <a:ext cx="11146536" cy="566928"/>
          </a:xfrm>
          <a:prstGeom prst="roundRect">
            <a:avLst>
              <a:gd name="adj" fmla="val 6000"/>
            </a:avLst>
          </a:prstGeom>
          <a:solidFill>
            <a:srgbClr val="12304F"/>
          </a:solidFill>
          <a:ln>
            <a:noFill/>
          </a:ln>
        </p:spPr>
        <p:txBody>
          <a:bodyPr anchor="ctr"/>
          <a:lstStyle/>
          <a:p>
            <a:endParaRPr/>
          </a:p>
        </p:txBody>
      </p:sp>
      <p:sp>
        <p:nvSpPr>
          <p:cNvPr id="119" name="TextBox 1059">
            <a:extLst>
              <a:ext uri="{FF2B5EF4-FFF2-40B4-BE49-F238E27FC236}">
                <a16:creationId xmlns:a16="http://schemas.microsoft.com/office/drawing/2014/main" id="{6348135D-24CC-5DD1-05F0-8952E135528D}"/>
              </a:ext>
            </a:extLst>
          </p:cNvPr>
          <p:cNvSpPr txBox="1"/>
          <p:nvPr/>
        </p:nvSpPr>
        <p:spPr>
          <a:xfrm>
            <a:off x="777240" y="6190488"/>
            <a:ext cx="10753344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Governance rhythm</a:t>
            </a:r>
            <a:r>
              <a:rPr sz="1400" dirty="0">
                <a:solidFill>
                  <a:srgbClr val="FFFFFF"/>
                </a:solidFill>
                <a:latin typeface="Aptos"/>
              </a:rPr>
              <a:t>   |   weekly risk reviews, shift-left QA and monthly steering keep R1/R8 contained without slowing sprints.</a:t>
            </a:r>
          </a:p>
        </p:txBody>
      </p:sp>
      <p:sp>
        <p:nvSpPr>
          <p:cNvPr id="121" name="Text 0">
            <a:extLst>
              <a:ext uri="{FF2B5EF4-FFF2-40B4-BE49-F238E27FC236}">
                <a16:creationId xmlns:a16="http://schemas.microsoft.com/office/drawing/2014/main" id="{752DB12B-CCC9-F14C-1E42-700114B4800A}"/>
              </a:ext>
            </a:extLst>
          </p:cNvPr>
          <p:cNvSpPr/>
          <p:nvPr/>
        </p:nvSpPr>
        <p:spPr>
          <a:xfrm>
            <a:off x="521208" y="292608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spcBef>
                <a:spcPct val="0"/>
              </a:spcBef>
            </a:pPr>
            <a:r>
              <a:rPr lang="en-US" sz="4400" b="1" dirty="0">
                <a:solidFill>
                  <a:srgbClr val="1F3864"/>
                </a:solidFill>
                <a:latin typeface="Calibri"/>
                <a:ea typeface="+mj-ea"/>
                <a:cs typeface="+mj-cs"/>
              </a:rPr>
              <a:t>RISK, QUALITY &amp;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966957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220000"/>
            <a:ext cx="9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BF8F19"/>
                </a:solidFill>
                <a:latin typeface="Calibri"/>
              </a:rPr>
              <a:t>MONITORING &amp; 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00" y="480000"/>
            <a:ext cx="112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2304F"/>
                </a:solidFill>
                <a:latin typeface="Calibri"/>
              </a:rPr>
              <a:t>Budget Performance, Course Correction &amp;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990000"/>
            <a:ext cx="1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Week-20 CPI dip triggered a targeted correction; project closes with zero Sev-1 defects.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1480000"/>
            <a:ext cx="1620000" cy="950000"/>
          </a:xfrm>
          <a:prstGeom prst="roundRect">
            <a:avLst>
              <a:gd name="adj" fmla="val 8000"/>
            </a:avLst>
          </a:prstGeom>
          <a:solidFill>
            <a:srgbClr val="EB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580000"/>
            <a:ext cx="13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8F91"/>
                </a:solidFill>
                <a:latin typeface="Calibri"/>
              </a:rPr>
              <a:t>CPI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00" y="1900000"/>
            <a:ext cx="13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3A2E"/>
                </a:solidFill>
                <a:latin typeface="Calibri"/>
              </a:rPr>
              <a:t>0.94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0000" y="1480000"/>
            <a:ext cx="1620000" cy="950000"/>
          </a:xfrm>
          <a:prstGeom prst="roundRect">
            <a:avLst>
              <a:gd name="adj" fmla="val 8000"/>
            </a:avLst>
          </a:prstGeom>
          <a:solidFill>
            <a:srgbClr val="EB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0000" y="1580000"/>
            <a:ext cx="13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8F91"/>
                </a:solidFill>
                <a:latin typeface="Calibri"/>
              </a:rPr>
              <a:t>SPI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000" y="1900000"/>
            <a:ext cx="13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F8F19"/>
                </a:solidFill>
                <a:latin typeface="Calibri"/>
              </a:rPr>
              <a:t>0.95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0" y="1480000"/>
            <a:ext cx="1620000" cy="950000"/>
          </a:xfrm>
          <a:prstGeom prst="roundRect">
            <a:avLst>
              <a:gd name="adj" fmla="val 8000"/>
            </a:avLst>
          </a:prstGeom>
          <a:solidFill>
            <a:srgbClr val="EB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50000" y="1580000"/>
            <a:ext cx="13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8F91"/>
                </a:solidFill>
                <a:latin typeface="Calibri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0000" y="1900000"/>
            <a:ext cx="13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B03A2E"/>
                </a:solidFill>
                <a:latin typeface="Calibri"/>
              </a:rPr>
              <a:t>−₹2.20L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50000" y="1480000"/>
            <a:ext cx="1620000" cy="950000"/>
          </a:xfrm>
          <a:prstGeom prst="roundRect">
            <a:avLst>
              <a:gd name="adj" fmla="val 8000"/>
            </a:avLst>
          </a:prstGeom>
          <a:solidFill>
            <a:srgbClr val="EB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00000" y="1580000"/>
            <a:ext cx="13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8F91"/>
                </a:solidFill>
                <a:latin typeface="Calibri"/>
              </a:rPr>
              <a:t>EAC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0000" y="1900000"/>
            <a:ext cx="135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2304F"/>
                </a:solidFill>
                <a:latin typeface="Calibri"/>
              </a:rPr>
              <a:t>₹62.13L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2620000"/>
            <a:ext cx="6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280"/>
                </a:solidFill>
                <a:latin typeface="Calibri"/>
              </a:rPr>
              <a:t>BAC ₹58.40L  ·  Target CPI ≥0.95  ·  Snapshot: Week 20 of 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000" y="3150000"/>
            <a:ext cx="3720000" cy="550000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0000" y="3280000"/>
            <a:ext cx="3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 Correction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000" y="3770000"/>
            <a:ext cx="3720000" cy="2350000"/>
          </a:xfrm>
          <a:prstGeom prst="roundRect">
            <a:avLst>
              <a:gd name="adj" fmla="val 4000"/>
            </a:avLst>
          </a:prstGeom>
          <a:solidFill>
            <a:srgbClr val="EBF7F7"/>
          </a:solidFill>
          <a:ln w="12700">
            <a:solidFill>
              <a:srgbClr val="DA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000" y="387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Crash O→P: 31→29 wks for ₹1.05L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00" y="443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Level resources: smoothed 3.3 FTE peak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499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Queue AI/ML backup for J/K repeat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0" y="3150000"/>
            <a:ext cx="3720000" cy="550000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0000" y="3280000"/>
            <a:ext cx="3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Closure Checklist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0" y="3770000"/>
            <a:ext cx="3720000" cy="2350000"/>
          </a:xfrm>
          <a:prstGeom prst="roundRect">
            <a:avLst>
              <a:gd name="adj" fmla="val 4000"/>
            </a:avLst>
          </a:prstGeom>
          <a:solidFill>
            <a:srgbClr val="EBF7F7"/>
          </a:solidFill>
          <a:ln w="12700">
            <a:solidFill>
              <a:srgbClr val="DA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0000" y="387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Functional + UAT sign-off, zero Sev-1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0000" y="443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Handover, docs &amp; privacy audit filed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0000" y="499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3-week hypercare, then formal sign-off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40000" y="3150000"/>
            <a:ext cx="3720000" cy="550000"/>
          </a:xfrm>
          <a:prstGeom prst="roundRect">
            <a:avLst>
              <a:gd name="adj" fmla="val 8000"/>
            </a:avLst>
          </a:prstGeom>
          <a:solidFill>
            <a:srgbClr val="12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0000" y="3280000"/>
            <a:ext cx="34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Lessons Learned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40000" y="3770000"/>
            <a:ext cx="3720000" cy="2350000"/>
          </a:xfrm>
          <a:prstGeom prst="roundRect">
            <a:avLst>
              <a:gd name="adj" fmla="val 4000"/>
            </a:avLst>
          </a:prstGeom>
          <a:solidFill>
            <a:srgbClr val="EBF7F7"/>
          </a:solidFill>
          <a:ln w="12700">
            <a:solidFill>
              <a:srgbClr val="DA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0000" y="387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Single-skill dependency = top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0000" y="435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PERT variance flagged it before it hit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0000" y="483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Crash only the common critical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0000" y="5310000"/>
            <a:ext cx="33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 i="0">
                <a:solidFill>
                  <a:srgbClr val="24272E"/>
                </a:solidFill>
                <a:latin typeface="Calibri"/>
              </a:rPr>
              <a:t>•  Hybrid governance kept scope disciplined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1914</Words>
  <Application>Microsoft Office PowerPoint</Application>
  <PresentationFormat>Widescreen</PresentationFormat>
  <Paragraphs>572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luv singhal</cp:lastModifiedBy>
  <cp:revision>8</cp:revision>
  <dcterms:created xsi:type="dcterms:W3CDTF">2026-08-21T14:05:50Z</dcterms:created>
  <dcterms:modified xsi:type="dcterms:W3CDTF">2026-08-25T10:57:55Z</dcterms:modified>
</cp:coreProperties>
</file>