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50" b="0" i="0" u="none" strike="noStrike">
                <a:solidFill>
                  <a:srgbClr val="E2E8F0"/>
                </a:solidFill>
                <a:latin typeface="Calibri"/>
              </a:defRPr>
            </a:pPr>
            <a:r>
              <a:rPr sz="850" b="0" i="0" u="none" strike="noStrike">
                <a:solidFill>
                  <a:srgbClr val="E2E8F0"/>
                </a:solidFill>
                <a:latin typeface="Calibri"/>
              </a:rPr>
              <a:t>Value flagged by test, ₹ Cr</a:t>
            </a:r>
          </a:p>
        </c:rich>
      </c:tx>
      <c:layout/>
      <c:overlay val="0"/>
    </c:title>
    <c:autoTitleDeleted val="0"/>
    <c:plotArea>
      <c:layout/>
      <c:barChart>
        <c:barDir val="bar"/>
        <c:grouping val="clustered"/>
        <c:varyColors val="0"/>
        <c:ser>
          <c:idx val="0"/>
          <c:order val="0"/>
          <c:tx>
            <c:strRef>
              <c:f>Sheet1!$B$1</c:f>
              <c:strCache>
                <c:ptCount val="1"/>
                <c:pt idx="0">
                  <c:v>₹ Cr</c:v>
                </c:pt>
              </c:strCache>
            </c:strRef>
          </c:tx>
          <c:spPr>
            <a:solidFill>
              <a:srgbClr val="F87171"/>
            </a:solidFill>
            <a:effectLst/>
          </c:spPr>
          <c:invertIfNegative val="0"/>
          <c:dLbls>
            <c:numFmt formatCode="0.0" sourceLinked="0"/>
            <c:txPr>
              <a:bodyPr/>
              <a:lstStyle/>
              <a:p>
                <a:pPr>
                  <a:defRPr b="0" i="0" strike="noStrike" sz="650" u="none">
                    <a:solidFill>
                      <a:srgbClr val="E2E8F0"/>
                    </a:solidFill>
                    <a:latin typeface="Arial"/>
                  </a:defRPr>
                </a:pPr>
              </a:p>
            </c:txPr>
            <c:showLegendKey val="0"/>
            <c:showVal val="1"/>
            <c:showCatName val="0"/>
            <c:showSerName val="0"/>
            <c:showPercent val="0"/>
            <c:showBubbleSize val="0"/>
            <c:showLeaderLines val="0"/>
          </c:dLbls>
          <c:cat>
            <c:multiLvlStrRef>
              <c:f>Sheet1!$A$2:$A$7</c:f>
              <c:multiLvlStrCache>
                <c:ptCount val="6"/>
                <c:lvl>
                  <c:pt idx="0">
                    <c:v>After hours posting</c:v>
                  </c:pt>
                  <c:pt idx="1">
                    <c:v>Segregation of duties</c:v>
                  </c:pt>
                  <c:pt idx="2">
                    <c:v>Duplicate payment</c:v>
                  </c:pt>
                  <c:pt idx="3">
                    <c:v>Benford's Law</c:v>
                  </c:pt>
                  <c:pt idx="4">
                    <c:v>Three way match</c:v>
                  </c:pt>
                  <c:pt idx="5">
                    <c:v>Threshold avoidance</c:v>
                  </c:pt>
                </c:lvl>
              </c:multiLvlStrCache>
            </c:multiLvlStrRef>
          </c:cat>
          <c:val>
            <c:numRef>
              <c:f>Sheet1!$B$2:$B$7</c:f>
              <c:numCache>
                <c:formatCode>General</c:formatCode>
                <c:ptCount val="6"/>
                <c:pt idx="0">
                  <c:v>0.5</c:v>
                </c:pt>
                <c:pt idx="1">
                  <c:v>0.82</c:v>
                </c:pt>
                <c:pt idx="2">
                  <c:v>1.94</c:v>
                </c:pt>
                <c:pt idx="3">
                  <c:v>4.64</c:v>
                </c:pt>
                <c:pt idx="4">
                  <c:v>10.65</c:v>
                </c:pt>
                <c:pt idx="5">
                  <c:v>12.85</c:v>
                </c:pt>
              </c:numCache>
            </c:numRef>
          </c:val>
        </c:ser>
        <c:dLbls>
          <c:numFmt formatCode="0.0" sourceLinked="0"/>
          <c:txPr>
            <a:bodyPr/>
            <a:lstStyle/>
            <a:p>
              <a:pPr>
                <a:defRPr b="0" i="0" strike="noStrike" sz="650" u="none">
                  <a:solidFill>
                    <a:srgbClr val="E2E8F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33415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650" b="0" i="0" u="none" strike="noStrike">
                <a:solidFill>
                  <a:srgbClr val="94A3B8"/>
                </a:solidFill>
                <a:latin typeface="Arial"/>
              </a:defRPr>
            </a:pPr>
            <a:endParaRPr lang="en-US"/>
          </a:p>
        </c:txPr>
        <c:crossAx val="2094734554"/>
        <c:crosses val="autoZero"/>
        <c:crossBetween val="between"/>
      </c:valAx>
      <c:spPr>
        <a:solidFill>
          <a:srgbClr val="1E293B"/>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50" b="0" i="0" u="none" strike="noStrike">
                <a:solidFill>
                  <a:srgbClr val="E2E8F0"/>
                </a:solidFill>
                <a:latin typeface="Calibri"/>
              </a:defRPr>
            </a:pPr>
            <a:r>
              <a:rPr sz="850" b="0" i="0" u="none" strike="noStrike">
                <a:solidFill>
                  <a:srgbClr val="E2E8F0"/>
                </a:solidFill>
                <a:latin typeface="Calibri"/>
              </a:rPr>
              <a:t>Exceptions by test, count</a:t>
            </a:r>
          </a:p>
        </c:rich>
      </c:tx>
      <c:layout/>
      <c:overlay val="0"/>
    </c:title>
    <c:autoTitleDeleted val="0"/>
    <c:plotArea>
      <c:layout/>
      <c:doughnutChart>
        <c:varyColors val="1"/>
        <c:ser>
          <c:idx val="0"/>
          <c:order val="0"/>
          <c:tx>
            <c:strRef>
              <c:f>Sheet1!$B$1</c:f>
              <c:strCache>
                <c:ptCount val="1"/>
                <c:pt idx="0">
                  <c:v>Exceptions</c:v>
                </c:pt>
              </c:strCache>
            </c:strRef>
          </c:tx>
          <c:spPr>
            <a:solidFill>
              <a:schemeClr val="accent1"/>
            </a:solidFill>
            <a:ln w="9525" cap="flat">
              <a:solidFill>
                <a:srgbClr val="F9F9F9"/>
              </a:solidFill>
              <a:prstDash val="solid"/>
              <a:round/>
            </a:ln>
            <a:effectLst/>
          </c:spPr>
          <c:dPt>
            <c:idx val="0"/>
            <c:bubble3D val="0"/>
            <c:spPr>
              <a:solidFill>
                <a:srgbClr val="F87171"/>
              </a:solidFill>
              <a:ln w="12700" cap="flat">
                <a:solidFill>
                  <a:srgbClr val="1E293B"/>
                </a:solidFill>
                <a:prstDash val="solid"/>
                <a:round/>
              </a:ln>
              <a:effectLst/>
            </c:spPr>
          </c:dPt>
          <c:dPt>
            <c:idx val="1"/>
            <c:bubble3D val="0"/>
            <c:spPr>
              <a:solidFill>
                <a:srgbClr val="FBBF24"/>
              </a:solidFill>
              <a:ln w="12700" cap="flat">
                <a:solidFill>
                  <a:srgbClr val="1E293B"/>
                </a:solidFill>
                <a:prstDash val="solid"/>
                <a:round/>
              </a:ln>
              <a:effectLst/>
            </c:spPr>
          </c:dPt>
          <c:dPt>
            <c:idx val="2"/>
            <c:bubble3D val="0"/>
            <c:spPr>
              <a:solidFill>
                <a:srgbClr val="A78BFA"/>
              </a:solidFill>
              <a:ln w="12700" cap="flat">
                <a:solidFill>
                  <a:srgbClr val="1E293B"/>
                </a:solidFill>
                <a:prstDash val="solid"/>
                <a:round/>
              </a:ln>
              <a:effectLst/>
            </c:spPr>
          </c:dPt>
          <c:dPt>
            <c:idx val="3"/>
            <c:bubble3D val="0"/>
            <c:spPr>
              <a:solidFill>
                <a:srgbClr val="2DD4BF"/>
              </a:solidFill>
              <a:ln w="12700" cap="flat">
                <a:solidFill>
                  <a:srgbClr val="1E293B"/>
                </a:solidFill>
                <a:prstDash val="solid"/>
                <a:round/>
              </a:ln>
              <a:effectLst/>
            </c:spPr>
          </c:dPt>
          <c:dPt>
            <c:idx val="4"/>
            <c:bubble3D val="0"/>
            <c:spPr>
              <a:solidFill>
                <a:srgbClr val="60A5FA"/>
              </a:solidFill>
              <a:ln w="12700" cap="flat">
                <a:solidFill>
                  <a:srgbClr val="1E293B"/>
                </a:solidFill>
                <a:prstDash val="solid"/>
                <a:round/>
              </a:ln>
              <a:effectLst/>
            </c:spPr>
          </c:dPt>
          <c:dPt>
            <c:idx val="5"/>
            <c:bubble3D val="0"/>
            <c:spPr>
              <a:solidFill>
                <a:srgbClr val="94A3B8"/>
              </a:solidFill>
              <a:ln w="12700" cap="flat">
                <a:solidFill>
                  <a:srgbClr val="1E293B"/>
                </a:solidFill>
                <a:prstDash val="solid"/>
                <a:round/>
              </a:ln>
              <a:effectLst/>
            </c:spPr>
          </c:dPt>
          <c:dLbls>
            <c:dLbl>
              <c:idx val="0"/>
              <c:numFmt formatCode="0%" sourceLinked="0"/>
              <c:spPr/>
              <c:txPr>
                <a:bodyPr/>
                <a:lstStyle/>
                <a:p>
                  <a:pPr>
                    <a:defRPr sz="650" b="0" i="0" u="none" strike="noStrike">
                      <a:solidFill>
                        <a:srgbClr val="0F172A"/>
                      </a:solidFill>
                      <a:latin typeface="Arial"/>
                    </a:defRPr>
                  </a:pPr>
                </a:p>
              </c:txPr>
              <c:showLegendKey val="0"/>
              <c:showVal val="0"/>
              <c:showCatName val="0"/>
              <c:showSerName val="0"/>
              <c:showPercent val="1"/>
              <c:showBubbleSize val="0"/>
            </c:dLbl>
            <c:dLbl>
              <c:idx val="1"/>
              <c:numFmt formatCode="0%" sourceLinked="0"/>
              <c:spPr/>
              <c:txPr>
                <a:bodyPr/>
                <a:lstStyle/>
                <a:p>
                  <a:pPr>
                    <a:defRPr sz="650" b="0" i="0" u="none" strike="noStrike">
                      <a:solidFill>
                        <a:srgbClr val="0F172A"/>
                      </a:solidFill>
                      <a:latin typeface="Arial"/>
                    </a:defRPr>
                  </a:pPr>
                </a:p>
              </c:txPr>
              <c:showLegendKey val="0"/>
              <c:showVal val="0"/>
              <c:showCatName val="0"/>
              <c:showSerName val="0"/>
              <c:showPercent val="1"/>
              <c:showBubbleSize val="0"/>
            </c:dLbl>
            <c:dLbl>
              <c:idx val="2"/>
              <c:numFmt formatCode="0%" sourceLinked="0"/>
              <c:spPr/>
              <c:txPr>
                <a:bodyPr/>
                <a:lstStyle/>
                <a:p>
                  <a:pPr>
                    <a:defRPr sz="650" b="0" i="0" u="none" strike="noStrike">
                      <a:solidFill>
                        <a:srgbClr val="0F172A"/>
                      </a:solidFill>
                      <a:latin typeface="Arial"/>
                    </a:defRPr>
                  </a:pPr>
                </a:p>
              </c:txPr>
              <c:showLegendKey val="0"/>
              <c:showVal val="0"/>
              <c:showCatName val="0"/>
              <c:showSerName val="0"/>
              <c:showPercent val="1"/>
              <c:showBubbleSize val="0"/>
            </c:dLbl>
            <c:dLbl>
              <c:idx val="3"/>
              <c:numFmt formatCode="0%" sourceLinked="0"/>
              <c:spPr/>
              <c:txPr>
                <a:bodyPr/>
                <a:lstStyle/>
                <a:p>
                  <a:pPr>
                    <a:defRPr sz="650" b="0" i="0" u="none" strike="noStrike">
                      <a:solidFill>
                        <a:srgbClr val="0F172A"/>
                      </a:solidFill>
                      <a:latin typeface="Arial"/>
                    </a:defRPr>
                  </a:pPr>
                </a:p>
              </c:txPr>
              <c:showLegendKey val="0"/>
              <c:showVal val="0"/>
              <c:showCatName val="0"/>
              <c:showSerName val="0"/>
              <c:showPercent val="1"/>
              <c:showBubbleSize val="0"/>
            </c:dLbl>
            <c:dLbl>
              <c:idx val="4"/>
              <c:numFmt formatCode="0%" sourceLinked="0"/>
              <c:spPr/>
              <c:txPr>
                <a:bodyPr/>
                <a:lstStyle/>
                <a:p>
                  <a:pPr>
                    <a:defRPr sz="650" b="0" i="0" u="none" strike="noStrike">
                      <a:solidFill>
                        <a:srgbClr val="0F172A"/>
                      </a:solidFill>
                      <a:latin typeface="Arial"/>
                    </a:defRPr>
                  </a:pPr>
                </a:p>
              </c:txPr>
              <c:showLegendKey val="0"/>
              <c:showVal val="0"/>
              <c:showCatName val="0"/>
              <c:showSerName val="0"/>
              <c:showPercent val="1"/>
              <c:showBubbleSize val="0"/>
            </c:dLbl>
            <c:dLbl>
              <c:idx val="5"/>
              <c:numFmt formatCode="0%" sourceLinked="0"/>
              <c:spPr/>
              <c:txPr>
                <a:bodyPr/>
                <a:lstStyle/>
                <a:p>
                  <a:pPr>
                    <a:defRPr sz="650" b="0" i="0" u="none" strike="noStrike">
                      <a:solidFill>
                        <a:srgbClr val="0F172A"/>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Threshold avoidance</c:v>
                </c:pt>
                <c:pt idx="1">
                  <c:v>Three way match</c:v>
                </c:pt>
                <c:pt idx="2">
                  <c:v>Benford's Law</c:v>
                </c:pt>
                <c:pt idx="3">
                  <c:v>Duplicate payment</c:v>
                </c:pt>
                <c:pt idx="4">
                  <c:v>Segregation of duties</c:v>
                </c:pt>
                <c:pt idx="5">
                  <c:v>After hours posting</c:v>
                </c:pt>
              </c:strCache>
            </c:strRef>
          </c:cat>
          <c:val>
            <c:numRef>
              <c:f>Sheet1!$B$2:$B$7</c:f>
              <c:numCache>
                <c:ptCount val="6"/>
                <c:pt idx="0">
                  <c:v>315</c:v>
                </c:pt>
                <c:pt idx="1">
                  <c:v>298</c:v>
                </c:pt>
                <c:pt idx="2">
                  <c:v>319</c:v>
                </c:pt>
                <c:pt idx="3">
                  <c:v>189</c:v>
                </c:pt>
                <c:pt idx="4">
                  <c:v>94</c:v>
                </c:pt>
                <c:pt idx="5">
                  <c:v>86</c:v>
                </c:pt>
              </c:numCache>
            </c:numRef>
          </c:val>
        </c:ser>
        <c:firstSliceAng val="0"/>
        <c:holeSize val="55"/>
      </c:doughnutChart>
      <c:spPr>
        <a:noFill/>
        <a:ln>
          <a:noFill/>
        </a:ln>
        <a:effectLst/>
      </c:spPr>
    </c:plotArea>
    <c:legend>
      <c:legendPos val="r"/>
      <c:overlay val="0"/>
      <c:txPr>
        <a:bodyPr/>
        <a:lstStyle/>
        <a:p>
          <a:pPr>
            <a:defRPr sz="650">
              <a:solidFill>
                <a:srgbClr val="CBD5E1"/>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50" b="0" i="0" u="none" strike="noStrike">
                <a:solidFill>
                  <a:srgbClr val="E2E8F0"/>
                </a:solidFill>
                <a:latin typeface="Calibri"/>
              </a:defRPr>
            </a:pPr>
            <a:r>
              <a:rPr sz="850" b="0" i="0" u="none" strike="noStrike">
                <a:solidFill>
                  <a:srgbClr val="E2E8F0"/>
                </a:solidFill>
                <a:latin typeface="Calibri"/>
              </a:rPr>
              <a:t>Monthly trend: exceptions (bars) and value flagged, ₹ Cr (line)</a:t>
            </a:r>
          </a:p>
        </c:rich>
      </c:tx>
      <c:layout/>
      <c:overlay val="0"/>
    </c:title>
    <c:autoTitleDeleted val="0"/>
    <c:plotArea>
      <c:layout/>
      <c:barChart>
        <c:barDir val="col"/>
        <c:grouping val="clustered"/>
        <c:varyColors val="0"/>
        <c:ser>
          <c:idx val="0"/>
          <c:order val="0"/>
          <c:tx>
            <c:strRef>
              <c:f>Sheet1!$B$1</c:f>
              <c:strCache>
                <c:ptCount val="1"/>
                <c:pt idx="0">
                  <c:v>Exceptions</c:v>
                </c:pt>
              </c:strCache>
            </c:strRef>
          </c:tx>
          <c:spPr>
            <a:solidFill>
              <a:srgbClr val="2DD4BF"/>
            </a:solidFill>
            <a:effectLst/>
          </c:spPr>
          <c:invertIfNegative val="0"/>
          <c:dLbls>
            <c:numFmt formatCode="#,##0" sourceLinked="0"/>
            <c:txPr>
              <a:bodyPr/>
              <a:lstStyle/>
              <a:p>
                <a:pPr>
                  <a:defRPr b="0" i="0" strike="noStrike" sz="650" u="none">
                    <a:solidFill>
                      <a:srgbClr val="E2E8F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Apr</c:v>
                  </c:pt>
                  <c:pt idx="1">
                    <c:v>May</c:v>
                  </c:pt>
                  <c:pt idx="2">
                    <c:v>Jun</c:v>
                  </c:pt>
                  <c:pt idx="3">
                    <c:v>Jul</c:v>
                  </c:pt>
                  <c:pt idx="4">
                    <c:v>Aug</c:v>
                  </c:pt>
                  <c:pt idx="5">
                    <c:v>Sep</c:v>
                  </c:pt>
                  <c:pt idx="6">
                    <c:v>Oct</c:v>
                  </c:pt>
                  <c:pt idx="7">
                    <c:v>Nov</c:v>
                  </c:pt>
                  <c:pt idx="8">
                    <c:v>Dec</c:v>
                  </c:pt>
                  <c:pt idx="9">
                    <c:v>Jan</c:v>
                  </c:pt>
                  <c:pt idx="10">
                    <c:v>Feb</c:v>
                  </c:pt>
                  <c:pt idx="11">
                    <c:v>Mar</c:v>
                  </c:pt>
                </c:lvl>
              </c:multiLvlStrCache>
            </c:multiLvlStrRef>
          </c:cat>
          <c:val>
            <c:numRef>
              <c:f>Sheet1!$B$2:$B$13</c:f>
              <c:numCache>
                <c:formatCode>General</c:formatCode>
                <c:ptCount val="12"/>
                <c:pt idx="0">
                  <c:v>79</c:v>
                </c:pt>
                <c:pt idx="1">
                  <c:v>78</c:v>
                </c:pt>
                <c:pt idx="2">
                  <c:v>100</c:v>
                </c:pt>
                <c:pt idx="3">
                  <c:v>101</c:v>
                </c:pt>
                <c:pt idx="4">
                  <c:v>98</c:v>
                </c:pt>
                <c:pt idx="5">
                  <c:v>112</c:v>
                </c:pt>
                <c:pt idx="6">
                  <c:v>76</c:v>
                </c:pt>
                <c:pt idx="7">
                  <c:v>79</c:v>
                </c:pt>
                <c:pt idx="8">
                  <c:v>104</c:v>
                </c:pt>
                <c:pt idx="9">
                  <c:v>102</c:v>
                </c:pt>
                <c:pt idx="10">
                  <c:v>111</c:v>
                </c:pt>
                <c:pt idx="11">
                  <c:v>112</c:v>
                </c:pt>
              </c:numCache>
            </c:numRef>
          </c:val>
        </c:ser>
        <c:dLbls>
          <c:numFmt formatCode="#,##0" sourceLinked="0"/>
          <c:txPr>
            <a:bodyPr/>
            <a:lstStyle/>
            <a:p>
              <a:pPr>
                <a:defRPr b="0" i="0" strike="noStrike" sz="650" u="none">
                  <a:solidFill>
                    <a:srgbClr val="E2E8F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lineChart>
        <c:varyColors val="0"/>
        <c:ser>
          <c:idx val="1"/>
          <c:order val="1"/>
          <c:tx>
            <c:strRef>
              <c:f>Sheet1!$C$1</c:f>
              <c:strCache>
                <c:ptCount val="1"/>
                <c:pt idx="0">
                  <c:v>Value flagged, ₹ Cr</c:v>
                </c:pt>
              </c:strCache>
            </c:strRef>
          </c:tx>
          <c:spPr>
            <a:solidFill>
              <a:srgbClr val="FBBF24"/>
            </a:solidFill>
            <a:ln w="19050" cap="flat">
              <a:solidFill>
                <a:srgbClr val="FBBF24"/>
              </a:solidFill>
              <a:prstDash val="solid"/>
              <a:round/>
            </a:ln>
            <a:effectLst/>
          </c:spPr>
          <c:invertIfNegative val="0"/>
          <c:dLbls>
            <c:numFmt formatCode="#,##0" sourceLinked="0"/>
            <c:txPr>
              <a:bodyPr/>
              <a:lstStyle/>
              <a:p>
                <a:pPr>
                  <a:defRPr b="0" i="0" strike="noStrike" sz="650" u="none">
                    <a:solidFill>
                      <a:srgbClr val="E2E8F0"/>
                    </a:solidFill>
                    <a:latin typeface="Arial"/>
                  </a:defRPr>
                </a:pPr>
              </a:p>
            </c:txPr>
            <c:showLegendKey val="0"/>
            <c:showVal val="0"/>
            <c:showCatName val="0"/>
            <c:showSerName val="0"/>
            <c:showPercent val="0"/>
            <c:showBubbleSize val="0"/>
            <c:showLeaderLines val="0"/>
          </c:dLbls>
          <c:marker>
            <c:symbol val="circle"/>
            <c:size val="4"/>
            <c:spPr>
              <a:solidFill>
                <a:srgbClr val="FBBF24"/>
              </a:solidFill>
              <a:ln w="9525" cap="flat">
                <a:solidFill>
                  <a:srgbClr val="FBBF24"/>
                </a:solidFill>
                <a:prstDash val="solid"/>
                <a:round/>
              </a:ln>
              <a:effectLst/>
            </c:spPr>
          </c:marker>
          <c:cat>
            <c:multiLvlStrRef>
              <c:f>Sheet1!$A$2:$A$13</c:f>
              <c:multiLvlStrCache>
                <c:ptCount val="12"/>
                <c:lvl>
                  <c:pt idx="0">
                    <c:v>Apr</c:v>
                  </c:pt>
                  <c:pt idx="1">
                    <c:v>May</c:v>
                  </c:pt>
                  <c:pt idx="2">
                    <c:v>Jun</c:v>
                  </c:pt>
                  <c:pt idx="3">
                    <c:v>Jul</c:v>
                  </c:pt>
                  <c:pt idx="4">
                    <c:v>Aug</c:v>
                  </c:pt>
                  <c:pt idx="5">
                    <c:v>Sep</c:v>
                  </c:pt>
                  <c:pt idx="6">
                    <c:v>Oct</c:v>
                  </c:pt>
                  <c:pt idx="7">
                    <c:v>Nov</c:v>
                  </c:pt>
                  <c:pt idx="8">
                    <c:v>Dec</c:v>
                  </c:pt>
                  <c:pt idx="9">
                    <c:v>Jan</c:v>
                  </c:pt>
                  <c:pt idx="10">
                    <c:v>Feb</c:v>
                  </c:pt>
                  <c:pt idx="11">
                    <c:v>Mar</c:v>
                  </c:pt>
                </c:lvl>
              </c:multiLvlStrCache>
            </c:multiLvlStrRef>
          </c:cat>
          <c:val>
            <c:numRef>
              <c:f>Sheet1!$C$2:$C$13</c:f>
              <c:numCache>
                <c:formatCode>General</c:formatCode>
                <c:ptCount val="12"/>
                <c:pt idx="0">
                  <c:v>2</c:v>
                </c:pt>
                <c:pt idx="1">
                  <c:v>1.63</c:v>
                </c:pt>
                <c:pt idx="2">
                  <c:v>2.39</c:v>
                </c:pt>
                <c:pt idx="3">
                  <c:v>2.11</c:v>
                </c:pt>
                <c:pt idx="4">
                  <c:v>2.06</c:v>
                </c:pt>
                <c:pt idx="5">
                  <c:v>2.4</c:v>
                </c:pt>
                <c:pt idx="6">
                  <c:v>2.11</c:v>
                </c:pt>
                <c:pt idx="7">
                  <c:v>1.89</c:v>
                </c:pt>
                <c:pt idx="8">
                  <c:v>2.21</c:v>
                </c:pt>
                <c:pt idx="9">
                  <c:v>1.81</c:v>
                </c:pt>
                <c:pt idx="10">
                  <c:v>2.48</c:v>
                </c:pt>
                <c:pt idx="11">
                  <c:v>2.44</c:v>
                </c:pt>
              </c:numCache>
            </c:numRef>
          </c:val>
          <c:smooth val="0"/>
        </c:ser>
        <c:dLbls>
          <c:numFmt formatCode="#,##0" sourceLinked="0"/>
          <c:txPr>
            <a:bodyPr/>
            <a:lstStyle/>
            <a:p>
              <a:pPr>
                <a:defRPr b="0" i="0" strike="noStrike" sz="650" u="none">
                  <a:solidFill>
                    <a:srgbClr val="E2E8F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5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3341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94A3B8"/>
                </a:solidFill>
                <a:latin typeface="Arial"/>
              </a:defRPr>
            </a:pPr>
            <a:endParaRPr lang="en-US"/>
          </a:p>
        </c:txPr>
        <c:crossAx val="2094734554"/>
        <c:crosses val="autoZero"/>
        <c:crossBetween val="between"/>
      </c:valAx>
      <c:valAx>
        <c:axId val="2094734553"/>
        <c:scaling>
          <c:orientation val="minMax"/>
          <c:min val="0"/>
        </c:scaling>
        <c:delete val="0"/>
        <c:axPos val="r"/>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FBBF24"/>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CBD5E1"/>
                </a:solidFill>
                <a:latin typeface="Arial"/>
              </a:defRPr>
            </a:pPr>
            <a:endParaRPr lang="en-US"/>
          </a:p>
        </c:txPr>
        <c:crossAx val="2094734553"/>
        <c:crosses val="autoZero"/>
        <c:auto val="1"/>
        <c:lblAlgn val="ctr"/>
        <c:noMultiLvlLbl val="1"/>
      </c:catAx>
      <c:spPr>
        <a:solidFill>
          <a:srgbClr val="1E293B"/>
        </a:solid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50" b="0" i="0" u="none" strike="noStrike">
                <a:solidFill>
                  <a:srgbClr val="E2E8F0"/>
                </a:solidFill>
                <a:latin typeface="Calibri"/>
              </a:defRPr>
            </a:pPr>
            <a:r>
              <a:rPr sz="850" b="0" i="0" u="none" strike="noStrike">
                <a:solidFill>
                  <a:srgbClr val="E2E8F0"/>
                </a:solidFill>
                <a:latin typeface="Calibri"/>
              </a:rPr>
              <a:t>Value at risk by spend category, % of category spend</a:t>
            </a:r>
          </a:p>
        </c:rich>
      </c:tx>
      <c:layout/>
      <c:overlay val="0"/>
    </c:title>
    <c:autoTitleDeleted val="0"/>
    <c:plotArea>
      <c:layout/>
      <c:barChart>
        <c:barDir val="col"/>
        <c:grouping val="clustered"/>
        <c:varyColors val="0"/>
        <c:ser>
          <c:idx val="0"/>
          <c:order val="0"/>
          <c:tx>
            <c:strRef>
              <c:f>Sheet1!$B$1</c:f>
              <c:strCache>
                <c:ptCount val="1"/>
                <c:pt idx="0">
                  <c:v>% of spend flagged</c:v>
                </c:pt>
              </c:strCache>
            </c:strRef>
          </c:tx>
          <c:spPr>
            <a:solidFill>
              <a:srgbClr val="FBBF24"/>
            </a:solidFill>
            <a:effectLst/>
          </c:spPr>
          <c:invertIfNegative val="0"/>
          <c:dLbls>
            <c:numFmt formatCode="0.0" sourceLinked="0"/>
            <c:txPr>
              <a:bodyPr/>
              <a:lstStyle/>
              <a:p>
                <a:pPr>
                  <a:defRPr b="0" i="0" strike="noStrike" sz="650" u="none">
                    <a:solidFill>
                      <a:srgbClr val="E2E8F0"/>
                    </a:solidFill>
                    <a:latin typeface="Arial"/>
                  </a:defRPr>
                </a:pPr>
              </a:p>
            </c:txPr>
            <c:showLegendKey val="0"/>
            <c:showVal val="1"/>
            <c:showCatName val="0"/>
            <c:showSerName val="0"/>
            <c:showPercent val="0"/>
            <c:showBubbleSize val="0"/>
            <c:showLeaderLines val="0"/>
          </c:dLbls>
          <c:cat>
            <c:multiLvlStrRef>
              <c:f>Sheet1!$A$2:$A$9</c:f>
              <c:multiLvlStrCache>
                <c:ptCount val="8"/>
                <c:lvl>
                  <c:pt idx="0">
                    <c:v>IT services</c:v>
                  </c:pt>
                  <c:pt idx="1">
                    <c:v>Logistics</c:v>
                  </c:pt>
                  <c:pt idx="2">
                    <c:v>Raw material</c:v>
                  </c:pt>
                  <c:pt idx="3">
                    <c:v>Travel</c:v>
                  </c:pt>
                  <c:pt idx="4">
                    <c:v>Facilities</c:v>
                  </c:pt>
                  <c:pt idx="5">
                    <c:v>Packaging</c:v>
                  </c:pt>
                  <c:pt idx="6">
                    <c:v>Professional fees</c:v>
                  </c:pt>
                  <c:pt idx="7">
                    <c:v>Marketing</c:v>
                  </c:pt>
                </c:lvl>
              </c:multiLvlStrCache>
            </c:multiLvlStrRef>
          </c:cat>
          <c:val>
            <c:numRef>
              <c:f>Sheet1!$B$2:$B$9</c:f>
              <c:numCache>
                <c:formatCode>General</c:formatCode>
                <c:ptCount val="8"/>
                <c:pt idx="0">
                  <c:v>24.6</c:v>
                </c:pt>
                <c:pt idx="1">
                  <c:v>21.2</c:v>
                </c:pt>
                <c:pt idx="2">
                  <c:v>19.5</c:v>
                </c:pt>
                <c:pt idx="3">
                  <c:v>26.8</c:v>
                </c:pt>
                <c:pt idx="4">
                  <c:v>24.1</c:v>
                </c:pt>
                <c:pt idx="5">
                  <c:v>15.4</c:v>
                </c:pt>
                <c:pt idx="6">
                  <c:v>14.1</c:v>
                </c:pt>
                <c:pt idx="7">
                  <c:v>14.1</c:v>
                </c:pt>
              </c:numCache>
            </c:numRef>
          </c:val>
        </c:ser>
        <c:dLbls>
          <c:numFmt formatCode="0.0" sourceLinked="0"/>
          <c:txPr>
            <a:bodyPr/>
            <a:lstStyle/>
            <a:p>
              <a:pPr>
                <a:defRPr b="0" i="0" strike="noStrike" sz="650" u="none">
                  <a:solidFill>
                    <a:srgbClr val="E2E8F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3341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94A3B8"/>
                </a:solidFill>
                <a:latin typeface="Arial"/>
              </a:defRPr>
            </a:pPr>
            <a:endParaRPr lang="en-US"/>
          </a:p>
        </c:txPr>
        <c:crossAx val="2094734554"/>
        <c:crosses val="autoZero"/>
        <c:crossBetween val="between"/>
      </c:valAx>
      <c:spPr>
        <a:solidFill>
          <a:srgbClr val="1E293B"/>
        </a:solid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50" b="0" i="0" u="none" strike="noStrike">
                <a:solidFill>
                  <a:srgbClr val="E2E8F0"/>
                </a:solidFill>
                <a:latin typeface="Calibri"/>
              </a:defRPr>
            </a:pPr>
            <a:r>
              <a:rPr sz="850" b="0" i="0" u="none" strike="noStrike">
                <a:solidFill>
                  <a:srgbClr val="E2E8F0"/>
                </a:solidFill>
                <a:latin typeface="Calibri"/>
              </a:rPr>
              <a:t>Invoices by amount band around the ₹5L approval limit</a:t>
            </a:r>
          </a:p>
        </c:rich>
      </c:tx>
      <c:layout/>
      <c:overlay val="0"/>
    </c:title>
    <c:autoTitleDeleted val="0"/>
    <c:plotArea>
      <c:layout/>
      <c:barChart>
        <c:barDir val="col"/>
        <c:grouping val="clustered"/>
        <c:varyColors val="0"/>
        <c:ser>
          <c:idx val="0"/>
          <c:order val="0"/>
          <c:tx>
            <c:strRef>
              <c:f>Sheet1!$B$1</c:f>
              <c:strCache>
                <c:ptCount val="1"/>
                <c:pt idx="0">
                  <c:v>Invoices</c:v>
                </c:pt>
              </c:strCache>
            </c:strRef>
          </c:tx>
          <c:spPr>
            <a:solidFill>
              <a:srgbClr val="FBBF24"/>
            </a:solidFill>
            <a:effectLst/>
          </c:spPr>
          <c:invertIfNegative val="0"/>
          <c:dLbls>
            <c:numFmt formatCode="#,##0" sourceLinked="0"/>
            <c:txPr>
              <a:bodyPr/>
              <a:lstStyle/>
              <a:p>
                <a:pPr>
                  <a:defRPr b="0" i="0" strike="noStrike" sz="650" u="none">
                    <a:solidFill>
                      <a:srgbClr val="E2E8F0"/>
                    </a:solidFill>
                    <a:latin typeface="Arial"/>
                  </a:defRPr>
                </a:pPr>
              </a:p>
            </c:txPr>
            <c:showLegendKey val="0"/>
            <c:showVal val="1"/>
            <c:showCatName val="0"/>
            <c:showSerName val="0"/>
            <c:showPercent val="0"/>
            <c:showBubbleSize val="0"/>
            <c:showLeaderLines val="0"/>
          </c:dLbls>
          <c:cat>
            <c:multiLvlStrRef>
              <c:f>Sheet1!$A$2:$A$7</c:f>
              <c:multiLvlStrCache>
                <c:ptCount val="6"/>
                <c:lvl>
                  <c:pt idx="0">
                    <c:v>₹3.0L–3.5L</c:v>
                  </c:pt>
                  <c:pt idx="1">
                    <c:v>₹3.5L–4.0L</c:v>
                  </c:pt>
                  <c:pt idx="2">
                    <c:v>₹4.0L–4.5L</c:v>
                  </c:pt>
                  <c:pt idx="3">
                    <c:v>₹4.5L–5.0L</c:v>
                  </c:pt>
                  <c:pt idx="4">
                    <c:v>₹5.0L–5.5L</c:v>
                  </c:pt>
                  <c:pt idx="5">
                    <c:v>₹5.5L–6.0L</c:v>
                  </c:pt>
                </c:lvl>
              </c:multiLvlStrCache>
            </c:multiLvlStrRef>
          </c:cat>
          <c:val>
            <c:numRef>
              <c:f>Sheet1!$B$2:$B$7</c:f>
              <c:numCache>
                <c:formatCode>General</c:formatCode>
                <c:ptCount val="6"/>
                <c:pt idx="0">
                  <c:v>255</c:v>
                </c:pt>
                <c:pt idx="1">
                  <c:v>176</c:v>
                </c:pt>
                <c:pt idx="2">
                  <c:v>162</c:v>
                </c:pt>
                <c:pt idx="3">
                  <c:v>193</c:v>
                </c:pt>
                <c:pt idx="4">
                  <c:v>90</c:v>
                </c:pt>
                <c:pt idx="5">
                  <c:v>87</c:v>
                </c:pt>
              </c:numCache>
            </c:numRef>
          </c:val>
        </c:ser>
        <c:dLbls>
          <c:numFmt formatCode="#,##0" sourceLinked="0"/>
          <c:txPr>
            <a:bodyPr/>
            <a:lstStyle/>
            <a:p>
              <a:pPr>
                <a:defRPr b="0" i="0" strike="noStrike" sz="650" u="none">
                  <a:solidFill>
                    <a:srgbClr val="E2E8F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5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3341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94A3B8"/>
                </a:solidFill>
                <a:latin typeface="Arial"/>
              </a:defRPr>
            </a:pPr>
            <a:endParaRPr lang="en-US"/>
          </a:p>
        </c:txPr>
        <c:crossAx val="2094734554"/>
        <c:crosses val="autoZero"/>
        <c:crossBetween val="between"/>
      </c:valAx>
      <c:spPr>
        <a:solidFill>
          <a:srgbClr val="1E293B"/>
        </a:solid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50" b="0" i="0" u="none" strike="noStrike">
                <a:solidFill>
                  <a:srgbClr val="E2E8F0"/>
                </a:solidFill>
                <a:latin typeface="Calibri"/>
              </a:defRPr>
            </a:pPr>
            <a:r>
              <a:rPr sz="850" b="0" i="0" u="none" strike="noStrike">
                <a:solidFill>
                  <a:srgbClr val="E2E8F0"/>
                </a:solidFill>
                <a:latin typeface="Calibri"/>
              </a:rPr>
              <a:t>Invoices above PO value (9,156 at or below PO not shown)</a:t>
            </a:r>
          </a:p>
        </c:rich>
      </c:tx>
      <c:layout/>
      <c:overlay val="0"/>
    </c:title>
    <c:autoTitleDeleted val="0"/>
    <c:plotArea>
      <c:layout/>
      <c:barChart>
        <c:barDir val="col"/>
        <c:grouping val="clustered"/>
        <c:varyColors val="0"/>
        <c:ser>
          <c:idx val="0"/>
          <c:order val="0"/>
          <c:tx>
            <c:strRef>
              <c:f>Sheet1!$B$1</c:f>
              <c:strCache>
                <c:ptCount val="1"/>
                <c:pt idx="0">
                  <c:v>Invoices</c:v>
                </c:pt>
              </c:strCache>
            </c:strRef>
          </c:tx>
          <c:spPr>
            <a:solidFill>
              <a:srgbClr val="60A5FA"/>
            </a:solidFill>
            <a:effectLst/>
          </c:spPr>
          <c:invertIfNegative val="0"/>
          <c:dLbls>
            <c:numFmt formatCode="#,##0" sourceLinked="0"/>
            <c:txPr>
              <a:bodyPr/>
              <a:lstStyle/>
              <a:p>
                <a:pPr>
                  <a:defRPr b="0" i="0" strike="noStrike" sz="650" u="none">
                    <a:solidFill>
                      <a:srgbClr val="E2E8F0"/>
                    </a:solidFill>
                    <a:latin typeface="Arial"/>
                  </a:defRPr>
                </a:pPr>
              </a:p>
            </c:txPr>
            <c:showLegendKey val="0"/>
            <c:showVal val="1"/>
            <c:showCatName val="0"/>
            <c:showSerName val="0"/>
            <c:showPercent val="0"/>
            <c:showBubbleSize val="0"/>
            <c:showLeaderLines val="0"/>
          </c:dLbls>
          <c:cat>
            <c:multiLvlStrRef>
              <c:f>Sheet1!$A$2:$A$5</c:f>
              <c:multiLvlStrCache>
                <c:ptCount val="4"/>
                <c:lvl>
                  <c:pt idx="0">
                    <c:v>0–5% over</c:v>
                  </c:pt>
                  <c:pt idx="1">
                    <c:v>5–10% over</c:v>
                  </c:pt>
                  <c:pt idx="2">
                    <c:v>10–20% over</c:v>
                  </c:pt>
                  <c:pt idx="3">
                    <c:v>Over 20%</c:v>
                  </c:pt>
                </c:lvl>
              </c:multiLvlStrCache>
            </c:multiLvlStrRef>
          </c:cat>
          <c:val>
            <c:numRef>
              <c:f>Sheet1!$B$2:$B$5</c:f>
              <c:numCache>
                <c:formatCode>General</c:formatCode>
                <c:ptCount val="4"/>
                <c:pt idx="0">
                  <c:v>1014</c:v>
                </c:pt>
                <c:pt idx="1">
                  <c:v>19</c:v>
                </c:pt>
                <c:pt idx="2">
                  <c:v>60</c:v>
                </c:pt>
                <c:pt idx="3">
                  <c:v>66</c:v>
                </c:pt>
              </c:numCache>
            </c:numRef>
          </c:val>
        </c:ser>
        <c:dLbls>
          <c:numFmt formatCode="#,##0" sourceLinked="0"/>
          <c:txPr>
            <a:bodyPr/>
            <a:lstStyle/>
            <a:p>
              <a:pPr>
                <a:defRPr b="0" i="0" strike="noStrike" sz="650" u="none">
                  <a:solidFill>
                    <a:srgbClr val="E2E8F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3341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94A3B8"/>
                </a:solidFill>
                <a:latin typeface="Arial"/>
              </a:defRPr>
            </a:pPr>
            <a:endParaRPr lang="en-US"/>
          </a:p>
        </c:txPr>
        <c:crossAx val="2094734554"/>
        <c:crosses val="autoZero"/>
        <c:crossBetween val="between"/>
      </c:valAx>
      <c:spPr>
        <a:solidFill>
          <a:srgbClr val="1E293B"/>
        </a:solid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50" b="0" i="0" u="none" strike="noStrike">
                <a:solidFill>
                  <a:srgbClr val="E2E8F0"/>
                </a:solidFill>
                <a:latin typeface="Calibri"/>
              </a:defRPr>
            </a:pPr>
            <a:r>
              <a:rPr sz="850" b="0" i="0" u="none" strike="noStrike">
                <a:solidFill>
                  <a:srgbClr val="E2E8F0"/>
                </a:solidFill>
                <a:latin typeface="Calibri"/>
              </a:rPr>
              <a:t>Benford first digit test, % of invoices</a:t>
            </a:r>
          </a:p>
        </c:rich>
      </c:tx>
      <c:layout/>
      <c:overlay val="0"/>
    </c:title>
    <c:autoTitleDeleted val="0"/>
    <c:plotArea>
      <c:layout/>
      <c:barChart>
        <c:barDir val="col"/>
        <c:grouping val="clustered"/>
        <c:varyColors val="0"/>
        <c:ser>
          <c:idx val="0"/>
          <c:order val="0"/>
          <c:tx>
            <c:strRef>
              <c:f>Sheet1!$B$1</c:f>
              <c:strCache>
                <c:ptCount val="1"/>
                <c:pt idx="0">
                  <c:v>Benford expected</c:v>
                </c:pt>
              </c:strCache>
            </c:strRef>
          </c:tx>
          <c:spPr>
            <a:solidFill>
              <a:srgbClr val="64748B"/>
            </a:solidFill>
            <a:effectLst/>
          </c:spPr>
          <c:invertIfNegative val="0"/>
          <c:dLbls>
            <c:numFmt formatCode="#,##0" sourceLinked="0"/>
            <c:txPr>
              <a:bodyPr/>
              <a:lstStyle/>
              <a:p>
                <a:pPr>
                  <a:defRPr b="0" i="0" strike="noStrike" sz="650" u="none">
                    <a:solidFill>
                      <a:srgbClr val="E2E8F0"/>
                    </a:solidFill>
                    <a:latin typeface="Arial"/>
                  </a:defRPr>
                </a:pPr>
              </a:p>
            </c:txPr>
            <c:showLegendKey val="0"/>
            <c:showVal val="0"/>
            <c:showCatName val="0"/>
            <c:showSerName val="0"/>
            <c:showPercent val="0"/>
            <c:showBubbleSize val="0"/>
            <c:showLeaderLines val="0"/>
          </c:dLbls>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30.1</c:v>
                </c:pt>
                <c:pt idx="1">
                  <c:v>17.6</c:v>
                </c:pt>
                <c:pt idx="2">
                  <c:v>12.5</c:v>
                </c:pt>
                <c:pt idx="3">
                  <c:v>9.7</c:v>
                </c:pt>
                <c:pt idx="4">
                  <c:v>7.9</c:v>
                </c:pt>
                <c:pt idx="5">
                  <c:v>6.7</c:v>
                </c:pt>
                <c:pt idx="6">
                  <c:v>5.8</c:v>
                </c:pt>
                <c:pt idx="7">
                  <c:v>5.1</c:v>
                </c:pt>
                <c:pt idx="8">
                  <c:v>4.6</c:v>
                </c:pt>
              </c:numCache>
            </c:numRef>
          </c:val>
        </c:ser>
        <c:ser>
          <c:idx val="1"/>
          <c:order val="1"/>
          <c:tx>
            <c:strRef>
              <c:f>Sheet1!$C$1</c:f>
              <c:strCache>
                <c:ptCount val="1"/>
                <c:pt idx="0">
                  <c:v>Whole ledger</c:v>
                </c:pt>
              </c:strCache>
            </c:strRef>
          </c:tx>
          <c:spPr>
            <a:solidFill>
              <a:srgbClr val="2DD4BF"/>
            </a:solidFill>
            <a:effectLst/>
          </c:spPr>
          <c:invertIfNegative val="0"/>
          <c:dLbls>
            <c:numFmt formatCode="#,##0" sourceLinked="0"/>
            <c:txPr>
              <a:bodyPr/>
              <a:lstStyle/>
              <a:p>
                <a:pPr>
                  <a:defRPr b="0" i="0" strike="noStrike" sz="650" u="none">
                    <a:solidFill>
                      <a:srgbClr val="E2E8F0"/>
                    </a:solidFill>
                    <a:latin typeface="Arial"/>
                  </a:defRPr>
                </a:pPr>
              </a:p>
            </c:txPr>
            <c:showLegendKey val="0"/>
            <c:showVal val="0"/>
            <c:showCatName val="0"/>
            <c:showSerName val="0"/>
            <c:showPercent val="0"/>
            <c:showBubbleSize val="0"/>
            <c:showLeaderLines val="0"/>
          </c:dLbls>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29.5</c:v>
                </c:pt>
                <c:pt idx="1">
                  <c:v>16.9</c:v>
                </c:pt>
                <c:pt idx="2">
                  <c:v>12.5</c:v>
                </c:pt>
                <c:pt idx="3">
                  <c:v>10.1</c:v>
                </c:pt>
                <c:pt idx="4">
                  <c:v>7.9</c:v>
                </c:pt>
                <c:pt idx="5">
                  <c:v>6.6</c:v>
                </c:pt>
                <c:pt idx="6">
                  <c:v>6.4</c:v>
                </c:pt>
                <c:pt idx="7">
                  <c:v>5.2</c:v>
                </c:pt>
                <c:pt idx="8">
                  <c:v>4.8</c:v>
                </c:pt>
              </c:numCache>
            </c:numRef>
          </c:val>
        </c:ser>
        <c:ser>
          <c:idx val="2"/>
          <c:order val="2"/>
          <c:tx>
            <c:strRef>
              <c:f>Sheet1!$D$1</c:f>
              <c:strCache>
                <c:ptCount val="1"/>
                <c:pt idx="0">
                  <c:v>Apex Logistics</c:v>
                </c:pt>
              </c:strCache>
            </c:strRef>
          </c:tx>
          <c:spPr>
            <a:solidFill>
              <a:srgbClr val="F87171"/>
            </a:solidFill>
            <a:effectLst/>
          </c:spPr>
          <c:invertIfNegative val="0"/>
          <c:dLbls>
            <c:numFmt formatCode="#,##0" sourceLinked="0"/>
            <c:txPr>
              <a:bodyPr/>
              <a:lstStyle/>
              <a:p>
                <a:pPr>
                  <a:defRPr b="0" i="0" strike="noStrike" sz="650" u="none">
                    <a:solidFill>
                      <a:srgbClr val="E2E8F0"/>
                    </a:solidFill>
                    <a:latin typeface="Arial"/>
                  </a:defRPr>
                </a:pPr>
              </a:p>
            </c:txPr>
            <c:showLegendKey val="0"/>
            <c:showVal val="0"/>
            <c:showCatName val="0"/>
            <c:showSerName val="0"/>
            <c:showPercent val="0"/>
            <c:showBubbleSize val="0"/>
            <c:showLeaderLines val="0"/>
          </c:dLbls>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Sheet1!$D$2:$D$10</c:f>
              <c:numCache>
                <c:formatCode>General</c:formatCode>
                <c:ptCount val="9"/>
                <c:pt idx="0">
                  <c:v>0</c:v>
                </c:pt>
                <c:pt idx="1">
                  <c:v>0</c:v>
                </c:pt>
                <c:pt idx="2">
                  <c:v>0</c:v>
                </c:pt>
                <c:pt idx="3">
                  <c:v>0</c:v>
                </c:pt>
                <c:pt idx="4">
                  <c:v>23.4</c:v>
                </c:pt>
                <c:pt idx="5">
                  <c:v>20.3</c:v>
                </c:pt>
                <c:pt idx="6">
                  <c:v>12.5</c:v>
                </c:pt>
                <c:pt idx="7">
                  <c:v>21.9</c:v>
                </c:pt>
                <c:pt idx="8">
                  <c:v>21.9</c:v>
                </c:pt>
              </c:numCache>
            </c:numRef>
          </c:val>
        </c:ser>
        <c:dLbls>
          <c:numFmt formatCode="#,##0" sourceLinked="0"/>
          <c:txPr>
            <a:bodyPr/>
            <a:lstStyle/>
            <a:p>
              <a:pPr>
                <a:defRPr b="0" i="0" strike="noStrike" sz="650" u="none">
                  <a:solidFill>
                    <a:srgbClr val="E2E8F0"/>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3341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94A3B8"/>
                </a:solidFill>
                <a:latin typeface="Arial"/>
              </a:defRPr>
            </a:pPr>
            <a:endParaRPr lang="en-US"/>
          </a:p>
        </c:txPr>
        <c:crossAx val="2094734554"/>
        <c:crosses val="autoZero"/>
        <c:crossBetween val="between"/>
      </c:valAx>
      <c:spPr>
        <a:solidFill>
          <a:srgbClr val="1E293B"/>
        </a:solidFill>
        <a:ln>
          <a:noFill/>
        </a:ln>
        <a:effectLst/>
      </c:spPr>
    </c:plotArea>
    <c:legend>
      <c:legendPos val="r"/>
      <c:overlay val="0"/>
      <c:txPr>
        <a:bodyPr/>
        <a:lstStyle/>
        <a:p>
          <a:pPr>
            <a:defRPr sz="650">
              <a:solidFill>
                <a:srgbClr val="CBD5E1"/>
              </a:solidFill>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850" b="0" i="0" u="none" strike="noStrike">
                <a:solidFill>
                  <a:srgbClr val="E2E8F0"/>
                </a:solidFill>
                <a:latin typeface="Calibri"/>
              </a:defRPr>
            </a:pPr>
            <a:r>
              <a:rPr sz="850" b="0" i="0" u="none" strike="noStrike">
                <a:solidFill>
                  <a:srgbClr val="E2E8F0"/>
                </a:solidFill>
                <a:latin typeface="Calibri"/>
              </a:rPr>
              <a:t>Self approved invoices by user (segregation of duties)</a:t>
            </a:r>
          </a:p>
        </c:rich>
      </c:tx>
      <c:layout/>
      <c:overlay val="0"/>
    </c:title>
    <c:autoTitleDeleted val="0"/>
    <c:plotArea>
      <c:layout/>
      <c:barChart>
        <c:barDir val="col"/>
        <c:grouping val="clustered"/>
        <c:varyColors val="0"/>
        <c:ser>
          <c:idx val="0"/>
          <c:order val="0"/>
          <c:tx>
            <c:strRef>
              <c:f>Sheet1!$B$1</c:f>
              <c:strCache>
                <c:ptCount val="1"/>
                <c:pt idx="0">
                  <c:v>Self approvals</c:v>
                </c:pt>
              </c:strCache>
            </c:strRef>
          </c:tx>
          <c:spPr>
            <a:solidFill>
              <a:srgbClr val="F87171"/>
            </a:solidFill>
            <a:effectLst/>
          </c:spPr>
          <c:invertIfNegative val="0"/>
          <c:dLbls>
            <c:numFmt formatCode="#,##0" sourceLinked="0"/>
            <c:txPr>
              <a:bodyPr/>
              <a:lstStyle/>
              <a:p>
                <a:pPr>
                  <a:defRPr b="0" i="0" strike="noStrike" sz="650" u="none">
                    <a:solidFill>
                      <a:srgbClr val="E2E8F0"/>
                    </a:solidFill>
                    <a:latin typeface="Arial"/>
                  </a:defRPr>
                </a:pPr>
              </a:p>
            </c:txPr>
            <c:showLegendKey val="0"/>
            <c:showVal val="1"/>
            <c:showCatName val="0"/>
            <c:showSerName val="0"/>
            <c:showPercent val="0"/>
            <c:showBubbleSize val="0"/>
            <c:showLeaderLines val="0"/>
          </c:dLbls>
          <c:cat>
            <c:multiLvlStrRef>
              <c:f>Sheet1!$A$2:$A$9</c:f>
              <c:multiLvlStrCache>
                <c:ptCount val="8"/>
                <c:lvl>
                  <c:pt idx="0">
                    <c:v>s.khan</c:v>
                  </c:pt>
                  <c:pt idx="1">
                    <c:v>a.verma</c:v>
                  </c:pt>
                  <c:pt idx="2">
                    <c:v>n.joshi</c:v>
                  </c:pt>
                  <c:pt idx="3">
                    <c:v>t.roy</c:v>
                  </c:pt>
                  <c:pt idx="4">
                    <c:v>p.nair</c:v>
                  </c:pt>
                  <c:pt idx="5">
                    <c:v>r.iyer</c:v>
                  </c:pt>
                  <c:pt idx="6">
                    <c:v>k.das</c:v>
                  </c:pt>
                  <c:pt idx="7">
                    <c:v>m.gupta</c:v>
                  </c:pt>
                </c:lvl>
              </c:multiLvlStrCache>
            </c:multiLvlStrRef>
          </c:cat>
          <c:val>
            <c:numRef>
              <c:f>Sheet1!$B$2:$B$9</c:f>
              <c:numCache>
                <c:formatCode>General</c:formatCode>
                <c:ptCount val="8"/>
                <c:pt idx="0">
                  <c:v>17</c:v>
                </c:pt>
                <c:pt idx="1">
                  <c:v>15</c:v>
                </c:pt>
                <c:pt idx="2">
                  <c:v>13</c:v>
                </c:pt>
                <c:pt idx="3">
                  <c:v>11</c:v>
                </c:pt>
                <c:pt idx="4">
                  <c:v>11</c:v>
                </c:pt>
                <c:pt idx="5">
                  <c:v>10</c:v>
                </c:pt>
                <c:pt idx="6">
                  <c:v>9</c:v>
                </c:pt>
                <c:pt idx="7">
                  <c:v>8</c:v>
                </c:pt>
              </c:numCache>
            </c:numRef>
          </c:val>
        </c:ser>
        <c:dLbls>
          <c:numFmt formatCode="#,##0" sourceLinked="0"/>
          <c:txPr>
            <a:bodyPr/>
            <a:lstStyle/>
            <a:p>
              <a:pPr>
                <a:defRPr b="0" i="0" strike="noStrike" sz="650" u="none">
                  <a:solidFill>
                    <a:srgbClr val="E2E8F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3341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94A3B8"/>
                </a:solidFill>
                <a:latin typeface="Arial"/>
              </a:defRPr>
            </a:pPr>
            <a:endParaRPr lang="en-US"/>
          </a:p>
        </c:txPr>
        <c:crossAx val="2094734554"/>
        <c:crosses val="autoZero"/>
        <c:crossBetween val="between"/>
      </c:valAx>
      <c:spPr>
        <a:solidFill>
          <a:srgbClr val="1E293B"/>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chart" Target="/ppt/charts/chart8.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914400"/>
          </a:xfrm>
          <a:prstGeom prst="rect">
            <a:avLst/>
          </a:prstGeom>
          <a:noFill/>
          <a:ln/>
        </p:spPr>
        <p:txBody>
          <a:bodyPr wrap="square" lIns="0" tIns="0" rIns="0" bIns="0" rtlCol="0" anchor="ctr"/>
          <a:lstStyle/>
          <a:p>
            <a:pPr algn="ctr" indent="0" marL="0">
              <a:buNone/>
            </a:pPr>
            <a:r>
              <a:rPr lang="en-US" sz="2600" b="1" dirty="0">
                <a:solidFill>
                  <a:srgbClr val="FFFFFF"/>
                </a:solidFill>
                <a:latin typeface="Georgia" pitchFamily="34" charset="0"/>
                <a:ea typeface="Georgia" pitchFamily="34" charset="-122"/>
                <a:cs typeface="Georgia" pitchFamily="34" charset="-120"/>
              </a:rPr>
              <a:t>Dataset Overview &amp;</a:t>
            </a:r>
            <a:endParaRPr lang="en-US" sz="2600" dirty="0"/>
          </a:p>
          <a:p>
            <a:pPr algn="ctr" indent="0" marL="0">
              <a:buNone/>
            </a:pPr>
            <a:r>
              <a:rPr lang="en-US" sz="2600" b="1" dirty="0">
                <a:solidFill>
                  <a:srgbClr val="FFFFFF"/>
                </a:solidFill>
                <a:latin typeface="Georgia" pitchFamily="34" charset="0"/>
                <a:ea typeface="Georgia" pitchFamily="34" charset="-122"/>
                <a:cs typeface="Georgia" pitchFamily="34" charset="-120"/>
              </a:rPr>
              <a:t>Project Introduction</a:t>
            </a:r>
            <a:endParaRPr lang="en-US" sz="2600" dirty="0"/>
          </a:p>
        </p:txBody>
      </p:sp>
      <p:sp>
        <p:nvSpPr>
          <p:cNvPr id="3" name="Text 1"/>
          <p:cNvSpPr txBox="1"/>
          <p:nvPr/>
        </p:nvSpPr>
        <p:spPr>
          <a:xfrm>
            <a:off x="457200" y="1298448"/>
            <a:ext cx="8229600" cy="274320"/>
          </a:xfrm>
          <a:prstGeom prst="rect">
            <a:avLst/>
          </a:prstGeom>
          <a:noFill/>
          <a:ln/>
        </p:spPr>
        <p:txBody>
          <a:bodyPr wrap="square" lIns="0" tIns="0" rIns="0" bIns="0" rtlCol="0" anchor="ctr"/>
          <a:lstStyle/>
          <a:p>
            <a:pPr algn="ctr" indent="0" marL="0">
              <a:buNone/>
            </a:pPr>
            <a:r>
              <a:rPr lang="en-US" sz="1100" dirty="0">
                <a:solidFill>
                  <a:srgbClr val="2DD4BF"/>
                </a:solidFill>
                <a:latin typeface="Calibri" pitchFamily="34" charset="0"/>
                <a:ea typeface="Calibri" pitchFamily="34" charset="-122"/>
                <a:cs typeface="Calibri" pitchFamily="34" charset="-120"/>
              </a:rPr>
              <a:t>Continuous Controls Monitoring, Procure to Pay  |  Vendor Invoice Ledger  |  12,095 Invoices  |  FY 2025-26</a:t>
            </a:r>
            <a:endParaRPr lang="en-US" sz="1100" dirty="0"/>
          </a:p>
        </p:txBody>
      </p:sp>
      <p:sp>
        <p:nvSpPr>
          <p:cNvPr id="4" name="Shape 2"/>
          <p:cNvSpPr/>
          <p:nvPr/>
        </p:nvSpPr>
        <p:spPr>
          <a:xfrm>
            <a:off x="822960" y="1783080"/>
            <a:ext cx="3657600" cy="1325880"/>
          </a:xfrm>
          <a:prstGeom prst="rect">
            <a:avLst/>
          </a:prstGeom>
          <a:solidFill>
            <a:srgbClr val="1E293B"/>
          </a:solidFill>
          <a:ln w="9525">
            <a:solidFill>
              <a:srgbClr val="334155"/>
            </a:solidFill>
            <a:prstDash val="solid"/>
          </a:ln>
        </p:spPr>
      </p:sp>
      <p:sp>
        <p:nvSpPr>
          <p:cNvPr id="5" name="Text 3"/>
          <p:cNvSpPr txBox="1"/>
          <p:nvPr/>
        </p:nvSpPr>
        <p:spPr>
          <a:xfrm>
            <a:off x="960120" y="1874520"/>
            <a:ext cx="338328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Source &amp; Nature</a:t>
            </a:r>
            <a:endParaRPr lang="en-US" sz="1050" dirty="0"/>
          </a:p>
        </p:txBody>
      </p:sp>
      <p:sp>
        <p:nvSpPr>
          <p:cNvPr id="6" name="Text 4"/>
          <p:cNvSpPr txBox="1"/>
          <p:nvPr/>
        </p:nvSpPr>
        <p:spPr>
          <a:xfrm>
            <a:off x="960120" y="2167128"/>
            <a:ext cx="3383280" cy="868680"/>
          </a:xfrm>
          <a:prstGeom prst="rect">
            <a:avLst/>
          </a:prstGeom>
          <a:noFill/>
          <a:ln/>
        </p:spPr>
        <p:txBody>
          <a:bodyPr wrap="square" lIns="0" tIns="0" rIns="0" bIns="0" rtlCol="0" anchor="t"/>
          <a:lstStyle/>
          <a:p>
            <a:pPr indent="0" marL="0">
              <a:spcAft>
                <a:spcPts val="300"/>
              </a:spcAft>
              <a:buNone/>
            </a:pPr>
            <a:r>
              <a:rPr lang="en-US" sz="950" dirty="0">
                <a:solidFill>
                  <a:srgbClr val="E2E8F0"/>
                </a:solidFill>
                <a:latin typeface="Calibri" pitchFamily="34" charset="0"/>
                <a:ea typeface="Calibri" pitchFamily="34" charset="-122"/>
                <a:cs typeface="Calibri" pitchFamily="34" charset="-120"/>
              </a:rPr>
              <a:t>Synthetic vendor invoice ledger built for academic use, with control exceptions seeded for each test. 12,095 invoices, 11 variables, April 2025 to March 2026.</a:t>
            </a:r>
            <a:endParaRPr lang="en-US" sz="950" dirty="0"/>
          </a:p>
        </p:txBody>
      </p:sp>
      <p:sp>
        <p:nvSpPr>
          <p:cNvPr id="7" name="Shape 5"/>
          <p:cNvSpPr/>
          <p:nvPr/>
        </p:nvSpPr>
        <p:spPr>
          <a:xfrm>
            <a:off x="4663440" y="1783080"/>
            <a:ext cx="3657600" cy="1325880"/>
          </a:xfrm>
          <a:prstGeom prst="rect">
            <a:avLst/>
          </a:prstGeom>
          <a:solidFill>
            <a:srgbClr val="1E293B"/>
          </a:solidFill>
          <a:ln w="9525">
            <a:solidFill>
              <a:srgbClr val="334155"/>
            </a:solidFill>
            <a:prstDash val="solid"/>
          </a:ln>
        </p:spPr>
      </p:sp>
      <p:sp>
        <p:nvSpPr>
          <p:cNvPr id="8" name="Text 6"/>
          <p:cNvSpPr txBox="1"/>
          <p:nvPr/>
        </p:nvSpPr>
        <p:spPr>
          <a:xfrm>
            <a:off x="4800600" y="1874520"/>
            <a:ext cx="338328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Scope &amp; Coverage</a:t>
            </a:r>
            <a:endParaRPr lang="en-US" sz="1050" dirty="0"/>
          </a:p>
        </p:txBody>
      </p:sp>
      <p:sp>
        <p:nvSpPr>
          <p:cNvPr id="9" name="Text 7"/>
          <p:cNvSpPr txBox="1"/>
          <p:nvPr/>
        </p:nvSpPr>
        <p:spPr>
          <a:xfrm>
            <a:off x="4800600" y="2167128"/>
            <a:ext cx="3383280" cy="86868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2E8F0"/>
                </a:solidFill>
                <a:latin typeface="Calibri" pitchFamily="34" charset="0"/>
                <a:ea typeface="Calibri" pitchFamily="34" charset="-122"/>
                <a:cs typeface="Calibri" pitchFamily="34" charset="-120"/>
              </a:rPr>
              <a:t>₹123.8 Cr total spend</a:t>
            </a:r>
            <a:endParaRPr lang="en-US" sz="950" dirty="0"/>
          </a:p>
          <a:p>
            <a:pPr marL="342900" indent="-342900">
              <a:spcAft>
                <a:spcPts val="300"/>
              </a:spcAft>
              <a:buSzPct val="100000"/>
              <a:buChar char="•"/>
            </a:pPr>
            <a:r>
              <a:rPr lang="en-US" sz="950" dirty="0">
                <a:solidFill>
                  <a:srgbClr val="E2E8F0"/>
                </a:solidFill>
                <a:latin typeface="Calibri" pitchFamily="34" charset="0"/>
                <a:ea typeface="Calibri" pitchFamily="34" charset="-122"/>
                <a:cs typeface="Calibri" pitchFamily="34" charset="-120"/>
              </a:rPr>
              <a:t>150 vendors across 8 spend categories</a:t>
            </a:r>
            <a:endParaRPr lang="en-US" sz="950" dirty="0"/>
          </a:p>
          <a:p>
            <a:pPr marL="342900" indent="-342900">
              <a:spcAft>
                <a:spcPts val="300"/>
              </a:spcAft>
              <a:buSzPct val="100000"/>
              <a:buChar char="•"/>
            </a:pPr>
            <a:r>
              <a:rPr lang="en-US" sz="950" dirty="0">
                <a:solidFill>
                  <a:srgbClr val="E2E8F0"/>
                </a:solidFill>
                <a:latin typeface="Calibri" pitchFamily="34" charset="0"/>
                <a:ea typeface="Calibri" pitchFamily="34" charset="-122"/>
                <a:cs typeface="Calibri" pitchFamily="34" charset="-120"/>
              </a:rPr>
              <a:t>8 invoice creators, 5 approvers</a:t>
            </a:r>
            <a:endParaRPr lang="en-US" sz="950" dirty="0"/>
          </a:p>
          <a:p>
            <a:pPr marL="342900" indent="-342900">
              <a:spcAft>
                <a:spcPts val="300"/>
              </a:spcAft>
              <a:buSzPct val="100000"/>
              <a:buChar char="•"/>
            </a:pPr>
            <a:r>
              <a:rPr lang="en-US" sz="950" dirty="0">
                <a:solidFill>
                  <a:srgbClr val="E2E8F0"/>
                </a:solidFill>
                <a:latin typeface="Calibri" pitchFamily="34" charset="0"/>
                <a:ea typeface="Calibri" pitchFamily="34" charset="-122"/>
                <a:cs typeface="Calibri" pitchFamily="34" charset="-120"/>
              </a:rPr>
              <a:t>Posting date and time for every invoice</a:t>
            </a:r>
            <a:endParaRPr lang="en-US" sz="950" dirty="0"/>
          </a:p>
        </p:txBody>
      </p:sp>
      <p:sp>
        <p:nvSpPr>
          <p:cNvPr id="10" name="Shape 8"/>
          <p:cNvSpPr/>
          <p:nvPr/>
        </p:nvSpPr>
        <p:spPr>
          <a:xfrm>
            <a:off x="822960" y="3246120"/>
            <a:ext cx="3657600" cy="1554480"/>
          </a:xfrm>
          <a:prstGeom prst="rect">
            <a:avLst/>
          </a:prstGeom>
          <a:solidFill>
            <a:srgbClr val="1E293B"/>
          </a:solidFill>
          <a:ln w="9525">
            <a:solidFill>
              <a:srgbClr val="334155"/>
            </a:solidFill>
            <a:prstDash val="solid"/>
          </a:ln>
        </p:spPr>
      </p:sp>
      <p:sp>
        <p:nvSpPr>
          <p:cNvPr id="11" name="Text 9"/>
          <p:cNvSpPr txBox="1"/>
          <p:nvPr/>
        </p:nvSpPr>
        <p:spPr>
          <a:xfrm>
            <a:off x="960120" y="3337560"/>
            <a:ext cx="338328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Key Variables</a:t>
            </a:r>
            <a:endParaRPr lang="en-US" sz="1050" dirty="0"/>
          </a:p>
        </p:txBody>
      </p:sp>
      <p:sp>
        <p:nvSpPr>
          <p:cNvPr id="12" name="Text 10"/>
          <p:cNvSpPr txBox="1"/>
          <p:nvPr/>
        </p:nvSpPr>
        <p:spPr>
          <a:xfrm>
            <a:off x="960120" y="3630168"/>
            <a:ext cx="3383280" cy="1097280"/>
          </a:xfrm>
          <a:prstGeom prst="rect">
            <a:avLst/>
          </a:prstGeom>
          <a:noFill/>
          <a:ln/>
        </p:spPr>
        <p:txBody>
          <a:bodyPr wrap="square" lIns="0" tIns="0" rIns="0" bIns="0" rtlCol="0" anchor="t"/>
          <a:lstStyle/>
          <a:p>
            <a:pPr indent="0" marL="0">
              <a:spcAft>
                <a:spcPts val="300"/>
              </a:spcAft>
              <a:buNone/>
            </a:pPr>
            <a:r>
              <a:rPr lang="en-US" sz="1000" dirty="0">
                <a:solidFill>
                  <a:srgbClr val="E2E8F0"/>
                </a:solidFill>
                <a:latin typeface="Calibri" pitchFamily="34" charset="0"/>
                <a:ea typeface="Calibri" pitchFamily="34" charset="-122"/>
                <a:cs typeface="Calibri" pitchFamily="34" charset="-120"/>
              </a:rPr>
              <a:t>Invoice ID  ·  Vendor  ·  Category  ·  Invoice No.</a:t>
            </a:r>
            <a:endParaRPr lang="en-US" sz="1000" dirty="0"/>
          </a:p>
          <a:p>
            <a:pPr indent="0" marL="0">
              <a:spcAft>
                <a:spcPts val="300"/>
              </a:spcAft>
              <a:buNone/>
            </a:pPr>
            <a:r>
              <a:rPr lang="en-US" sz="1000" dirty="0">
                <a:solidFill>
                  <a:srgbClr val="E2E8F0"/>
                </a:solidFill>
                <a:latin typeface="Calibri" pitchFamily="34" charset="0"/>
                <a:ea typeface="Calibri" pitchFamily="34" charset="-122"/>
                <a:cs typeface="Calibri" pitchFamily="34" charset="-120"/>
              </a:rPr>
              <a:t>Invoice Date  ·  Posted At  ·  Amount</a:t>
            </a:r>
            <a:endParaRPr lang="en-US" sz="1000" dirty="0"/>
          </a:p>
          <a:p>
            <a:pPr indent="0" marL="0">
              <a:spcAft>
                <a:spcPts val="300"/>
              </a:spcAft>
              <a:buNone/>
            </a:pPr>
            <a:r>
              <a:rPr lang="en-US" sz="1000" dirty="0">
                <a:solidFill>
                  <a:srgbClr val="E2E8F0"/>
                </a:solidFill>
                <a:latin typeface="Calibri" pitchFamily="34" charset="0"/>
                <a:ea typeface="Calibri" pitchFamily="34" charset="-122"/>
                <a:cs typeface="Calibri" pitchFamily="34" charset="-120"/>
              </a:rPr>
              <a:t>PO Number  ·  PO Amount  ·  Created By  ·  Approved By</a:t>
            </a:r>
            <a:endParaRPr lang="en-US" sz="1000" dirty="0"/>
          </a:p>
        </p:txBody>
      </p:sp>
      <p:sp>
        <p:nvSpPr>
          <p:cNvPr id="13" name="Shape 11"/>
          <p:cNvSpPr/>
          <p:nvPr/>
        </p:nvSpPr>
        <p:spPr>
          <a:xfrm>
            <a:off x="4663440" y="3246120"/>
            <a:ext cx="3657600" cy="1554480"/>
          </a:xfrm>
          <a:prstGeom prst="rect">
            <a:avLst/>
          </a:prstGeom>
          <a:solidFill>
            <a:srgbClr val="1E293B"/>
          </a:solidFill>
          <a:ln w="9525">
            <a:solidFill>
              <a:srgbClr val="334155"/>
            </a:solidFill>
            <a:prstDash val="solid"/>
          </a:ln>
        </p:spPr>
      </p:sp>
      <p:sp>
        <p:nvSpPr>
          <p:cNvPr id="14" name="Text 12"/>
          <p:cNvSpPr txBox="1"/>
          <p:nvPr/>
        </p:nvSpPr>
        <p:spPr>
          <a:xfrm>
            <a:off x="4800600" y="3337560"/>
            <a:ext cx="338328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Business Relevance</a:t>
            </a:r>
            <a:endParaRPr lang="en-US" sz="1050" dirty="0"/>
          </a:p>
        </p:txBody>
      </p:sp>
      <p:sp>
        <p:nvSpPr>
          <p:cNvPr id="15" name="Text 13"/>
          <p:cNvSpPr txBox="1"/>
          <p:nvPr/>
        </p:nvSpPr>
        <p:spPr>
          <a:xfrm>
            <a:off x="4800600" y="3630168"/>
            <a:ext cx="3383280" cy="109728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2E8F0"/>
                </a:solidFill>
                <a:latin typeface="Calibri" pitchFamily="34" charset="0"/>
                <a:ea typeface="Calibri" pitchFamily="34" charset="-122"/>
                <a:cs typeface="Calibri" pitchFamily="34" charset="-120"/>
              </a:rPr>
              <a:t>Accounts payable is the largest routine cash outflow</a:t>
            </a:r>
            <a:endParaRPr lang="en-US" sz="950" dirty="0"/>
          </a:p>
          <a:p>
            <a:pPr marL="342900" indent="-342900">
              <a:spcAft>
                <a:spcPts val="300"/>
              </a:spcAft>
              <a:buSzPct val="100000"/>
              <a:buChar char="•"/>
            </a:pPr>
            <a:r>
              <a:rPr lang="en-US" sz="950" dirty="0">
                <a:solidFill>
                  <a:srgbClr val="E2E8F0"/>
                </a:solidFill>
                <a:latin typeface="Calibri" pitchFamily="34" charset="0"/>
                <a:ea typeface="Calibri" pitchFamily="34" charset="-122"/>
                <a:cs typeface="Calibri" pitchFamily="34" charset="-120"/>
              </a:rPr>
              <a:t>Tests whether P2P controls stop duplicate, unauthorised or unsupported payments</a:t>
            </a:r>
            <a:endParaRPr lang="en-US" sz="950" dirty="0"/>
          </a:p>
          <a:p>
            <a:pPr marL="342900" indent="-342900">
              <a:spcAft>
                <a:spcPts val="300"/>
              </a:spcAft>
              <a:buSzPct val="100000"/>
              <a:buChar char="•"/>
            </a:pPr>
            <a:r>
              <a:rPr lang="en-US" sz="950" dirty="0">
                <a:solidFill>
                  <a:srgbClr val="E2E8F0"/>
                </a:solidFill>
                <a:latin typeface="Calibri" pitchFamily="34" charset="0"/>
                <a:ea typeface="Calibri" pitchFamily="34" charset="-122"/>
                <a:cs typeface="Calibri" pitchFamily="34" charset="-120"/>
              </a:rPr>
              <a:t>Replaces sample testing with full population coverage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Control Tests</a:t>
            </a:r>
            <a:endParaRPr lang="en-US" sz="2200" dirty="0"/>
          </a:p>
        </p:txBody>
      </p:sp>
      <p:sp>
        <p:nvSpPr>
          <p:cNvPr id="3" name="Text 1"/>
          <p:cNvSpPr txBox="1"/>
          <p:nvPr/>
        </p:nvSpPr>
        <p:spPr>
          <a:xfrm>
            <a:off x="457200" y="731520"/>
            <a:ext cx="82296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Six procure to pay controls, each tested on the full population of 12,095 invoices</a:t>
            </a:r>
            <a:endParaRPr lang="en-US" sz="1050" dirty="0"/>
          </a:p>
        </p:txBody>
      </p:sp>
      <p:sp>
        <p:nvSpPr>
          <p:cNvPr id="4" name="Shape 2"/>
          <p:cNvSpPr/>
          <p:nvPr/>
        </p:nvSpPr>
        <p:spPr>
          <a:xfrm>
            <a:off x="457200" y="1188720"/>
            <a:ext cx="2651760" cy="1737360"/>
          </a:xfrm>
          <a:prstGeom prst="rect">
            <a:avLst/>
          </a:prstGeom>
          <a:solidFill>
            <a:srgbClr val="1E293B"/>
          </a:solidFill>
          <a:ln w="9525">
            <a:solidFill>
              <a:srgbClr val="334155"/>
            </a:solidFill>
            <a:prstDash val="solid"/>
          </a:ln>
        </p:spPr>
      </p:sp>
      <p:sp>
        <p:nvSpPr>
          <p:cNvPr id="5" name="Text 3"/>
          <p:cNvSpPr txBox="1"/>
          <p:nvPr/>
        </p:nvSpPr>
        <p:spPr>
          <a:xfrm>
            <a:off x="594360" y="1298448"/>
            <a:ext cx="274320" cy="274320"/>
          </a:xfrm>
          <a:prstGeom prst="rect">
            <a:avLst/>
          </a:prstGeom>
          <a:noFill/>
          <a:ln/>
        </p:spPr>
        <p:txBody>
          <a:bodyPr wrap="square" lIns="0" tIns="0" rIns="0" bIns="0" rtlCol="0" anchor="ctr"/>
          <a:lstStyle/>
          <a:p>
            <a:pPr indent="0" marL="0">
              <a:buNone/>
            </a:pPr>
            <a:r>
              <a:rPr lang="en-US" sz="1600" b="1" dirty="0">
                <a:solidFill>
                  <a:srgbClr val="2DD4BF"/>
                </a:solidFill>
                <a:latin typeface="Georgia" pitchFamily="34" charset="0"/>
                <a:ea typeface="Georgia" pitchFamily="34" charset="-122"/>
                <a:cs typeface="Georgia" pitchFamily="34" charset="-120"/>
              </a:rPr>
              <a:t>1</a:t>
            </a:r>
            <a:endParaRPr lang="en-US" sz="1600" dirty="0"/>
          </a:p>
        </p:txBody>
      </p:sp>
      <p:sp>
        <p:nvSpPr>
          <p:cNvPr id="6" name="Text 4"/>
          <p:cNvSpPr txBox="1"/>
          <p:nvPr/>
        </p:nvSpPr>
        <p:spPr>
          <a:xfrm>
            <a:off x="914400" y="1298448"/>
            <a:ext cx="2103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Duplicate payments</a:t>
            </a:r>
            <a:endParaRPr lang="en-US" sz="1100" dirty="0"/>
          </a:p>
        </p:txBody>
      </p:sp>
      <p:sp>
        <p:nvSpPr>
          <p:cNvPr id="7" name="Text 5"/>
          <p:cNvSpPr txBox="1"/>
          <p:nvPr/>
        </p:nvSpPr>
        <p:spPr>
          <a:xfrm>
            <a:off x="594360" y="1691640"/>
            <a:ext cx="2377440" cy="54864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Has the same invoice been paid more than once?</a:t>
            </a:r>
            <a:endParaRPr lang="en-US" sz="950" dirty="0"/>
          </a:p>
        </p:txBody>
      </p:sp>
      <p:sp>
        <p:nvSpPr>
          <p:cNvPr id="8" name="Text 6"/>
          <p:cNvSpPr txBox="1"/>
          <p:nvPr/>
        </p:nvSpPr>
        <p:spPr>
          <a:xfrm>
            <a:off x="594360" y="2267712"/>
            <a:ext cx="2377440" cy="566928"/>
          </a:xfrm>
          <a:prstGeom prst="rect">
            <a:avLst/>
          </a:prstGeom>
          <a:noFill/>
          <a:ln/>
        </p:spPr>
        <p:txBody>
          <a:bodyPr wrap="square" lIns="0" tIns="0" rIns="0" bIns="0" rtlCol="0" anchor="t"/>
          <a:lstStyle/>
          <a:p>
            <a:pPr indent="0" marL="0">
              <a:buNone/>
            </a:pPr>
            <a:r>
              <a:rPr lang="en-US" sz="900" b="1" dirty="0">
                <a:solidFill>
                  <a:srgbClr val="2DD4BF"/>
                </a:solidFill>
                <a:latin typeface="Calibri" pitchFamily="34" charset="0"/>
                <a:ea typeface="Calibri" pitchFamily="34" charset="-122"/>
                <a:cs typeface="Calibri" pitchFamily="34" charset="-120"/>
              </a:rPr>
              <a:t>Rule: </a:t>
            </a:r>
            <a:pPr indent="0" marL="0">
              <a:buNone/>
            </a:pPr>
            <a:r>
              <a:rPr lang="en-US" sz="900" dirty="0">
                <a:solidFill>
                  <a:srgbClr val="94A3B8"/>
                </a:solidFill>
                <a:latin typeface="Calibri" pitchFamily="34" charset="0"/>
                <a:ea typeface="Calibri" pitchFamily="34" charset="-122"/>
                <a:cs typeface="Calibri" pitchFamily="34" charset="-120"/>
              </a:rPr>
              <a:t>Same vendor and amount within 30 days, or a reused invoice number</a:t>
            </a:r>
            <a:endParaRPr lang="en-US" sz="900" dirty="0"/>
          </a:p>
        </p:txBody>
      </p:sp>
      <p:sp>
        <p:nvSpPr>
          <p:cNvPr id="9" name="Shape 7"/>
          <p:cNvSpPr/>
          <p:nvPr/>
        </p:nvSpPr>
        <p:spPr>
          <a:xfrm>
            <a:off x="3246120" y="1188720"/>
            <a:ext cx="2651760" cy="1737360"/>
          </a:xfrm>
          <a:prstGeom prst="rect">
            <a:avLst/>
          </a:prstGeom>
          <a:solidFill>
            <a:srgbClr val="1E293B"/>
          </a:solidFill>
          <a:ln w="9525">
            <a:solidFill>
              <a:srgbClr val="334155"/>
            </a:solidFill>
            <a:prstDash val="solid"/>
          </a:ln>
        </p:spPr>
      </p:sp>
      <p:sp>
        <p:nvSpPr>
          <p:cNvPr id="10" name="Text 8"/>
          <p:cNvSpPr txBox="1"/>
          <p:nvPr/>
        </p:nvSpPr>
        <p:spPr>
          <a:xfrm>
            <a:off x="3383280" y="1298448"/>
            <a:ext cx="274320" cy="274320"/>
          </a:xfrm>
          <a:prstGeom prst="rect">
            <a:avLst/>
          </a:prstGeom>
          <a:noFill/>
          <a:ln/>
        </p:spPr>
        <p:txBody>
          <a:bodyPr wrap="square" lIns="0" tIns="0" rIns="0" bIns="0" rtlCol="0" anchor="ctr"/>
          <a:lstStyle/>
          <a:p>
            <a:pPr indent="0" marL="0">
              <a:buNone/>
            </a:pPr>
            <a:r>
              <a:rPr lang="en-US" sz="1600" b="1" dirty="0">
                <a:solidFill>
                  <a:srgbClr val="2DD4BF"/>
                </a:solidFill>
                <a:latin typeface="Georgia" pitchFamily="34" charset="0"/>
                <a:ea typeface="Georgia" pitchFamily="34" charset="-122"/>
                <a:cs typeface="Georgia" pitchFamily="34" charset="-120"/>
              </a:rPr>
              <a:t>2</a:t>
            </a:r>
            <a:endParaRPr lang="en-US" sz="1600" dirty="0"/>
          </a:p>
        </p:txBody>
      </p:sp>
      <p:sp>
        <p:nvSpPr>
          <p:cNvPr id="11" name="Text 9"/>
          <p:cNvSpPr txBox="1"/>
          <p:nvPr/>
        </p:nvSpPr>
        <p:spPr>
          <a:xfrm>
            <a:off x="3703320" y="1298448"/>
            <a:ext cx="2103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Approval threshold avoidance</a:t>
            </a:r>
            <a:endParaRPr lang="en-US" sz="1100" dirty="0"/>
          </a:p>
        </p:txBody>
      </p:sp>
      <p:sp>
        <p:nvSpPr>
          <p:cNvPr id="12" name="Text 10"/>
          <p:cNvSpPr txBox="1"/>
          <p:nvPr/>
        </p:nvSpPr>
        <p:spPr>
          <a:xfrm>
            <a:off x="3383280" y="1691640"/>
            <a:ext cx="2377440" cy="54864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Are invoices sized or split to avoid the second approver?</a:t>
            </a:r>
            <a:endParaRPr lang="en-US" sz="950" dirty="0"/>
          </a:p>
        </p:txBody>
      </p:sp>
      <p:sp>
        <p:nvSpPr>
          <p:cNvPr id="13" name="Text 11"/>
          <p:cNvSpPr txBox="1"/>
          <p:nvPr/>
        </p:nvSpPr>
        <p:spPr>
          <a:xfrm>
            <a:off x="3383280" y="2267712"/>
            <a:ext cx="2377440" cy="566928"/>
          </a:xfrm>
          <a:prstGeom prst="rect">
            <a:avLst/>
          </a:prstGeom>
          <a:noFill/>
          <a:ln/>
        </p:spPr>
        <p:txBody>
          <a:bodyPr wrap="square" lIns="0" tIns="0" rIns="0" bIns="0" rtlCol="0" anchor="t"/>
          <a:lstStyle/>
          <a:p>
            <a:pPr indent="0" marL="0">
              <a:buNone/>
            </a:pPr>
            <a:r>
              <a:rPr lang="en-US" sz="900" b="1" dirty="0">
                <a:solidFill>
                  <a:srgbClr val="2DD4BF"/>
                </a:solidFill>
                <a:latin typeface="Calibri" pitchFamily="34" charset="0"/>
                <a:ea typeface="Calibri" pitchFamily="34" charset="-122"/>
                <a:cs typeface="Calibri" pitchFamily="34" charset="-120"/>
              </a:rPr>
              <a:t>Rule: </a:t>
            </a:r>
            <a:pPr indent="0" marL="0">
              <a:buNone/>
            </a:pPr>
            <a:r>
              <a:rPr lang="en-US" sz="900" dirty="0">
                <a:solidFill>
                  <a:srgbClr val="94A3B8"/>
                </a:solidFill>
                <a:latin typeface="Calibri" pitchFamily="34" charset="0"/>
                <a:ea typeface="Calibri" pitchFamily="34" charset="-122"/>
                <a:cs typeface="Calibri" pitchFamily="34" charset="-120"/>
              </a:rPr>
              <a:t>₹4.5L to ₹5L, or same day splits that together reach ₹5L</a:t>
            </a:r>
            <a:endParaRPr lang="en-US" sz="900" dirty="0"/>
          </a:p>
        </p:txBody>
      </p:sp>
      <p:sp>
        <p:nvSpPr>
          <p:cNvPr id="14" name="Shape 12"/>
          <p:cNvSpPr/>
          <p:nvPr/>
        </p:nvSpPr>
        <p:spPr>
          <a:xfrm>
            <a:off x="6035040" y="1188720"/>
            <a:ext cx="2651760" cy="1737360"/>
          </a:xfrm>
          <a:prstGeom prst="rect">
            <a:avLst/>
          </a:prstGeom>
          <a:solidFill>
            <a:srgbClr val="1E293B"/>
          </a:solidFill>
          <a:ln w="9525">
            <a:solidFill>
              <a:srgbClr val="334155"/>
            </a:solidFill>
            <a:prstDash val="solid"/>
          </a:ln>
        </p:spPr>
      </p:sp>
      <p:sp>
        <p:nvSpPr>
          <p:cNvPr id="15" name="Text 13"/>
          <p:cNvSpPr txBox="1"/>
          <p:nvPr/>
        </p:nvSpPr>
        <p:spPr>
          <a:xfrm>
            <a:off x="6172200" y="1298448"/>
            <a:ext cx="274320" cy="274320"/>
          </a:xfrm>
          <a:prstGeom prst="rect">
            <a:avLst/>
          </a:prstGeom>
          <a:noFill/>
          <a:ln/>
        </p:spPr>
        <p:txBody>
          <a:bodyPr wrap="square" lIns="0" tIns="0" rIns="0" bIns="0" rtlCol="0" anchor="ctr"/>
          <a:lstStyle/>
          <a:p>
            <a:pPr indent="0" marL="0">
              <a:buNone/>
            </a:pPr>
            <a:r>
              <a:rPr lang="en-US" sz="1600" b="1" dirty="0">
                <a:solidFill>
                  <a:srgbClr val="2DD4BF"/>
                </a:solidFill>
                <a:latin typeface="Georgia" pitchFamily="34" charset="0"/>
                <a:ea typeface="Georgia" pitchFamily="34" charset="-122"/>
                <a:cs typeface="Georgia" pitchFamily="34" charset="-120"/>
              </a:rPr>
              <a:t>3</a:t>
            </a:r>
            <a:endParaRPr lang="en-US" sz="1600" dirty="0"/>
          </a:p>
        </p:txBody>
      </p:sp>
      <p:sp>
        <p:nvSpPr>
          <p:cNvPr id="16" name="Text 14"/>
          <p:cNvSpPr txBox="1"/>
          <p:nvPr/>
        </p:nvSpPr>
        <p:spPr>
          <a:xfrm>
            <a:off x="6492240" y="1298448"/>
            <a:ext cx="2103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Benford's Law, by vendor</a:t>
            </a:r>
            <a:endParaRPr lang="en-US" sz="1100" dirty="0"/>
          </a:p>
        </p:txBody>
      </p:sp>
      <p:sp>
        <p:nvSpPr>
          <p:cNvPr id="17" name="Text 15"/>
          <p:cNvSpPr txBox="1"/>
          <p:nvPr/>
        </p:nvSpPr>
        <p:spPr>
          <a:xfrm>
            <a:off x="6172200" y="1691640"/>
            <a:ext cx="2377440" cy="54864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Do a vendor's amounts behave like genuine transactions?</a:t>
            </a:r>
            <a:endParaRPr lang="en-US" sz="950" dirty="0"/>
          </a:p>
        </p:txBody>
      </p:sp>
      <p:sp>
        <p:nvSpPr>
          <p:cNvPr id="18" name="Text 16"/>
          <p:cNvSpPr txBox="1"/>
          <p:nvPr/>
        </p:nvSpPr>
        <p:spPr>
          <a:xfrm>
            <a:off x="6172200" y="2267712"/>
            <a:ext cx="2377440" cy="566928"/>
          </a:xfrm>
          <a:prstGeom prst="rect">
            <a:avLst/>
          </a:prstGeom>
          <a:noFill/>
          <a:ln/>
        </p:spPr>
        <p:txBody>
          <a:bodyPr wrap="square" lIns="0" tIns="0" rIns="0" bIns="0" rtlCol="0" anchor="t"/>
          <a:lstStyle/>
          <a:p>
            <a:pPr indent="0" marL="0">
              <a:buNone/>
            </a:pPr>
            <a:r>
              <a:rPr lang="en-US" sz="900" b="1" dirty="0">
                <a:solidFill>
                  <a:srgbClr val="2DD4BF"/>
                </a:solidFill>
                <a:latin typeface="Calibri" pitchFamily="34" charset="0"/>
                <a:ea typeface="Calibri" pitchFamily="34" charset="-122"/>
                <a:cs typeface="Calibri" pitchFamily="34" charset="-120"/>
              </a:rPr>
              <a:t>Rule: </a:t>
            </a:r>
            <a:pPr indent="0" marL="0">
              <a:buNone/>
            </a:pPr>
            <a:r>
              <a:rPr lang="en-US" sz="900" dirty="0">
                <a:solidFill>
                  <a:srgbClr val="94A3B8"/>
                </a:solidFill>
                <a:latin typeface="Calibri" pitchFamily="34" charset="0"/>
                <a:ea typeface="Calibri" pitchFamily="34" charset="-122"/>
                <a:cs typeface="Calibri" pitchFamily="34" charset="-120"/>
              </a:rPr>
              <a:t>Chi-square on first digits, p = 0.001, vendors with 30+ invoices</a:t>
            </a:r>
            <a:endParaRPr lang="en-US" sz="900" dirty="0"/>
          </a:p>
        </p:txBody>
      </p:sp>
      <p:sp>
        <p:nvSpPr>
          <p:cNvPr id="19" name="Shape 17"/>
          <p:cNvSpPr/>
          <p:nvPr/>
        </p:nvSpPr>
        <p:spPr>
          <a:xfrm>
            <a:off x="457200" y="3063240"/>
            <a:ext cx="2651760" cy="1737360"/>
          </a:xfrm>
          <a:prstGeom prst="rect">
            <a:avLst/>
          </a:prstGeom>
          <a:solidFill>
            <a:srgbClr val="1E293B"/>
          </a:solidFill>
          <a:ln w="9525">
            <a:solidFill>
              <a:srgbClr val="334155"/>
            </a:solidFill>
            <a:prstDash val="solid"/>
          </a:ln>
        </p:spPr>
      </p:sp>
      <p:sp>
        <p:nvSpPr>
          <p:cNvPr id="20" name="Text 18"/>
          <p:cNvSpPr txBox="1"/>
          <p:nvPr/>
        </p:nvSpPr>
        <p:spPr>
          <a:xfrm>
            <a:off x="594360" y="3172968"/>
            <a:ext cx="274320" cy="274320"/>
          </a:xfrm>
          <a:prstGeom prst="rect">
            <a:avLst/>
          </a:prstGeom>
          <a:noFill/>
          <a:ln/>
        </p:spPr>
        <p:txBody>
          <a:bodyPr wrap="square" lIns="0" tIns="0" rIns="0" bIns="0" rtlCol="0" anchor="ctr"/>
          <a:lstStyle/>
          <a:p>
            <a:pPr indent="0" marL="0">
              <a:buNone/>
            </a:pPr>
            <a:r>
              <a:rPr lang="en-US" sz="1600" b="1" dirty="0">
                <a:solidFill>
                  <a:srgbClr val="2DD4BF"/>
                </a:solidFill>
                <a:latin typeface="Georgia" pitchFamily="34" charset="0"/>
                <a:ea typeface="Georgia" pitchFamily="34" charset="-122"/>
                <a:cs typeface="Georgia" pitchFamily="34" charset="-120"/>
              </a:rPr>
              <a:t>4</a:t>
            </a:r>
            <a:endParaRPr lang="en-US" sz="1600" dirty="0"/>
          </a:p>
        </p:txBody>
      </p:sp>
      <p:sp>
        <p:nvSpPr>
          <p:cNvPr id="21" name="Text 19"/>
          <p:cNvSpPr txBox="1"/>
          <p:nvPr/>
        </p:nvSpPr>
        <p:spPr>
          <a:xfrm>
            <a:off x="914400" y="3172968"/>
            <a:ext cx="2103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Three way match</a:t>
            </a:r>
            <a:endParaRPr lang="en-US" sz="1100" dirty="0"/>
          </a:p>
        </p:txBody>
      </p:sp>
      <p:sp>
        <p:nvSpPr>
          <p:cNvPr id="22" name="Text 20"/>
          <p:cNvSpPr txBox="1"/>
          <p:nvPr/>
        </p:nvSpPr>
        <p:spPr>
          <a:xfrm>
            <a:off x="594360" y="3566160"/>
            <a:ext cx="2377440" cy="54864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Are we paying more than was ordered, or buying without a PO?</a:t>
            </a:r>
            <a:endParaRPr lang="en-US" sz="950" dirty="0"/>
          </a:p>
        </p:txBody>
      </p:sp>
      <p:sp>
        <p:nvSpPr>
          <p:cNvPr id="23" name="Text 21"/>
          <p:cNvSpPr txBox="1"/>
          <p:nvPr/>
        </p:nvSpPr>
        <p:spPr>
          <a:xfrm>
            <a:off x="594360" y="4142232"/>
            <a:ext cx="2377440" cy="566928"/>
          </a:xfrm>
          <a:prstGeom prst="rect">
            <a:avLst/>
          </a:prstGeom>
          <a:noFill/>
          <a:ln/>
        </p:spPr>
        <p:txBody>
          <a:bodyPr wrap="square" lIns="0" tIns="0" rIns="0" bIns="0" rtlCol="0" anchor="t"/>
          <a:lstStyle/>
          <a:p>
            <a:pPr indent="0" marL="0">
              <a:buNone/>
            </a:pPr>
            <a:r>
              <a:rPr lang="en-US" sz="900" b="1" dirty="0">
                <a:solidFill>
                  <a:srgbClr val="2DD4BF"/>
                </a:solidFill>
                <a:latin typeface="Calibri" pitchFamily="34" charset="0"/>
                <a:ea typeface="Calibri" pitchFamily="34" charset="-122"/>
                <a:cs typeface="Calibri" pitchFamily="34" charset="-120"/>
              </a:rPr>
              <a:t>Rule: </a:t>
            </a:r>
            <a:pPr indent="0" marL="0">
              <a:buNone/>
            </a:pPr>
            <a:r>
              <a:rPr lang="en-US" sz="900" dirty="0">
                <a:solidFill>
                  <a:srgbClr val="94A3B8"/>
                </a:solidFill>
                <a:latin typeface="Calibri" pitchFamily="34" charset="0"/>
                <a:ea typeface="Calibri" pitchFamily="34" charset="-122"/>
                <a:cs typeface="Calibri" pitchFamily="34" charset="-120"/>
              </a:rPr>
              <a:t>Invoice above PO by more than 5%, or no PO at ₹1L and above</a:t>
            </a:r>
            <a:endParaRPr lang="en-US" sz="900" dirty="0"/>
          </a:p>
        </p:txBody>
      </p:sp>
      <p:sp>
        <p:nvSpPr>
          <p:cNvPr id="24" name="Shape 22"/>
          <p:cNvSpPr/>
          <p:nvPr/>
        </p:nvSpPr>
        <p:spPr>
          <a:xfrm>
            <a:off x="3246120" y="3063240"/>
            <a:ext cx="2651760" cy="1737360"/>
          </a:xfrm>
          <a:prstGeom prst="rect">
            <a:avLst/>
          </a:prstGeom>
          <a:solidFill>
            <a:srgbClr val="1E293B"/>
          </a:solidFill>
          <a:ln w="9525">
            <a:solidFill>
              <a:srgbClr val="334155"/>
            </a:solidFill>
            <a:prstDash val="solid"/>
          </a:ln>
        </p:spPr>
      </p:sp>
      <p:sp>
        <p:nvSpPr>
          <p:cNvPr id="25" name="Text 23"/>
          <p:cNvSpPr txBox="1"/>
          <p:nvPr/>
        </p:nvSpPr>
        <p:spPr>
          <a:xfrm>
            <a:off x="3383280" y="3172968"/>
            <a:ext cx="274320" cy="274320"/>
          </a:xfrm>
          <a:prstGeom prst="rect">
            <a:avLst/>
          </a:prstGeom>
          <a:noFill/>
          <a:ln/>
        </p:spPr>
        <p:txBody>
          <a:bodyPr wrap="square" lIns="0" tIns="0" rIns="0" bIns="0" rtlCol="0" anchor="ctr"/>
          <a:lstStyle/>
          <a:p>
            <a:pPr indent="0" marL="0">
              <a:buNone/>
            </a:pPr>
            <a:r>
              <a:rPr lang="en-US" sz="1600" b="1" dirty="0">
                <a:solidFill>
                  <a:srgbClr val="2DD4BF"/>
                </a:solidFill>
                <a:latin typeface="Georgia" pitchFamily="34" charset="0"/>
                <a:ea typeface="Georgia" pitchFamily="34" charset="-122"/>
                <a:cs typeface="Georgia" pitchFamily="34" charset="-120"/>
              </a:rPr>
              <a:t>5</a:t>
            </a:r>
            <a:endParaRPr lang="en-US" sz="1600" dirty="0"/>
          </a:p>
        </p:txBody>
      </p:sp>
      <p:sp>
        <p:nvSpPr>
          <p:cNvPr id="26" name="Text 24"/>
          <p:cNvSpPr txBox="1"/>
          <p:nvPr/>
        </p:nvSpPr>
        <p:spPr>
          <a:xfrm>
            <a:off x="3703320" y="3172968"/>
            <a:ext cx="2103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Segregation of duties</a:t>
            </a:r>
            <a:endParaRPr lang="en-US" sz="1100" dirty="0"/>
          </a:p>
        </p:txBody>
      </p:sp>
      <p:sp>
        <p:nvSpPr>
          <p:cNvPr id="27" name="Text 25"/>
          <p:cNvSpPr txBox="1"/>
          <p:nvPr/>
        </p:nvSpPr>
        <p:spPr>
          <a:xfrm>
            <a:off x="3383280" y="3566160"/>
            <a:ext cx="2377440" cy="54864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Can one person raise and approve the same invoice?</a:t>
            </a:r>
            <a:endParaRPr lang="en-US" sz="950" dirty="0"/>
          </a:p>
        </p:txBody>
      </p:sp>
      <p:sp>
        <p:nvSpPr>
          <p:cNvPr id="28" name="Text 26"/>
          <p:cNvSpPr txBox="1"/>
          <p:nvPr/>
        </p:nvSpPr>
        <p:spPr>
          <a:xfrm>
            <a:off x="3383280" y="4142232"/>
            <a:ext cx="2377440" cy="566928"/>
          </a:xfrm>
          <a:prstGeom prst="rect">
            <a:avLst/>
          </a:prstGeom>
          <a:noFill/>
          <a:ln/>
        </p:spPr>
        <p:txBody>
          <a:bodyPr wrap="square" lIns="0" tIns="0" rIns="0" bIns="0" rtlCol="0" anchor="t"/>
          <a:lstStyle/>
          <a:p>
            <a:pPr indent="0" marL="0">
              <a:buNone/>
            </a:pPr>
            <a:r>
              <a:rPr lang="en-US" sz="900" b="1" dirty="0">
                <a:solidFill>
                  <a:srgbClr val="2DD4BF"/>
                </a:solidFill>
                <a:latin typeface="Calibri" pitchFamily="34" charset="0"/>
                <a:ea typeface="Calibri" pitchFamily="34" charset="-122"/>
                <a:cs typeface="Calibri" pitchFamily="34" charset="-120"/>
              </a:rPr>
              <a:t>Rule: </a:t>
            </a:r>
            <a:pPr indent="0" marL="0">
              <a:buNone/>
            </a:pPr>
            <a:r>
              <a:rPr lang="en-US" sz="900" dirty="0">
                <a:solidFill>
                  <a:srgbClr val="94A3B8"/>
                </a:solidFill>
                <a:latin typeface="Calibri" pitchFamily="34" charset="0"/>
                <a:ea typeface="Calibri" pitchFamily="34" charset="-122"/>
                <a:cs typeface="Calibri" pitchFamily="34" charset="-120"/>
              </a:rPr>
              <a:t>Invoice creator is also the approver</a:t>
            </a:r>
            <a:endParaRPr lang="en-US" sz="900" dirty="0"/>
          </a:p>
        </p:txBody>
      </p:sp>
      <p:sp>
        <p:nvSpPr>
          <p:cNvPr id="29" name="Shape 27"/>
          <p:cNvSpPr/>
          <p:nvPr/>
        </p:nvSpPr>
        <p:spPr>
          <a:xfrm>
            <a:off x="6035040" y="3063240"/>
            <a:ext cx="2651760" cy="1737360"/>
          </a:xfrm>
          <a:prstGeom prst="rect">
            <a:avLst/>
          </a:prstGeom>
          <a:solidFill>
            <a:srgbClr val="1E293B"/>
          </a:solidFill>
          <a:ln w="9525">
            <a:solidFill>
              <a:srgbClr val="334155"/>
            </a:solidFill>
            <a:prstDash val="solid"/>
          </a:ln>
        </p:spPr>
      </p:sp>
      <p:sp>
        <p:nvSpPr>
          <p:cNvPr id="30" name="Text 28"/>
          <p:cNvSpPr txBox="1"/>
          <p:nvPr/>
        </p:nvSpPr>
        <p:spPr>
          <a:xfrm>
            <a:off x="6172200" y="3172968"/>
            <a:ext cx="274320" cy="274320"/>
          </a:xfrm>
          <a:prstGeom prst="rect">
            <a:avLst/>
          </a:prstGeom>
          <a:noFill/>
          <a:ln/>
        </p:spPr>
        <p:txBody>
          <a:bodyPr wrap="square" lIns="0" tIns="0" rIns="0" bIns="0" rtlCol="0" anchor="ctr"/>
          <a:lstStyle/>
          <a:p>
            <a:pPr indent="0" marL="0">
              <a:buNone/>
            </a:pPr>
            <a:r>
              <a:rPr lang="en-US" sz="1600" b="1" dirty="0">
                <a:solidFill>
                  <a:srgbClr val="2DD4BF"/>
                </a:solidFill>
                <a:latin typeface="Georgia" pitchFamily="34" charset="0"/>
                <a:ea typeface="Georgia" pitchFamily="34" charset="-122"/>
                <a:cs typeface="Georgia" pitchFamily="34" charset="-120"/>
              </a:rPr>
              <a:t>6</a:t>
            </a:r>
            <a:endParaRPr lang="en-US" sz="1600" dirty="0"/>
          </a:p>
        </p:txBody>
      </p:sp>
      <p:sp>
        <p:nvSpPr>
          <p:cNvPr id="31" name="Text 29"/>
          <p:cNvSpPr txBox="1"/>
          <p:nvPr/>
        </p:nvSpPr>
        <p:spPr>
          <a:xfrm>
            <a:off x="6492240" y="3172968"/>
            <a:ext cx="21031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After hours posting</a:t>
            </a:r>
            <a:endParaRPr lang="en-US" sz="1100" dirty="0"/>
          </a:p>
        </p:txBody>
      </p:sp>
      <p:sp>
        <p:nvSpPr>
          <p:cNvPr id="32" name="Text 30"/>
          <p:cNvSpPr txBox="1"/>
          <p:nvPr/>
        </p:nvSpPr>
        <p:spPr>
          <a:xfrm>
            <a:off x="6172200" y="3566160"/>
            <a:ext cx="2377440" cy="548640"/>
          </a:xfrm>
          <a:prstGeom prst="rect">
            <a:avLst/>
          </a:prstGeom>
          <a:noFill/>
          <a:ln/>
        </p:spPr>
        <p:txBody>
          <a:bodyPr wrap="square" lIns="0" tIns="0" rIns="0" bIns="0" rtlCol="0" anchor="t"/>
          <a:lstStyle/>
          <a:p>
            <a:pPr indent="0" marL="0">
              <a:buNone/>
            </a:pPr>
            <a:r>
              <a:rPr lang="en-US" sz="950" dirty="0">
                <a:solidFill>
                  <a:srgbClr val="E2E8F0"/>
                </a:solidFill>
                <a:latin typeface="Calibri" pitchFamily="34" charset="0"/>
                <a:ea typeface="Calibri" pitchFamily="34" charset="-122"/>
                <a:cs typeface="Calibri" pitchFamily="34" charset="-120"/>
              </a:rPr>
              <a:t>Are entries posted when no one is reviewing?</a:t>
            </a:r>
            <a:endParaRPr lang="en-US" sz="950" dirty="0"/>
          </a:p>
        </p:txBody>
      </p:sp>
      <p:sp>
        <p:nvSpPr>
          <p:cNvPr id="33" name="Text 31"/>
          <p:cNvSpPr txBox="1"/>
          <p:nvPr/>
        </p:nvSpPr>
        <p:spPr>
          <a:xfrm>
            <a:off x="6172200" y="4142232"/>
            <a:ext cx="2377440" cy="566928"/>
          </a:xfrm>
          <a:prstGeom prst="rect">
            <a:avLst/>
          </a:prstGeom>
          <a:noFill/>
          <a:ln/>
        </p:spPr>
        <p:txBody>
          <a:bodyPr wrap="square" lIns="0" tIns="0" rIns="0" bIns="0" rtlCol="0" anchor="t"/>
          <a:lstStyle/>
          <a:p>
            <a:pPr indent="0" marL="0">
              <a:buNone/>
            </a:pPr>
            <a:r>
              <a:rPr lang="en-US" sz="900" b="1" dirty="0">
                <a:solidFill>
                  <a:srgbClr val="2DD4BF"/>
                </a:solidFill>
                <a:latin typeface="Calibri" pitchFamily="34" charset="0"/>
                <a:ea typeface="Calibri" pitchFamily="34" charset="-122"/>
                <a:cs typeface="Calibri" pitchFamily="34" charset="-120"/>
              </a:rPr>
              <a:t>Rule: </a:t>
            </a:r>
            <a:pPr indent="0" marL="0">
              <a:buNone/>
            </a:pPr>
            <a:r>
              <a:rPr lang="en-US" sz="900" dirty="0">
                <a:solidFill>
                  <a:srgbClr val="94A3B8"/>
                </a:solidFill>
                <a:latin typeface="Calibri" pitchFamily="34" charset="0"/>
                <a:ea typeface="Calibri" pitchFamily="34" charset="-122"/>
                <a:cs typeface="Calibri" pitchFamily="34" charset="-120"/>
              </a:rPr>
              <a:t>Posted on a Sunday, or between 22:00 and 06:00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Problem Statement</a:t>
            </a:r>
            <a:endParaRPr lang="en-US" sz="2200" dirty="0"/>
          </a:p>
        </p:txBody>
      </p:sp>
      <p:sp>
        <p:nvSpPr>
          <p:cNvPr id="3" name="Shape 1"/>
          <p:cNvSpPr/>
          <p:nvPr/>
        </p:nvSpPr>
        <p:spPr>
          <a:xfrm>
            <a:off x="457200" y="914400"/>
            <a:ext cx="8229600" cy="1234440"/>
          </a:xfrm>
          <a:prstGeom prst="rect">
            <a:avLst/>
          </a:prstGeom>
          <a:solidFill>
            <a:srgbClr val="1E293B"/>
          </a:solidFill>
          <a:ln w="15875">
            <a:solidFill>
              <a:srgbClr val="2DD4BF"/>
            </a:solidFill>
            <a:prstDash val="solid"/>
          </a:ln>
        </p:spPr>
      </p:sp>
      <p:sp>
        <p:nvSpPr>
          <p:cNvPr id="4" name="Text 2"/>
          <p:cNvSpPr txBox="1"/>
          <p:nvPr/>
        </p:nvSpPr>
        <p:spPr>
          <a:xfrm>
            <a:off x="594360" y="1005840"/>
            <a:ext cx="795528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Core Problem</a:t>
            </a:r>
            <a:endParaRPr lang="en-US" sz="1050" dirty="0"/>
          </a:p>
        </p:txBody>
      </p:sp>
      <p:sp>
        <p:nvSpPr>
          <p:cNvPr id="5" name="Text 3"/>
          <p:cNvSpPr txBox="1"/>
          <p:nvPr/>
        </p:nvSpPr>
        <p:spPr>
          <a:xfrm>
            <a:off x="594360" y="1298448"/>
            <a:ext cx="7955280" cy="777240"/>
          </a:xfrm>
          <a:prstGeom prst="rect">
            <a:avLst/>
          </a:prstGeom>
          <a:noFill/>
          <a:ln/>
        </p:spPr>
        <p:txBody>
          <a:bodyPr wrap="square" lIns="0" tIns="0" rIns="0" bIns="0" rtlCol="0" anchor="t"/>
          <a:lstStyle/>
          <a:p>
            <a:pPr indent="0" marL="0">
              <a:spcAft>
                <a:spcPts val="300"/>
              </a:spcAft>
              <a:buNone/>
            </a:pPr>
            <a:r>
              <a:rPr lang="en-US" sz="950" dirty="0">
                <a:solidFill>
                  <a:srgbClr val="E2E8F0"/>
                </a:solidFill>
                <a:latin typeface="Calibri" pitchFamily="34" charset="0"/>
                <a:ea typeface="Calibri" pitchFamily="34" charset="-122"/>
                <a:cs typeface="Calibri" pitchFamily="34" charset="-120"/>
              </a:rPr>
              <a:t>Accounts payable controls are commonly tested on a small sample of invoices. A sample can show that a control exists, but not where it fails: a duplicate, a split invoice or a self approved payment in the untested population goes unnoticed, and each is cash that has already left the business. Without full population testing, management cannot see how often controls fail, which vendors and users are involved, or how much money is exposed.</a:t>
            </a:r>
            <a:endParaRPr lang="en-US" sz="950" dirty="0"/>
          </a:p>
        </p:txBody>
      </p:sp>
      <p:sp>
        <p:nvSpPr>
          <p:cNvPr id="6" name="Shape 4"/>
          <p:cNvSpPr/>
          <p:nvPr/>
        </p:nvSpPr>
        <p:spPr>
          <a:xfrm>
            <a:off x="457200" y="2331720"/>
            <a:ext cx="2651760" cy="2514600"/>
          </a:xfrm>
          <a:prstGeom prst="rect">
            <a:avLst/>
          </a:prstGeom>
          <a:solidFill>
            <a:srgbClr val="1E293B"/>
          </a:solidFill>
          <a:ln w="9525">
            <a:solidFill>
              <a:srgbClr val="334155"/>
            </a:solidFill>
            <a:prstDash val="solid"/>
          </a:ln>
        </p:spPr>
      </p:sp>
      <p:sp>
        <p:nvSpPr>
          <p:cNvPr id="7" name="Text 5"/>
          <p:cNvSpPr txBox="1"/>
          <p:nvPr/>
        </p:nvSpPr>
        <p:spPr>
          <a:xfrm>
            <a:off x="594360" y="2423160"/>
            <a:ext cx="237744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Objective</a:t>
            </a:r>
            <a:endParaRPr lang="en-US" sz="1050" dirty="0"/>
          </a:p>
        </p:txBody>
      </p:sp>
      <p:sp>
        <p:nvSpPr>
          <p:cNvPr id="8" name="Text 6"/>
          <p:cNvSpPr txBox="1"/>
          <p:nvPr/>
        </p:nvSpPr>
        <p:spPr>
          <a:xfrm>
            <a:off x="594360" y="2715768"/>
            <a:ext cx="2377440" cy="2057400"/>
          </a:xfrm>
          <a:prstGeom prst="rect">
            <a:avLst/>
          </a:prstGeom>
          <a:noFill/>
          <a:ln/>
        </p:spPr>
        <p:txBody>
          <a:bodyPr wrap="square" lIns="0" tIns="0" rIns="0" bIns="0" rtlCol="0" anchor="t"/>
          <a:lstStyle/>
          <a:p>
            <a:pPr indent="0" marL="0">
              <a:spcAft>
                <a:spcPts val="300"/>
              </a:spcAft>
              <a:buNone/>
            </a:pPr>
            <a:r>
              <a:rPr lang="en-US" sz="950" dirty="0">
                <a:solidFill>
                  <a:srgbClr val="E2E8F0"/>
                </a:solidFill>
                <a:latin typeface="Calibri" pitchFamily="34" charset="0"/>
                <a:ea typeface="Calibri" pitchFamily="34" charset="-122"/>
                <a:cs typeface="Calibri" pitchFamily="34" charset="-120"/>
              </a:rPr>
              <a:t>Test every invoice in the year against six P2P controls, quantify the exceptions by count and value, and identify where control failures concentrate by vendor, user and period.</a:t>
            </a:r>
            <a:endParaRPr lang="en-US" sz="950" dirty="0"/>
          </a:p>
        </p:txBody>
      </p:sp>
      <p:sp>
        <p:nvSpPr>
          <p:cNvPr id="9" name="Shape 7"/>
          <p:cNvSpPr/>
          <p:nvPr/>
        </p:nvSpPr>
        <p:spPr>
          <a:xfrm>
            <a:off x="3246120" y="2331720"/>
            <a:ext cx="2651760" cy="2514600"/>
          </a:xfrm>
          <a:prstGeom prst="rect">
            <a:avLst/>
          </a:prstGeom>
          <a:solidFill>
            <a:srgbClr val="1E293B"/>
          </a:solidFill>
          <a:ln w="9525">
            <a:solidFill>
              <a:srgbClr val="334155"/>
            </a:solidFill>
            <a:prstDash val="solid"/>
          </a:ln>
        </p:spPr>
      </p:sp>
      <p:sp>
        <p:nvSpPr>
          <p:cNvPr id="10" name="Text 8"/>
          <p:cNvSpPr txBox="1"/>
          <p:nvPr/>
        </p:nvSpPr>
        <p:spPr>
          <a:xfrm>
            <a:off x="3383280" y="2423160"/>
            <a:ext cx="237744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Research Questions</a:t>
            </a:r>
            <a:endParaRPr lang="en-US" sz="1050" dirty="0"/>
          </a:p>
        </p:txBody>
      </p:sp>
      <p:sp>
        <p:nvSpPr>
          <p:cNvPr id="11" name="Text 9"/>
          <p:cNvSpPr txBox="1"/>
          <p:nvPr/>
        </p:nvSpPr>
        <p:spPr>
          <a:xfrm>
            <a:off x="3383280" y="2715768"/>
            <a:ext cx="2377440" cy="205740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2E8F0"/>
                </a:solidFill>
                <a:latin typeface="Calibri" pitchFamily="34" charset="0"/>
                <a:ea typeface="Calibri" pitchFamily="34" charset="-122"/>
                <a:cs typeface="Calibri" pitchFamily="34" charset="-120"/>
              </a:rPr>
              <a:t>Which control fails most often, and which exposes the most value?</a:t>
            </a:r>
            <a:endParaRPr lang="en-US" sz="950" dirty="0"/>
          </a:p>
          <a:p>
            <a:pPr marL="342900" indent="-342900">
              <a:spcAft>
                <a:spcPts val="300"/>
              </a:spcAft>
              <a:buSzPct val="100000"/>
              <a:buChar char="•"/>
            </a:pPr>
            <a:r>
              <a:rPr lang="en-US" sz="950" dirty="0">
                <a:solidFill>
                  <a:srgbClr val="E2E8F0"/>
                </a:solidFill>
                <a:latin typeface="Calibri" pitchFamily="34" charset="0"/>
                <a:ea typeface="Calibri" pitchFamily="34" charset="-122"/>
                <a:cs typeface="Calibri" pitchFamily="34" charset="-120"/>
              </a:rPr>
              <a:t>Are exceptions concentrated in a few vendors or users?</a:t>
            </a:r>
            <a:endParaRPr lang="en-US" sz="950" dirty="0"/>
          </a:p>
          <a:p>
            <a:pPr marL="342900" indent="-342900">
              <a:spcAft>
                <a:spcPts val="300"/>
              </a:spcAft>
              <a:buSzPct val="100000"/>
              <a:buChar char="•"/>
            </a:pPr>
            <a:r>
              <a:rPr lang="en-US" sz="950" dirty="0">
                <a:solidFill>
                  <a:srgbClr val="E2E8F0"/>
                </a:solidFill>
                <a:latin typeface="Calibri" pitchFamily="34" charset="0"/>
                <a:ea typeface="Calibri" pitchFamily="34" charset="-122"/>
                <a:cs typeface="Calibri" pitchFamily="34" charset="-120"/>
              </a:rPr>
              <a:t>Which failures exceed performance materiality and need priority action?</a:t>
            </a:r>
            <a:endParaRPr lang="en-US" sz="950" dirty="0"/>
          </a:p>
        </p:txBody>
      </p:sp>
      <p:sp>
        <p:nvSpPr>
          <p:cNvPr id="12" name="Shape 10"/>
          <p:cNvSpPr/>
          <p:nvPr/>
        </p:nvSpPr>
        <p:spPr>
          <a:xfrm>
            <a:off x="6035040" y="2331720"/>
            <a:ext cx="2651760" cy="2514600"/>
          </a:xfrm>
          <a:prstGeom prst="rect">
            <a:avLst/>
          </a:prstGeom>
          <a:solidFill>
            <a:srgbClr val="1E293B"/>
          </a:solidFill>
          <a:ln w="9525">
            <a:solidFill>
              <a:srgbClr val="334155"/>
            </a:solidFill>
            <a:prstDash val="solid"/>
          </a:ln>
        </p:spPr>
      </p:sp>
      <p:sp>
        <p:nvSpPr>
          <p:cNvPr id="13" name="Text 11"/>
          <p:cNvSpPr txBox="1"/>
          <p:nvPr/>
        </p:nvSpPr>
        <p:spPr>
          <a:xfrm>
            <a:off x="6172200" y="2423160"/>
            <a:ext cx="237744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Expected Outcome</a:t>
            </a:r>
            <a:endParaRPr lang="en-US" sz="1050" dirty="0"/>
          </a:p>
        </p:txBody>
      </p:sp>
      <p:sp>
        <p:nvSpPr>
          <p:cNvPr id="14" name="Text 12"/>
          <p:cNvSpPr txBox="1"/>
          <p:nvPr/>
        </p:nvSpPr>
        <p:spPr>
          <a:xfrm>
            <a:off x="6172200" y="2715768"/>
            <a:ext cx="2377440" cy="2057400"/>
          </a:xfrm>
          <a:prstGeom prst="rect">
            <a:avLst/>
          </a:prstGeom>
          <a:noFill/>
          <a:ln/>
        </p:spPr>
        <p:txBody>
          <a:bodyPr wrap="square" lIns="0" tIns="0" rIns="0" bIns="0" rtlCol="0" anchor="t"/>
          <a:lstStyle/>
          <a:p>
            <a:pPr indent="0" marL="0">
              <a:spcAft>
                <a:spcPts val="300"/>
              </a:spcAft>
              <a:buNone/>
            </a:pPr>
            <a:r>
              <a:rPr lang="en-US" sz="950" dirty="0">
                <a:solidFill>
                  <a:srgbClr val="E2E8F0"/>
                </a:solidFill>
                <a:latin typeface="Calibri" pitchFamily="34" charset="0"/>
                <a:ea typeface="Calibri" pitchFamily="34" charset="-122"/>
                <a:cs typeface="Calibri" pitchFamily="34" charset="-120"/>
              </a:rPr>
              <a:t>A repeatable monitoring routine with a dashboard that drills from test summary to transaction, and a prioritised set of preventive control changes for management.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Methodology</a:t>
            </a:r>
            <a:endParaRPr lang="en-US" sz="2200" dirty="0"/>
          </a:p>
        </p:txBody>
      </p:sp>
      <p:sp>
        <p:nvSpPr>
          <p:cNvPr id="3" name="Text 1"/>
          <p:cNvSpPr txBox="1"/>
          <p:nvPr/>
        </p:nvSpPr>
        <p:spPr>
          <a:xfrm>
            <a:off x="457200" y="731520"/>
            <a:ext cx="82296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Four step analytical process in Python and Power BI Desktop</a:t>
            </a:r>
            <a:endParaRPr lang="en-US" sz="1050" dirty="0"/>
          </a:p>
        </p:txBody>
      </p:sp>
      <p:sp>
        <p:nvSpPr>
          <p:cNvPr id="4" name="Shape 2"/>
          <p:cNvSpPr/>
          <p:nvPr/>
        </p:nvSpPr>
        <p:spPr>
          <a:xfrm>
            <a:off x="457200" y="1143000"/>
            <a:ext cx="8229600" cy="694944"/>
          </a:xfrm>
          <a:prstGeom prst="rect">
            <a:avLst/>
          </a:prstGeom>
          <a:solidFill>
            <a:srgbClr val="1E293B"/>
          </a:solidFill>
          <a:ln w="9525">
            <a:solidFill>
              <a:srgbClr val="334155"/>
            </a:solidFill>
            <a:prstDash val="solid"/>
          </a:ln>
        </p:spPr>
      </p:sp>
      <p:sp>
        <p:nvSpPr>
          <p:cNvPr id="5" name="Text 3"/>
          <p:cNvSpPr txBox="1"/>
          <p:nvPr/>
        </p:nvSpPr>
        <p:spPr>
          <a:xfrm>
            <a:off x="594360" y="1234440"/>
            <a:ext cx="795528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Data Preparation</a:t>
            </a:r>
            <a:endParaRPr lang="en-US" sz="1050" dirty="0"/>
          </a:p>
        </p:txBody>
      </p:sp>
      <p:sp>
        <p:nvSpPr>
          <p:cNvPr id="6" name="Text 4"/>
          <p:cNvSpPr txBox="1"/>
          <p:nvPr/>
        </p:nvSpPr>
        <p:spPr>
          <a:xfrm>
            <a:off x="594360" y="1527048"/>
            <a:ext cx="7955280" cy="237744"/>
          </a:xfrm>
          <a:prstGeom prst="rect">
            <a:avLst/>
          </a:prstGeom>
          <a:noFill/>
          <a:ln/>
        </p:spPr>
        <p:txBody>
          <a:bodyPr wrap="square" lIns="0" tIns="0" rIns="0" bIns="0" rtlCol="0" anchor="t"/>
          <a:lstStyle/>
          <a:p>
            <a:pPr indent="0" marL="0">
              <a:spcAft>
                <a:spcPts val="300"/>
              </a:spcAft>
              <a:buNone/>
            </a:pPr>
            <a:r>
              <a:rPr lang="en-US" sz="950" dirty="0">
                <a:solidFill>
                  <a:srgbClr val="E2E8F0"/>
                </a:solidFill>
                <a:latin typeface="Calibri" pitchFamily="34" charset="0"/>
                <a:ea typeface="Calibri" pitchFamily="34" charset="-122"/>
                <a:cs typeface="Calibri" pitchFamily="34" charset="-120"/>
              </a:rPr>
              <a:t>Imported CSV into pandas → parsed dates and timestamps → checked nulls, data types and duplicate invoice IDs → normalised invoice numbers → 12,095 clean rows</a:t>
            </a:r>
            <a:endParaRPr lang="en-US" sz="950" dirty="0"/>
          </a:p>
        </p:txBody>
      </p:sp>
      <p:sp>
        <p:nvSpPr>
          <p:cNvPr id="7" name="Shape 5"/>
          <p:cNvSpPr/>
          <p:nvPr/>
        </p:nvSpPr>
        <p:spPr>
          <a:xfrm>
            <a:off x="457200" y="1929384"/>
            <a:ext cx="8229600" cy="694944"/>
          </a:xfrm>
          <a:prstGeom prst="rect">
            <a:avLst/>
          </a:prstGeom>
          <a:solidFill>
            <a:srgbClr val="1E293B"/>
          </a:solidFill>
          <a:ln w="9525">
            <a:solidFill>
              <a:srgbClr val="334155"/>
            </a:solidFill>
            <a:prstDash val="solid"/>
          </a:ln>
        </p:spPr>
      </p:sp>
      <p:sp>
        <p:nvSpPr>
          <p:cNvPr id="8" name="Text 6"/>
          <p:cNvSpPr txBox="1"/>
          <p:nvPr/>
        </p:nvSpPr>
        <p:spPr>
          <a:xfrm>
            <a:off x="594360" y="2020824"/>
            <a:ext cx="795528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Control Test Design</a:t>
            </a:r>
            <a:endParaRPr lang="en-US" sz="1050" dirty="0"/>
          </a:p>
        </p:txBody>
      </p:sp>
      <p:sp>
        <p:nvSpPr>
          <p:cNvPr id="9" name="Text 7"/>
          <p:cNvSpPr txBox="1"/>
          <p:nvPr/>
        </p:nvSpPr>
        <p:spPr>
          <a:xfrm>
            <a:off x="594360" y="2313432"/>
            <a:ext cx="7955280" cy="237744"/>
          </a:xfrm>
          <a:prstGeom prst="rect">
            <a:avLst/>
          </a:prstGeom>
          <a:noFill/>
          <a:ln/>
        </p:spPr>
        <p:txBody>
          <a:bodyPr wrap="square" lIns="0" tIns="0" rIns="0" bIns="0" rtlCol="0" anchor="t"/>
          <a:lstStyle/>
          <a:p>
            <a:pPr indent="0" marL="0">
              <a:spcAft>
                <a:spcPts val="300"/>
              </a:spcAft>
              <a:buNone/>
            </a:pPr>
            <a:r>
              <a:rPr lang="en-US" sz="950" dirty="0">
                <a:solidFill>
                  <a:srgbClr val="E2E8F0"/>
                </a:solidFill>
                <a:latin typeface="Calibri" pitchFamily="34" charset="0"/>
                <a:ea typeface="Calibri" pitchFamily="34" charset="-122"/>
                <a:cs typeface="Calibri" pitchFamily="34" charset="-120"/>
              </a:rPr>
              <a:t>Translated each control into a rule with an adjustable parameter → coded six tests in Python → one exception row per invoice per failed test, with the reason</a:t>
            </a:r>
            <a:endParaRPr lang="en-US" sz="950" dirty="0"/>
          </a:p>
        </p:txBody>
      </p:sp>
      <p:sp>
        <p:nvSpPr>
          <p:cNvPr id="10" name="Shape 8"/>
          <p:cNvSpPr/>
          <p:nvPr/>
        </p:nvSpPr>
        <p:spPr>
          <a:xfrm>
            <a:off x="457200" y="2715768"/>
            <a:ext cx="8229600" cy="694944"/>
          </a:xfrm>
          <a:prstGeom prst="rect">
            <a:avLst/>
          </a:prstGeom>
          <a:solidFill>
            <a:srgbClr val="1E293B"/>
          </a:solidFill>
          <a:ln w="9525">
            <a:solidFill>
              <a:srgbClr val="334155"/>
            </a:solidFill>
            <a:prstDash val="solid"/>
          </a:ln>
        </p:spPr>
      </p:sp>
      <p:sp>
        <p:nvSpPr>
          <p:cNvPr id="11" name="Text 9"/>
          <p:cNvSpPr txBox="1"/>
          <p:nvPr/>
        </p:nvSpPr>
        <p:spPr>
          <a:xfrm>
            <a:off x="594360" y="2807208"/>
            <a:ext cx="795528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Exception Analysis</a:t>
            </a:r>
            <a:endParaRPr lang="en-US" sz="1050" dirty="0"/>
          </a:p>
        </p:txBody>
      </p:sp>
      <p:sp>
        <p:nvSpPr>
          <p:cNvPr id="12" name="Text 10"/>
          <p:cNvSpPr txBox="1"/>
          <p:nvPr/>
        </p:nvSpPr>
        <p:spPr>
          <a:xfrm>
            <a:off x="594360" y="3099816"/>
            <a:ext cx="7955280" cy="237744"/>
          </a:xfrm>
          <a:prstGeom prst="rect">
            <a:avLst/>
          </a:prstGeom>
          <a:noFill/>
          <a:ln/>
        </p:spPr>
        <p:txBody>
          <a:bodyPr wrap="square" lIns="0" tIns="0" rIns="0" bIns="0" rtlCol="0" anchor="t"/>
          <a:lstStyle/>
          <a:p>
            <a:pPr indent="0" marL="0">
              <a:spcAft>
                <a:spcPts val="300"/>
              </a:spcAft>
              <a:buNone/>
            </a:pPr>
            <a:r>
              <a:rPr lang="en-US" sz="950" dirty="0">
                <a:solidFill>
                  <a:srgbClr val="E2E8F0"/>
                </a:solidFill>
                <a:latin typeface="Calibri" pitchFamily="34" charset="0"/>
                <a:ea typeface="Calibri" pitchFamily="34" charset="-122"/>
                <a:cs typeface="Calibri" pitchFamily="34" charset="-120"/>
              </a:rPr>
              <a:t>Counted unique exceptions and value flagged → compared each test with performance materiality of ₹92.9 lakh → identified vendor and user concentration</a:t>
            </a:r>
            <a:endParaRPr lang="en-US" sz="950" dirty="0"/>
          </a:p>
        </p:txBody>
      </p:sp>
      <p:sp>
        <p:nvSpPr>
          <p:cNvPr id="13" name="Shape 11"/>
          <p:cNvSpPr/>
          <p:nvPr/>
        </p:nvSpPr>
        <p:spPr>
          <a:xfrm>
            <a:off x="457200" y="3502152"/>
            <a:ext cx="8229600" cy="694944"/>
          </a:xfrm>
          <a:prstGeom prst="rect">
            <a:avLst/>
          </a:prstGeom>
          <a:solidFill>
            <a:srgbClr val="1E293B"/>
          </a:solidFill>
          <a:ln w="9525">
            <a:solidFill>
              <a:srgbClr val="334155"/>
            </a:solidFill>
            <a:prstDash val="solid"/>
          </a:ln>
        </p:spPr>
      </p:sp>
      <p:sp>
        <p:nvSpPr>
          <p:cNvPr id="14" name="Text 12"/>
          <p:cNvSpPr txBox="1"/>
          <p:nvPr/>
        </p:nvSpPr>
        <p:spPr>
          <a:xfrm>
            <a:off x="594360" y="3593592"/>
            <a:ext cx="795528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Visualisation &amp; Reporting</a:t>
            </a:r>
            <a:endParaRPr lang="en-US" sz="1050" dirty="0"/>
          </a:p>
        </p:txBody>
      </p:sp>
      <p:sp>
        <p:nvSpPr>
          <p:cNvPr id="15" name="Text 13"/>
          <p:cNvSpPr txBox="1"/>
          <p:nvPr/>
        </p:nvSpPr>
        <p:spPr>
          <a:xfrm>
            <a:off x="594360" y="3886200"/>
            <a:ext cx="7955280" cy="237744"/>
          </a:xfrm>
          <a:prstGeom prst="rect">
            <a:avLst/>
          </a:prstGeom>
          <a:noFill/>
          <a:ln/>
        </p:spPr>
        <p:txBody>
          <a:bodyPr wrap="square" lIns="0" tIns="0" rIns="0" bIns="0" rtlCol="0" anchor="t"/>
          <a:lstStyle/>
          <a:p>
            <a:pPr indent="0" marL="0">
              <a:spcAft>
                <a:spcPts val="300"/>
              </a:spcAft>
              <a:buNone/>
            </a:pPr>
            <a:r>
              <a:rPr lang="en-US" sz="950" dirty="0">
                <a:solidFill>
                  <a:srgbClr val="E2E8F0"/>
                </a:solidFill>
                <a:latin typeface="Calibri" pitchFamily="34" charset="0"/>
                <a:ea typeface="Calibri" pitchFamily="34" charset="-122"/>
                <a:cs typeface="Calibri" pitchFamily="34" charset="-120"/>
              </a:rPr>
              <a:t>Built a 4 page Power BI dashboard (summary, Benford, vendor risk, transaction drill-through) → wrote a findings memo in condition, criteria, cause, effect and action form</a:t>
            </a:r>
            <a:endParaRPr lang="en-US" sz="950" dirty="0"/>
          </a:p>
        </p:txBody>
      </p:sp>
      <p:sp>
        <p:nvSpPr>
          <p:cNvPr id="16" name="Shape 14"/>
          <p:cNvSpPr/>
          <p:nvPr/>
        </p:nvSpPr>
        <p:spPr>
          <a:xfrm>
            <a:off x="457200" y="4343400"/>
            <a:ext cx="8229600" cy="411480"/>
          </a:xfrm>
          <a:prstGeom prst="rect">
            <a:avLst/>
          </a:prstGeom>
          <a:solidFill>
            <a:srgbClr val="13303A"/>
          </a:solidFill>
          <a:ln w="9525">
            <a:solidFill>
              <a:srgbClr val="334155"/>
            </a:solidFill>
            <a:prstDash val="solid"/>
          </a:ln>
        </p:spPr>
      </p:sp>
      <p:sp>
        <p:nvSpPr>
          <p:cNvPr id="17" name="Text 15"/>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000" b="1" dirty="0">
                <a:solidFill>
                  <a:srgbClr val="2DD4BF"/>
                </a:solidFill>
                <a:latin typeface="Calibri" pitchFamily="34" charset="0"/>
                <a:ea typeface="Calibri" pitchFamily="34" charset="-122"/>
                <a:cs typeface="Calibri" pitchFamily="34" charset="-120"/>
              </a:rPr>
              <a:t>Tools:   </a:t>
            </a:r>
            <a:pPr indent="0" marL="0">
              <a:buNone/>
            </a:pPr>
            <a:r>
              <a:rPr lang="en-US" sz="1000" dirty="0">
                <a:solidFill>
                  <a:srgbClr val="E2E8F0"/>
                </a:solidFill>
                <a:latin typeface="Calibri" pitchFamily="34" charset="0"/>
                <a:ea typeface="Calibri" pitchFamily="34" charset="-122"/>
                <a:cs typeface="Calibri" pitchFamily="34" charset="-120"/>
              </a:rPr>
              <a:t>Python (pandas, NumPy)        Power BI Desktop (DAX, drill-through)        Excel (validation)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Key Insights</a:t>
            </a:r>
            <a:endParaRPr lang="en-US" sz="2200" dirty="0"/>
          </a:p>
        </p:txBody>
      </p:sp>
      <p:sp>
        <p:nvSpPr>
          <p:cNvPr id="3" name="Text 1"/>
          <p:cNvSpPr txBox="1"/>
          <p:nvPr/>
        </p:nvSpPr>
        <p:spPr>
          <a:xfrm>
            <a:off x="457200" y="731520"/>
            <a:ext cx="82296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Five findings from full population testing of the FY 2025-26 ledger</a:t>
            </a:r>
            <a:endParaRPr lang="en-US" sz="1050" dirty="0"/>
          </a:p>
        </p:txBody>
      </p:sp>
      <p:sp>
        <p:nvSpPr>
          <p:cNvPr id="4" name="Shape 2"/>
          <p:cNvSpPr/>
          <p:nvPr/>
        </p:nvSpPr>
        <p:spPr>
          <a:xfrm>
            <a:off x="457200" y="1097280"/>
            <a:ext cx="1947672" cy="777240"/>
          </a:xfrm>
          <a:prstGeom prst="rect">
            <a:avLst/>
          </a:prstGeom>
          <a:solidFill>
            <a:srgbClr val="1E293B"/>
          </a:solidFill>
          <a:ln w="9525">
            <a:solidFill>
              <a:srgbClr val="334155"/>
            </a:solidFill>
            <a:prstDash val="solid"/>
          </a:ln>
        </p:spPr>
      </p:sp>
      <p:sp>
        <p:nvSpPr>
          <p:cNvPr id="5" name="Text 3"/>
          <p:cNvSpPr txBox="1"/>
          <p:nvPr/>
        </p:nvSpPr>
        <p:spPr>
          <a:xfrm>
            <a:off x="566928" y="1143000"/>
            <a:ext cx="1737360" cy="4114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12,095</a:t>
            </a:r>
            <a:endParaRPr lang="en-US" sz="1900" dirty="0"/>
          </a:p>
        </p:txBody>
      </p:sp>
      <p:sp>
        <p:nvSpPr>
          <p:cNvPr id="6" name="Text 4"/>
          <p:cNvSpPr txBox="1"/>
          <p:nvPr/>
        </p:nvSpPr>
        <p:spPr>
          <a:xfrm>
            <a:off x="566928" y="1554480"/>
            <a:ext cx="178308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Invoices tested, ₹123.8 Cr</a:t>
            </a:r>
            <a:endParaRPr lang="en-US" sz="900" dirty="0"/>
          </a:p>
        </p:txBody>
      </p:sp>
      <p:sp>
        <p:nvSpPr>
          <p:cNvPr id="7" name="Shape 5"/>
          <p:cNvSpPr/>
          <p:nvPr/>
        </p:nvSpPr>
        <p:spPr>
          <a:xfrm>
            <a:off x="2542032" y="1097280"/>
            <a:ext cx="1947672" cy="777240"/>
          </a:xfrm>
          <a:prstGeom prst="rect">
            <a:avLst/>
          </a:prstGeom>
          <a:solidFill>
            <a:srgbClr val="1E293B"/>
          </a:solidFill>
          <a:ln w="9525">
            <a:solidFill>
              <a:srgbClr val="334155"/>
            </a:solidFill>
            <a:prstDash val="solid"/>
          </a:ln>
        </p:spPr>
      </p:sp>
      <p:sp>
        <p:nvSpPr>
          <p:cNvPr id="8" name="Text 6"/>
          <p:cNvSpPr txBox="1"/>
          <p:nvPr/>
        </p:nvSpPr>
        <p:spPr>
          <a:xfrm>
            <a:off x="2651760" y="1143000"/>
            <a:ext cx="1737360" cy="411480"/>
          </a:xfrm>
          <a:prstGeom prst="rect">
            <a:avLst/>
          </a:prstGeom>
          <a:noFill/>
          <a:ln/>
        </p:spPr>
        <p:txBody>
          <a:bodyPr wrap="square" lIns="0" tIns="0" rIns="0" bIns="0" rtlCol="0" anchor="ctr"/>
          <a:lstStyle/>
          <a:p>
            <a:pPr indent="0" marL="0">
              <a:buNone/>
            </a:pPr>
            <a:r>
              <a:rPr lang="en-US" sz="1900" b="1" dirty="0">
                <a:solidFill>
                  <a:srgbClr val="F87171"/>
                </a:solidFill>
                <a:latin typeface="Georgia" pitchFamily="34" charset="0"/>
                <a:ea typeface="Georgia" pitchFamily="34" charset="-122"/>
                <a:cs typeface="Georgia" pitchFamily="34" charset="-120"/>
              </a:rPr>
              <a:t>1,152</a:t>
            </a:r>
            <a:endParaRPr lang="en-US" sz="1900" dirty="0"/>
          </a:p>
        </p:txBody>
      </p:sp>
      <p:sp>
        <p:nvSpPr>
          <p:cNvPr id="9" name="Text 7"/>
          <p:cNvSpPr txBox="1"/>
          <p:nvPr/>
        </p:nvSpPr>
        <p:spPr>
          <a:xfrm>
            <a:off x="2651760" y="1554480"/>
            <a:ext cx="178308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Unique exceptions, 9.5%</a:t>
            </a:r>
            <a:endParaRPr lang="en-US" sz="900" dirty="0"/>
          </a:p>
        </p:txBody>
      </p:sp>
      <p:sp>
        <p:nvSpPr>
          <p:cNvPr id="10" name="Shape 8"/>
          <p:cNvSpPr/>
          <p:nvPr/>
        </p:nvSpPr>
        <p:spPr>
          <a:xfrm>
            <a:off x="4626864" y="1097280"/>
            <a:ext cx="1947672" cy="777240"/>
          </a:xfrm>
          <a:prstGeom prst="rect">
            <a:avLst/>
          </a:prstGeom>
          <a:solidFill>
            <a:srgbClr val="1E293B"/>
          </a:solidFill>
          <a:ln w="9525">
            <a:solidFill>
              <a:srgbClr val="334155"/>
            </a:solidFill>
            <a:prstDash val="solid"/>
          </a:ln>
        </p:spPr>
      </p:sp>
      <p:sp>
        <p:nvSpPr>
          <p:cNvPr id="11" name="Text 9"/>
          <p:cNvSpPr txBox="1"/>
          <p:nvPr/>
        </p:nvSpPr>
        <p:spPr>
          <a:xfrm>
            <a:off x="4736592" y="1143000"/>
            <a:ext cx="1737360" cy="411480"/>
          </a:xfrm>
          <a:prstGeom prst="rect">
            <a:avLst/>
          </a:prstGeom>
          <a:noFill/>
          <a:ln/>
        </p:spPr>
        <p:txBody>
          <a:bodyPr wrap="square" lIns="0" tIns="0" rIns="0" bIns="0" rtlCol="0" anchor="ctr"/>
          <a:lstStyle/>
          <a:p>
            <a:pPr indent="0" marL="0">
              <a:buNone/>
            </a:pPr>
            <a:r>
              <a:rPr lang="en-US" sz="1900" b="1" dirty="0">
                <a:solidFill>
                  <a:srgbClr val="F87171"/>
                </a:solidFill>
                <a:latin typeface="Georgia" pitchFamily="34" charset="0"/>
                <a:ea typeface="Georgia" pitchFamily="34" charset="-122"/>
                <a:cs typeface="Georgia" pitchFamily="34" charset="-120"/>
              </a:rPr>
              <a:t>₹25.5 Cr</a:t>
            </a:r>
            <a:endParaRPr lang="en-US" sz="1900" dirty="0"/>
          </a:p>
        </p:txBody>
      </p:sp>
      <p:sp>
        <p:nvSpPr>
          <p:cNvPr id="12" name="Text 10"/>
          <p:cNvSpPr txBox="1"/>
          <p:nvPr/>
        </p:nvSpPr>
        <p:spPr>
          <a:xfrm>
            <a:off x="4736592" y="1554480"/>
            <a:ext cx="178308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Value flagged, 20.6% of spend</a:t>
            </a:r>
            <a:endParaRPr lang="en-US" sz="900" dirty="0"/>
          </a:p>
        </p:txBody>
      </p:sp>
      <p:sp>
        <p:nvSpPr>
          <p:cNvPr id="13" name="Shape 11"/>
          <p:cNvSpPr/>
          <p:nvPr/>
        </p:nvSpPr>
        <p:spPr>
          <a:xfrm>
            <a:off x="6711696" y="1097280"/>
            <a:ext cx="1947672" cy="777240"/>
          </a:xfrm>
          <a:prstGeom prst="rect">
            <a:avLst/>
          </a:prstGeom>
          <a:solidFill>
            <a:srgbClr val="1E293B"/>
          </a:solidFill>
          <a:ln w="9525">
            <a:solidFill>
              <a:srgbClr val="334155"/>
            </a:solidFill>
            <a:prstDash val="solid"/>
          </a:ln>
        </p:spPr>
      </p:sp>
      <p:sp>
        <p:nvSpPr>
          <p:cNvPr id="14" name="Text 12"/>
          <p:cNvSpPr txBox="1"/>
          <p:nvPr/>
        </p:nvSpPr>
        <p:spPr>
          <a:xfrm>
            <a:off x="6821424" y="1143000"/>
            <a:ext cx="1737360" cy="41148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4 of 6</a:t>
            </a:r>
            <a:endParaRPr lang="en-US" sz="1900" dirty="0"/>
          </a:p>
        </p:txBody>
      </p:sp>
      <p:sp>
        <p:nvSpPr>
          <p:cNvPr id="15" name="Text 13"/>
          <p:cNvSpPr txBox="1"/>
          <p:nvPr/>
        </p:nvSpPr>
        <p:spPr>
          <a:xfrm>
            <a:off x="6821424" y="1554480"/>
            <a:ext cx="1783080" cy="256032"/>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Tests above performance materiality</a:t>
            </a:r>
            <a:endParaRPr lang="en-US" sz="900" dirty="0"/>
          </a:p>
        </p:txBody>
      </p:sp>
      <p:sp>
        <p:nvSpPr>
          <p:cNvPr id="16" name="Shape 14"/>
          <p:cNvSpPr/>
          <p:nvPr/>
        </p:nvSpPr>
        <p:spPr>
          <a:xfrm>
            <a:off x="457200" y="2011680"/>
            <a:ext cx="4046220" cy="914400"/>
          </a:xfrm>
          <a:prstGeom prst="rect">
            <a:avLst/>
          </a:prstGeom>
          <a:solidFill>
            <a:srgbClr val="1E293B"/>
          </a:solidFill>
          <a:ln w="9525">
            <a:solidFill>
              <a:srgbClr val="334155"/>
            </a:solidFill>
            <a:prstDash val="solid"/>
          </a:ln>
        </p:spPr>
      </p:sp>
      <p:sp>
        <p:nvSpPr>
          <p:cNvPr id="17" name="Text 15"/>
          <p:cNvSpPr txBox="1"/>
          <p:nvPr/>
        </p:nvSpPr>
        <p:spPr>
          <a:xfrm>
            <a:off x="594360" y="2103120"/>
            <a:ext cx="3771900" cy="256032"/>
          </a:xfrm>
          <a:prstGeom prst="rect">
            <a:avLst/>
          </a:prstGeom>
          <a:noFill/>
          <a:ln/>
        </p:spPr>
        <p:txBody>
          <a:bodyPr wrap="square" lIns="0" tIns="0" rIns="0" bIns="0" rtlCol="0" anchor="t"/>
          <a:lstStyle/>
          <a:p>
            <a:pPr indent="0" marL="0">
              <a:buNone/>
            </a:pPr>
            <a:r>
              <a:rPr lang="en-US" sz="1000" b="1" dirty="0">
                <a:solidFill>
                  <a:srgbClr val="2DD4BF"/>
                </a:solidFill>
                <a:latin typeface="Calibri" pitchFamily="34" charset="0"/>
                <a:ea typeface="Calibri" pitchFamily="34" charset="-122"/>
                <a:cs typeface="Calibri" pitchFamily="34" charset="-120"/>
              </a:rPr>
              <a:t>Threshold avoidance is the largest exposure</a:t>
            </a:r>
            <a:endParaRPr lang="en-US" sz="1000" dirty="0"/>
          </a:p>
        </p:txBody>
      </p:sp>
      <p:sp>
        <p:nvSpPr>
          <p:cNvPr id="18" name="Text 16"/>
          <p:cNvSpPr txBox="1"/>
          <p:nvPr/>
        </p:nvSpPr>
        <p:spPr>
          <a:xfrm>
            <a:off x="594360" y="2395728"/>
            <a:ext cx="3771900" cy="457200"/>
          </a:xfrm>
          <a:prstGeom prst="rect">
            <a:avLst/>
          </a:prstGeom>
          <a:noFill/>
          <a:ln/>
        </p:spPr>
        <p:txBody>
          <a:bodyPr wrap="square" lIns="0" tIns="0" rIns="0" bIns="0" rtlCol="0" anchor="t"/>
          <a:lstStyle/>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315 invoices worth ₹12.9 Cr: 193 sit just under the ₹5L approval limit and 122 are same day splits. Approval routing checks single invoices, not what a vendor bills in a day.</a:t>
            </a:r>
            <a:endParaRPr lang="en-US" sz="900" dirty="0"/>
          </a:p>
        </p:txBody>
      </p:sp>
      <p:sp>
        <p:nvSpPr>
          <p:cNvPr id="19" name="Shape 17"/>
          <p:cNvSpPr/>
          <p:nvPr/>
        </p:nvSpPr>
        <p:spPr>
          <a:xfrm>
            <a:off x="457200" y="2971800"/>
            <a:ext cx="4046220" cy="914400"/>
          </a:xfrm>
          <a:prstGeom prst="rect">
            <a:avLst/>
          </a:prstGeom>
          <a:solidFill>
            <a:srgbClr val="1E293B"/>
          </a:solidFill>
          <a:ln w="9525">
            <a:solidFill>
              <a:srgbClr val="334155"/>
            </a:solidFill>
            <a:prstDash val="solid"/>
          </a:ln>
        </p:spPr>
      </p:sp>
      <p:sp>
        <p:nvSpPr>
          <p:cNvPr id="20" name="Text 18"/>
          <p:cNvSpPr txBox="1"/>
          <p:nvPr/>
        </p:nvSpPr>
        <p:spPr>
          <a:xfrm>
            <a:off x="594360" y="3063240"/>
            <a:ext cx="3771900" cy="256032"/>
          </a:xfrm>
          <a:prstGeom prst="rect">
            <a:avLst/>
          </a:prstGeom>
          <a:noFill/>
          <a:ln/>
        </p:spPr>
        <p:txBody>
          <a:bodyPr wrap="square" lIns="0" tIns="0" rIns="0" bIns="0" rtlCol="0" anchor="t"/>
          <a:lstStyle/>
          <a:p>
            <a:pPr indent="0" marL="0">
              <a:buNone/>
            </a:pPr>
            <a:r>
              <a:rPr lang="en-US" sz="1000" b="1" dirty="0">
                <a:solidFill>
                  <a:srgbClr val="2DD4BF"/>
                </a:solidFill>
                <a:latin typeface="Calibri" pitchFamily="34" charset="0"/>
                <a:ea typeface="Calibri" pitchFamily="34" charset="-122"/>
                <a:cs typeface="Calibri" pitchFamily="34" charset="-120"/>
              </a:rPr>
              <a:t>Three way match failures follow closely</a:t>
            </a:r>
            <a:endParaRPr lang="en-US" sz="1000" dirty="0"/>
          </a:p>
        </p:txBody>
      </p:sp>
      <p:sp>
        <p:nvSpPr>
          <p:cNvPr id="21" name="Text 19"/>
          <p:cNvSpPr txBox="1"/>
          <p:nvPr/>
        </p:nvSpPr>
        <p:spPr>
          <a:xfrm>
            <a:off x="594360" y="3355848"/>
            <a:ext cx="3771900" cy="457200"/>
          </a:xfrm>
          <a:prstGeom prst="rect">
            <a:avLst/>
          </a:prstGeom>
          <a:noFill/>
          <a:ln/>
        </p:spPr>
        <p:txBody>
          <a:bodyPr wrap="square" lIns="0" tIns="0" rIns="0" bIns="0" rtlCol="0" anchor="t"/>
          <a:lstStyle/>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298 invoices worth ₹10.6 Cr: 145 exceed their PO by more than 5% and 153 are non PO invoices of ₹1L and above.</a:t>
            </a:r>
            <a:endParaRPr lang="en-US" sz="900" dirty="0"/>
          </a:p>
        </p:txBody>
      </p:sp>
      <p:sp>
        <p:nvSpPr>
          <p:cNvPr id="22" name="Shape 20"/>
          <p:cNvSpPr/>
          <p:nvPr/>
        </p:nvSpPr>
        <p:spPr>
          <a:xfrm>
            <a:off x="457200" y="3931920"/>
            <a:ext cx="4046220" cy="914400"/>
          </a:xfrm>
          <a:prstGeom prst="rect">
            <a:avLst/>
          </a:prstGeom>
          <a:solidFill>
            <a:srgbClr val="1E293B"/>
          </a:solidFill>
          <a:ln w="9525">
            <a:solidFill>
              <a:srgbClr val="334155"/>
            </a:solidFill>
            <a:prstDash val="solid"/>
          </a:ln>
        </p:spPr>
      </p:sp>
      <p:sp>
        <p:nvSpPr>
          <p:cNvPr id="23" name="Text 21"/>
          <p:cNvSpPr txBox="1"/>
          <p:nvPr/>
        </p:nvSpPr>
        <p:spPr>
          <a:xfrm>
            <a:off x="594360" y="4023360"/>
            <a:ext cx="3771900" cy="256032"/>
          </a:xfrm>
          <a:prstGeom prst="rect">
            <a:avLst/>
          </a:prstGeom>
          <a:noFill/>
          <a:ln/>
        </p:spPr>
        <p:txBody>
          <a:bodyPr wrap="square" lIns="0" tIns="0" rIns="0" bIns="0" rtlCol="0" anchor="t"/>
          <a:lstStyle/>
          <a:p>
            <a:pPr indent="0" marL="0">
              <a:buNone/>
            </a:pPr>
            <a:r>
              <a:rPr lang="en-US" sz="1000" b="1" dirty="0">
                <a:solidFill>
                  <a:srgbClr val="2DD4BF"/>
                </a:solidFill>
                <a:latin typeface="Calibri" pitchFamily="34" charset="0"/>
                <a:ea typeface="Calibri" pitchFamily="34" charset="-122"/>
                <a:cs typeface="Calibri" pitchFamily="34" charset="-120"/>
              </a:rPr>
              <a:t>Benford flags six vendors, three strongly</a:t>
            </a:r>
            <a:endParaRPr lang="en-US" sz="1000" dirty="0"/>
          </a:p>
        </p:txBody>
      </p:sp>
      <p:sp>
        <p:nvSpPr>
          <p:cNvPr id="24" name="Text 22"/>
          <p:cNvSpPr txBox="1"/>
          <p:nvPr/>
        </p:nvSpPr>
        <p:spPr>
          <a:xfrm>
            <a:off x="594360" y="4315968"/>
            <a:ext cx="3771900" cy="457200"/>
          </a:xfrm>
          <a:prstGeom prst="rect">
            <a:avLst/>
          </a:prstGeom>
          <a:noFill/>
          <a:ln/>
        </p:spPr>
        <p:txBody>
          <a:bodyPr wrap="square" lIns="0" tIns="0" rIns="0" bIns="0" rtlCol="0" anchor="t"/>
          <a:lstStyle/>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Apex Logistics, Summit Media and Zenith Printers have no amounts starting with 1 to 4, a typical sign of invented invoices. The other three are borderline and may be false positives.</a:t>
            </a:r>
            <a:endParaRPr lang="en-US" sz="900" dirty="0"/>
          </a:p>
        </p:txBody>
      </p:sp>
      <p:sp>
        <p:nvSpPr>
          <p:cNvPr id="25" name="Shape 23"/>
          <p:cNvSpPr/>
          <p:nvPr/>
        </p:nvSpPr>
        <p:spPr>
          <a:xfrm>
            <a:off x="4640580" y="2011680"/>
            <a:ext cx="4046220" cy="1417320"/>
          </a:xfrm>
          <a:prstGeom prst="rect">
            <a:avLst/>
          </a:prstGeom>
          <a:solidFill>
            <a:srgbClr val="1E293B"/>
          </a:solidFill>
          <a:ln w="9525">
            <a:solidFill>
              <a:srgbClr val="334155"/>
            </a:solidFill>
            <a:prstDash val="solid"/>
          </a:ln>
        </p:spPr>
      </p:sp>
      <p:sp>
        <p:nvSpPr>
          <p:cNvPr id="26" name="Text 24"/>
          <p:cNvSpPr txBox="1"/>
          <p:nvPr/>
        </p:nvSpPr>
        <p:spPr>
          <a:xfrm>
            <a:off x="4777740" y="2103120"/>
            <a:ext cx="3771900" cy="256032"/>
          </a:xfrm>
          <a:prstGeom prst="rect">
            <a:avLst/>
          </a:prstGeom>
          <a:noFill/>
          <a:ln/>
        </p:spPr>
        <p:txBody>
          <a:bodyPr wrap="square" lIns="0" tIns="0" rIns="0" bIns="0" rtlCol="0" anchor="t"/>
          <a:lstStyle/>
          <a:p>
            <a:pPr indent="0" marL="0">
              <a:buNone/>
            </a:pPr>
            <a:r>
              <a:rPr lang="en-US" sz="1000" b="1" dirty="0">
                <a:solidFill>
                  <a:srgbClr val="2DD4BF"/>
                </a:solidFill>
                <a:latin typeface="Calibri" pitchFamily="34" charset="0"/>
                <a:ea typeface="Calibri" pitchFamily="34" charset="-122"/>
                <a:cs typeface="Calibri" pitchFamily="34" charset="-120"/>
              </a:rPr>
              <a:t>Duplicates are direct cash leakage</a:t>
            </a:r>
            <a:endParaRPr lang="en-US" sz="1000" dirty="0"/>
          </a:p>
        </p:txBody>
      </p:sp>
      <p:sp>
        <p:nvSpPr>
          <p:cNvPr id="27" name="Text 25"/>
          <p:cNvSpPr txBox="1"/>
          <p:nvPr/>
        </p:nvSpPr>
        <p:spPr>
          <a:xfrm>
            <a:off x="4777740" y="2395728"/>
            <a:ext cx="3771900" cy="960120"/>
          </a:xfrm>
          <a:prstGeom prst="rect">
            <a:avLst/>
          </a:prstGeom>
          <a:noFill/>
          <a:ln/>
        </p:spPr>
        <p:txBody>
          <a:bodyPr wrap="square" lIns="0" tIns="0" rIns="0" bIns="0" rtlCol="0" anchor="t"/>
          <a:lstStyle/>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189 invoices worth ₹1.9 Cr repeat an earlier invoice. Any that were paid are recoverable losses.</a:t>
            </a:r>
            <a:endParaRPr lang="en-US" sz="900" dirty="0"/>
          </a:p>
        </p:txBody>
      </p:sp>
      <p:sp>
        <p:nvSpPr>
          <p:cNvPr id="28" name="Shape 26"/>
          <p:cNvSpPr/>
          <p:nvPr/>
        </p:nvSpPr>
        <p:spPr>
          <a:xfrm>
            <a:off x="4640580" y="3474720"/>
            <a:ext cx="4046220" cy="1417320"/>
          </a:xfrm>
          <a:prstGeom prst="rect">
            <a:avLst/>
          </a:prstGeom>
          <a:solidFill>
            <a:srgbClr val="1E293B"/>
          </a:solidFill>
          <a:ln w="9525">
            <a:solidFill>
              <a:srgbClr val="334155"/>
            </a:solidFill>
            <a:prstDash val="solid"/>
          </a:ln>
        </p:spPr>
      </p:sp>
      <p:sp>
        <p:nvSpPr>
          <p:cNvPr id="29" name="Text 27"/>
          <p:cNvSpPr txBox="1"/>
          <p:nvPr/>
        </p:nvSpPr>
        <p:spPr>
          <a:xfrm>
            <a:off x="4777740" y="3566160"/>
            <a:ext cx="3771900" cy="256032"/>
          </a:xfrm>
          <a:prstGeom prst="rect">
            <a:avLst/>
          </a:prstGeom>
          <a:noFill/>
          <a:ln/>
        </p:spPr>
        <p:txBody>
          <a:bodyPr wrap="square" lIns="0" tIns="0" rIns="0" bIns="0" rtlCol="0" anchor="t"/>
          <a:lstStyle/>
          <a:p>
            <a:pPr indent="0" marL="0">
              <a:buNone/>
            </a:pPr>
            <a:r>
              <a:rPr lang="en-US" sz="1000" b="1" dirty="0">
                <a:solidFill>
                  <a:srgbClr val="2DD4BF"/>
                </a:solidFill>
                <a:latin typeface="Calibri" pitchFamily="34" charset="0"/>
                <a:ea typeface="Calibri" pitchFamily="34" charset="-122"/>
                <a:cs typeface="Calibri" pitchFamily="34" charset="-120"/>
              </a:rPr>
              <a:t>Access and timing weaknesses</a:t>
            </a:r>
            <a:endParaRPr lang="en-US" sz="1000" dirty="0"/>
          </a:p>
        </p:txBody>
      </p:sp>
      <p:sp>
        <p:nvSpPr>
          <p:cNvPr id="30" name="Text 28"/>
          <p:cNvSpPr txBox="1"/>
          <p:nvPr/>
        </p:nvSpPr>
        <p:spPr>
          <a:xfrm>
            <a:off x="4777740" y="3858768"/>
            <a:ext cx="3771900" cy="960120"/>
          </a:xfrm>
          <a:prstGeom prst="rect">
            <a:avLst/>
          </a:prstGeom>
          <a:noFill/>
          <a:ln/>
        </p:spPr>
        <p:txBody>
          <a:bodyPr wrap="square" lIns="0" tIns="0" rIns="0" bIns="0" rtlCol="0" anchor="t"/>
          <a:lstStyle/>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94 invoices (₹82 lakh) were approved by their own creator, across all eight creators, so the workflow itself allows it. 86 were posted after hours (₹50 lakh), 36 of them on Sundays.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Business Recommendations</a:t>
            </a:r>
            <a:endParaRPr lang="en-US" sz="2200" dirty="0"/>
          </a:p>
        </p:txBody>
      </p:sp>
      <p:sp>
        <p:nvSpPr>
          <p:cNvPr id="3" name="Text 1"/>
          <p:cNvSpPr txBox="1"/>
          <p:nvPr/>
        </p:nvSpPr>
        <p:spPr>
          <a:xfrm>
            <a:off x="457200" y="731520"/>
            <a:ext cx="82296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Four control actions, prioritised by value exposed</a:t>
            </a:r>
            <a:endParaRPr lang="en-US" sz="1050" dirty="0"/>
          </a:p>
        </p:txBody>
      </p:sp>
      <p:sp>
        <p:nvSpPr>
          <p:cNvPr id="4" name="Shape 2"/>
          <p:cNvSpPr/>
          <p:nvPr/>
        </p:nvSpPr>
        <p:spPr>
          <a:xfrm>
            <a:off x="457200" y="1143000"/>
            <a:ext cx="4046220" cy="1737360"/>
          </a:xfrm>
          <a:prstGeom prst="rect">
            <a:avLst/>
          </a:prstGeom>
          <a:solidFill>
            <a:srgbClr val="1E293B"/>
          </a:solidFill>
          <a:ln w="9525">
            <a:solidFill>
              <a:srgbClr val="334155"/>
            </a:solidFill>
            <a:prstDash val="solid"/>
          </a:ln>
        </p:spPr>
      </p:sp>
      <p:sp>
        <p:nvSpPr>
          <p:cNvPr id="5" name="Text 3"/>
          <p:cNvSpPr txBox="1"/>
          <p:nvPr/>
        </p:nvSpPr>
        <p:spPr>
          <a:xfrm>
            <a:off x="594360" y="1234440"/>
            <a:ext cx="3771900" cy="256032"/>
          </a:xfrm>
          <a:prstGeom prst="rect">
            <a:avLst/>
          </a:prstGeom>
          <a:noFill/>
          <a:ln/>
        </p:spPr>
        <p:txBody>
          <a:bodyPr wrap="square" lIns="0" tIns="0" rIns="0" bIns="0" rtlCol="0" anchor="t"/>
          <a:lstStyle/>
          <a:p>
            <a:pPr indent="0" marL="0">
              <a:buNone/>
            </a:pPr>
            <a:r>
              <a:rPr lang="en-US" sz="1100" b="1" dirty="0">
                <a:solidFill>
                  <a:srgbClr val="2DD4BF"/>
                </a:solidFill>
                <a:latin typeface="Calibri" pitchFamily="34" charset="0"/>
                <a:ea typeface="Calibri" pitchFamily="34" charset="-122"/>
                <a:cs typeface="Calibri" pitchFamily="34" charset="-120"/>
              </a:rPr>
              <a:t>Preventive ERP configuration</a:t>
            </a:r>
            <a:endParaRPr lang="en-US" sz="1100" dirty="0"/>
          </a:p>
        </p:txBody>
      </p:sp>
      <p:sp>
        <p:nvSpPr>
          <p:cNvPr id="6" name="Text 4"/>
          <p:cNvSpPr txBox="1"/>
          <p:nvPr/>
        </p:nvSpPr>
        <p:spPr>
          <a:xfrm>
            <a:off x="594360" y="1527048"/>
            <a:ext cx="3771900" cy="1280160"/>
          </a:xfrm>
          <a:prstGeom prst="rect">
            <a:avLst/>
          </a:prstGeom>
          <a:noFill/>
          <a:ln/>
        </p:spPr>
        <p:txBody>
          <a:bodyPr wrap="square" lIns="0" tIns="0" rIns="0" bIns="0" rtlCol="0" anchor="t"/>
          <a:lstStyle/>
          <a:p>
            <a:pPr indent="0" marL="0">
              <a:spcAft>
                <a:spcPts val="300"/>
              </a:spcAft>
              <a:buNone/>
            </a:pPr>
            <a:r>
              <a:rPr lang="en-US" sz="1000" dirty="0">
                <a:solidFill>
                  <a:srgbClr val="E2E8F0"/>
                </a:solidFill>
                <a:latin typeface="Calibri" pitchFamily="34" charset="0"/>
                <a:ea typeface="Calibri" pitchFamily="34" charset="-122"/>
                <a:cs typeface="Calibri" pitchFamily="34" charset="-120"/>
              </a:rPr>
              <a:t>Block duplicate invoices on vendor, amount and normalised invoice number. Put a hard stop on invoices above PO tolerance and make a PO mandatory at ₹1L and above. Raise recovery claims for duplicates already paid.</a:t>
            </a:r>
            <a:endParaRPr lang="en-US" sz="1000" dirty="0"/>
          </a:p>
        </p:txBody>
      </p:sp>
      <p:sp>
        <p:nvSpPr>
          <p:cNvPr id="7" name="Shape 5"/>
          <p:cNvSpPr/>
          <p:nvPr/>
        </p:nvSpPr>
        <p:spPr>
          <a:xfrm>
            <a:off x="4640580" y="1143000"/>
            <a:ext cx="4046220" cy="1737360"/>
          </a:xfrm>
          <a:prstGeom prst="rect">
            <a:avLst/>
          </a:prstGeom>
          <a:solidFill>
            <a:srgbClr val="1E293B"/>
          </a:solidFill>
          <a:ln w="9525">
            <a:solidFill>
              <a:srgbClr val="334155"/>
            </a:solidFill>
            <a:prstDash val="solid"/>
          </a:ln>
        </p:spPr>
      </p:sp>
      <p:sp>
        <p:nvSpPr>
          <p:cNvPr id="8" name="Text 6"/>
          <p:cNvSpPr txBox="1"/>
          <p:nvPr/>
        </p:nvSpPr>
        <p:spPr>
          <a:xfrm>
            <a:off x="4777740" y="1234440"/>
            <a:ext cx="3771900" cy="256032"/>
          </a:xfrm>
          <a:prstGeom prst="rect">
            <a:avLst/>
          </a:prstGeom>
          <a:noFill/>
          <a:ln/>
        </p:spPr>
        <p:txBody>
          <a:bodyPr wrap="square" lIns="0" tIns="0" rIns="0" bIns="0" rtlCol="0" anchor="t"/>
          <a:lstStyle/>
          <a:p>
            <a:pPr indent="0" marL="0">
              <a:buNone/>
            </a:pPr>
            <a:r>
              <a:rPr lang="en-US" sz="1100" b="1" dirty="0">
                <a:solidFill>
                  <a:srgbClr val="2DD4BF"/>
                </a:solidFill>
                <a:latin typeface="Calibri" pitchFamily="34" charset="0"/>
                <a:ea typeface="Calibri" pitchFamily="34" charset="-122"/>
                <a:cs typeface="Calibri" pitchFamily="34" charset="-120"/>
              </a:rPr>
              <a:t>Approval workflow redesign</a:t>
            </a:r>
            <a:endParaRPr lang="en-US" sz="1100" dirty="0"/>
          </a:p>
        </p:txBody>
      </p:sp>
      <p:sp>
        <p:nvSpPr>
          <p:cNvPr id="9" name="Text 7"/>
          <p:cNvSpPr txBox="1"/>
          <p:nvPr/>
        </p:nvSpPr>
        <p:spPr>
          <a:xfrm>
            <a:off x="4777740" y="1527048"/>
            <a:ext cx="3771900" cy="1280160"/>
          </a:xfrm>
          <a:prstGeom prst="rect">
            <a:avLst/>
          </a:prstGeom>
          <a:noFill/>
          <a:ln/>
        </p:spPr>
        <p:txBody>
          <a:bodyPr wrap="square" lIns="0" tIns="0" rIns="0" bIns="0" rtlCol="0" anchor="t"/>
          <a:lstStyle/>
          <a:p>
            <a:pPr indent="0" marL="0">
              <a:spcAft>
                <a:spcPts val="300"/>
              </a:spcAft>
              <a:buNone/>
            </a:pPr>
            <a:r>
              <a:rPr lang="en-US" sz="1000" dirty="0">
                <a:solidFill>
                  <a:srgbClr val="E2E8F0"/>
                </a:solidFill>
                <a:latin typeface="Calibri" pitchFamily="34" charset="0"/>
                <a:ea typeface="Calibri" pitchFamily="34" charset="-122"/>
                <a:cs typeface="Calibri" pitchFamily="34" charset="-120"/>
              </a:rPr>
              <a:t>Route second approval on cumulative vendor spend per day, not per invoice. Review the purchasing pattern of vendors whose invoices cluster just below the ₹5L limit.</a:t>
            </a:r>
            <a:endParaRPr lang="en-US" sz="1000" dirty="0"/>
          </a:p>
        </p:txBody>
      </p:sp>
      <p:sp>
        <p:nvSpPr>
          <p:cNvPr id="10" name="Shape 8"/>
          <p:cNvSpPr/>
          <p:nvPr/>
        </p:nvSpPr>
        <p:spPr>
          <a:xfrm>
            <a:off x="457200" y="3017520"/>
            <a:ext cx="4046220" cy="1737360"/>
          </a:xfrm>
          <a:prstGeom prst="rect">
            <a:avLst/>
          </a:prstGeom>
          <a:solidFill>
            <a:srgbClr val="1E293B"/>
          </a:solidFill>
          <a:ln w="9525">
            <a:solidFill>
              <a:srgbClr val="334155"/>
            </a:solidFill>
            <a:prstDash val="solid"/>
          </a:ln>
        </p:spPr>
      </p:sp>
      <p:sp>
        <p:nvSpPr>
          <p:cNvPr id="11" name="Text 9"/>
          <p:cNvSpPr txBox="1"/>
          <p:nvPr/>
        </p:nvSpPr>
        <p:spPr>
          <a:xfrm>
            <a:off x="594360" y="3108960"/>
            <a:ext cx="3771900" cy="256032"/>
          </a:xfrm>
          <a:prstGeom prst="rect">
            <a:avLst/>
          </a:prstGeom>
          <a:noFill/>
          <a:ln/>
        </p:spPr>
        <p:txBody>
          <a:bodyPr wrap="square" lIns="0" tIns="0" rIns="0" bIns="0" rtlCol="0" anchor="t"/>
          <a:lstStyle/>
          <a:p>
            <a:pPr indent="0" marL="0">
              <a:buNone/>
            </a:pPr>
            <a:r>
              <a:rPr lang="en-US" sz="1100" b="1" dirty="0">
                <a:solidFill>
                  <a:srgbClr val="2DD4BF"/>
                </a:solidFill>
                <a:latin typeface="Calibri" pitchFamily="34" charset="0"/>
                <a:ea typeface="Calibri" pitchFamily="34" charset="-122"/>
                <a:cs typeface="Calibri" pitchFamily="34" charset="-120"/>
              </a:rPr>
              <a:t>Vendor and access review</a:t>
            </a:r>
            <a:endParaRPr lang="en-US" sz="1100" dirty="0"/>
          </a:p>
        </p:txBody>
      </p:sp>
      <p:sp>
        <p:nvSpPr>
          <p:cNvPr id="12" name="Text 10"/>
          <p:cNvSpPr txBox="1"/>
          <p:nvPr/>
        </p:nvSpPr>
        <p:spPr>
          <a:xfrm>
            <a:off x="594360" y="3401568"/>
            <a:ext cx="3771900" cy="1280160"/>
          </a:xfrm>
          <a:prstGeom prst="rect">
            <a:avLst/>
          </a:prstGeom>
          <a:noFill/>
          <a:ln/>
        </p:spPr>
        <p:txBody>
          <a:bodyPr wrap="square" lIns="0" tIns="0" rIns="0" bIns="0" rtlCol="0" anchor="t"/>
          <a:lstStyle/>
          <a:p>
            <a:pPr indent="0" marL="0">
              <a:spcAft>
                <a:spcPts val="300"/>
              </a:spcAft>
              <a:buNone/>
            </a:pPr>
            <a:r>
              <a:rPr lang="en-US" sz="1000" dirty="0">
                <a:solidFill>
                  <a:srgbClr val="E2E8F0"/>
                </a:solidFill>
                <a:latin typeface="Calibri" pitchFamily="34" charset="0"/>
                <a:ea typeface="Calibri" pitchFamily="34" charset="-122"/>
                <a:cs typeface="Calibri" pitchFamily="34" charset="-120"/>
              </a:rPr>
              <a:t>Obtain supporting documents and confirm receipt of goods or services for the three high risk Benford vendors. Remove creator and approver access conflicts and add a system rule that blocks self approval.</a:t>
            </a:r>
            <a:endParaRPr lang="en-US" sz="1000" dirty="0"/>
          </a:p>
        </p:txBody>
      </p:sp>
      <p:sp>
        <p:nvSpPr>
          <p:cNvPr id="13" name="Shape 11"/>
          <p:cNvSpPr/>
          <p:nvPr/>
        </p:nvSpPr>
        <p:spPr>
          <a:xfrm>
            <a:off x="4640580" y="3017520"/>
            <a:ext cx="4046220" cy="1737360"/>
          </a:xfrm>
          <a:prstGeom prst="rect">
            <a:avLst/>
          </a:prstGeom>
          <a:solidFill>
            <a:srgbClr val="1E293B"/>
          </a:solidFill>
          <a:ln w="9525">
            <a:solidFill>
              <a:srgbClr val="334155"/>
            </a:solidFill>
            <a:prstDash val="solid"/>
          </a:ln>
        </p:spPr>
      </p:sp>
      <p:sp>
        <p:nvSpPr>
          <p:cNvPr id="14" name="Text 12"/>
          <p:cNvSpPr txBox="1"/>
          <p:nvPr/>
        </p:nvSpPr>
        <p:spPr>
          <a:xfrm>
            <a:off x="4777740" y="3108960"/>
            <a:ext cx="3771900" cy="256032"/>
          </a:xfrm>
          <a:prstGeom prst="rect">
            <a:avLst/>
          </a:prstGeom>
          <a:noFill/>
          <a:ln/>
        </p:spPr>
        <p:txBody>
          <a:bodyPr wrap="square" lIns="0" tIns="0" rIns="0" bIns="0" rtlCol="0" anchor="t"/>
          <a:lstStyle/>
          <a:p>
            <a:pPr indent="0" marL="0">
              <a:buNone/>
            </a:pPr>
            <a:r>
              <a:rPr lang="en-US" sz="1100" b="1" dirty="0">
                <a:solidFill>
                  <a:srgbClr val="2DD4BF"/>
                </a:solidFill>
                <a:latin typeface="Calibri" pitchFamily="34" charset="0"/>
                <a:ea typeface="Calibri" pitchFamily="34" charset="-122"/>
                <a:cs typeface="Calibri" pitchFamily="34" charset="-120"/>
              </a:rPr>
              <a:t>Continuous monitoring cadence</a:t>
            </a:r>
            <a:endParaRPr lang="en-US" sz="1100" dirty="0"/>
          </a:p>
        </p:txBody>
      </p:sp>
      <p:sp>
        <p:nvSpPr>
          <p:cNvPr id="15" name="Text 13"/>
          <p:cNvSpPr txBox="1"/>
          <p:nvPr/>
        </p:nvSpPr>
        <p:spPr>
          <a:xfrm>
            <a:off x="4777740" y="3401568"/>
            <a:ext cx="3771900" cy="1280160"/>
          </a:xfrm>
          <a:prstGeom prst="rect">
            <a:avLst/>
          </a:prstGeom>
          <a:noFill/>
          <a:ln/>
        </p:spPr>
        <p:txBody>
          <a:bodyPr wrap="square" lIns="0" tIns="0" rIns="0" bIns="0" rtlCol="0" anchor="t"/>
          <a:lstStyle/>
          <a:p>
            <a:pPr indent="0" marL="0">
              <a:spcAft>
                <a:spcPts val="300"/>
              </a:spcAft>
              <a:buNone/>
            </a:pPr>
            <a:r>
              <a:rPr lang="en-US" sz="1000" dirty="0">
                <a:solidFill>
                  <a:srgbClr val="E2E8F0"/>
                </a:solidFill>
                <a:latin typeface="Calibri" pitchFamily="34" charset="0"/>
                <a:ea typeface="Calibri" pitchFamily="34" charset="-122"/>
                <a:cs typeface="Calibri" pitchFamily="34" charset="-120"/>
              </a:rPr>
              <a:t>Run the six tests monthly on the full population. Route every exception to an owner, record a disposition (cleared or escalated) and track closure on the dashboard.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Dashboard — Exception Overview</a:t>
            </a:r>
            <a:endParaRPr lang="en-US" sz="2200" dirty="0"/>
          </a:p>
        </p:txBody>
      </p:sp>
      <p:sp>
        <p:nvSpPr>
          <p:cNvPr id="3" name="Text 1"/>
          <p:cNvSpPr txBox="1"/>
          <p:nvPr/>
        </p:nvSpPr>
        <p:spPr>
          <a:xfrm>
            <a:off x="457200" y="731520"/>
            <a:ext cx="82296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Dashboard view  ·  Page 1 of 3</a:t>
            </a:r>
            <a:endParaRPr lang="en-US" sz="1050" dirty="0"/>
          </a:p>
        </p:txBody>
      </p:sp>
      <p:sp>
        <p:nvSpPr>
          <p:cNvPr id="4" name="Shape 2"/>
          <p:cNvSpPr/>
          <p:nvPr/>
        </p:nvSpPr>
        <p:spPr>
          <a:xfrm>
            <a:off x="274320" y="1005840"/>
            <a:ext cx="8595360" cy="3977640"/>
          </a:xfrm>
          <a:prstGeom prst="rect">
            <a:avLst/>
          </a:prstGeom>
          <a:solidFill>
            <a:srgbClr val="0B1222"/>
          </a:solidFill>
          <a:ln w="9525">
            <a:solidFill>
              <a:srgbClr val="334155"/>
            </a:solidFill>
            <a:prstDash val="solid"/>
          </a:ln>
        </p:spPr>
      </p:sp>
      <p:sp>
        <p:nvSpPr>
          <p:cNvPr id="5" name="Text 3"/>
          <p:cNvSpPr txBox="1"/>
          <p:nvPr/>
        </p:nvSpPr>
        <p:spPr>
          <a:xfrm>
            <a:off x="274320" y="1033272"/>
            <a:ext cx="8595360" cy="201168"/>
          </a:xfrm>
          <a:prstGeom prst="rect">
            <a:avLst/>
          </a:prstGeom>
          <a:noFill/>
          <a:ln/>
        </p:spPr>
        <p:txBody>
          <a:bodyPr wrap="square" lIns="0" tIns="0" rIns="0" bIns="0" rtlCol="0" anchor="ctr"/>
          <a:lstStyle/>
          <a:p>
            <a:pPr algn="ctr" indent="0" marL="0">
              <a:buNone/>
            </a:pPr>
            <a:r>
              <a:rPr lang="en-US" sz="800" b="1" spc="100" kern="0" dirty="0">
                <a:solidFill>
                  <a:srgbClr val="2DD4BF"/>
                </a:solidFill>
                <a:latin typeface="Calibri" pitchFamily="34" charset="0"/>
                <a:ea typeface="Calibri" pitchFamily="34" charset="-122"/>
                <a:cs typeface="Calibri" pitchFamily="34" charset="-120"/>
              </a:rPr>
              <a:t>CONTINUOUS CONTROLS MONITORING  ·  PROCURE TO PAY  ·  FY 2025-26</a:t>
            </a:r>
            <a:endParaRPr lang="en-US" sz="800" dirty="0"/>
          </a:p>
        </p:txBody>
      </p:sp>
      <p:sp>
        <p:nvSpPr>
          <p:cNvPr id="6" name="Shape 4"/>
          <p:cNvSpPr/>
          <p:nvPr/>
        </p:nvSpPr>
        <p:spPr>
          <a:xfrm>
            <a:off x="365760" y="1280160"/>
            <a:ext cx="995553" cy="603504"/>
          </a:xfrm>
          <a:prstGeom prst="rect">
            <a:avLst/>
          </a:prstGeom>
          <a:solidFill>
            <a:srgbClr val="1E293B"/>
          </a:solidFill>
          <a:ln w="6350">
            <a:solidFill>
              <a:srgbClr val="334155"/>
            </a:solidFill>
            <a:prstDash val="solid"/>
          </a:ln>
        </p:spPr>
      </p:sp>
      <p:sp>
        <p:nvSpPr>
          <p:cNvPr id="7" name="Text 5"/>
          <p:cNvSpPr txBox="1"/>
          <p:nvPr/>
        </p:nvSpPr>
        <p:spPr>
          <a:xfrm>
            <a:off x="420624"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Invoices tested</a:t>
            </a:r>
            <a:endParaRPr lang="en-US" sz="650" dirty="0"/>
          </a:p>
        </p:txBody>
      </p:sp>
      <p:sp>
        <p:nvSpPr>
          <p:cNvPr id="8" name="Text 6"/>
          <p:cNvSpPr txBox="1"/>
          <p:nvPr/>
        </p:nvSpPr>
        <p:spPr>
          <a:xfrm>
            <a:off x="420624" y="1453896"/>
            <a:ext cx="885825" cy="256032"/>
          </a:xfrm>
          <a:prstGeom prst="rect">
            <a:avLst/>
          </a:prstGeom>
          <a:noFill/>
          <a:ln/>
        </p:spPr>
        <p:txBody>
          <a:bodyPr wrap="square" lIns="0" tIns="0" rIns="0" bIns="0" rtlCol="0" anchor="ctr"/>
          <a:lstStyle/>
          <a:p>
            <a:pPr indent="0" marL="0">
              <a:buNone/>
            </a:pPr>
            <a:r>
              <a:rPr lang="en-US" sz="1300" b="1" dirty="0">
                <a:solidFill>
                  <a:srgbClr val="2DD4BF"/>
                </a:solidFill>
                <a:latin typeface="Calibri" pitchFamily="34" charset="0"/>
                <a:ea typeface="Calibri" pitchFamily="34" charset="-122"/>
                <a:cs typeface="Calibri" pitchFamily="34" charset="-120"/>
              </a:rPr>
              <a:t>12,095</a:t>
            </a:r>
            <a:endParaRPr lang="en-US" sz="1300" dirty="0"/>
          </a:p>
        </p:txBody>
      </p:sp>
      <p:sp>
        <p:nvSpPr>
          <p:cNvPr id="9" name="Text 7"/>
          <p:cNvSpPr txBox="1"/>
          <p:nvPr/>
        </p:nvSpPr>
        <p:spPr>
          <a:xfrm>
            <a:off x="420624"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full population</a:t>
            </a:r>
            <a:endParaRPr lang="en-US" sz="600" dirty="0"/>
          </a:p>
        </p:txBody>
      </p:sp>
      <p:sp>
        <p:nvSpPr>
          <p:cNvPr id="10" name="Shape 8"/>
          <p:cNvSpPr/>
          <p:nvPr/>
        </p:nvSpPr>
        <p:spPr>
          <a:xfrm>
            <a:off x="1425321" y="1280160"/>
            <a:ext cx="995553" cy="603504"/>
          </a:xfrm>
          <a:prstGeom prst="rect">
            <a:avLst/>
          </a:prstGeom>
          <a:solidFill>
            <a:srgbClr val="1E293B"/>
          </a:solidFill>
          <a:ln w="6350">
            <a:solidFill>
              <a:srgbClr val="334155"/>
            </a:solidFill>
            <a:prstDash val="solid"/>
          </a:ln>
        </p:spPr>
      </p:sp>
      <p:sp>
        <p:nvSpPr>
          <p:cNvPr id="11" name="Text 9"/>
          <p:cNvSpPr txBox="1"/>
          <p:nvPr/>
        </p:nvSpPr>
        <p:spPr>
          <a:xfrm>
            <a:off x="1480185"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Value tested</a:t>
            </a:r>
            <a:endParaRPr lang="en-US" sz="650" dirty="0"/>
          </a:p>
        </p:txBody>
      </p:sp>
      <p:sp>
        <p:nvSpPr>
          <p:cNvPr id="12" name="Text 10"/>
          <p:cNvSpPr txBox="1"/>
          <p:nvPr/>
        </p:nvSpPr>
        <p:spPr>
          <a:xfrm>
            <a:off x="1480185" y="1453896"/>
            <a:ext cx="885825"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₹123.8 Cr</a:t>
            </a:r>
            <a:endParaRPr lang="en-US" sz="1300" dirty="0"/>
          </a:p>
        </p:txBody>
      </p:sp>
      <p:sp>
        <p:nvSpPr>
          <p:cNvPr id="13" name="Text 11"/>
          <p:cNvSpPr txBox="1"/>
          <p:nvPr/>
        </p:nvSpPr>
        <p:spPr>
          <a:xfrm>
            <a:off x="1480185"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FY 2025-26</a:t>
            </a:r>
            <a:endParaRPr lang="en-US" sz="600" dirty="0"/>
          </a:p>
        </p:txBody>
      </p:sp>
      <p:sp>
        <p:nvSpPr>
          <p:cNvPr id="14" name="Shape 12"/>
          <p:cNvSpPr/>
          <p:nvPr/>
        </p:nvSpPr>
        <p:spPr>
          <a:xfrm>
            <a:off x="2484882" y="1280160"/>
            <a:ext cx="995553" cy="603504"/>
          </a:xfrm>
          <a:prstGeom prst="rect">
            <a:avLst/>
          </a:prstGeom>
          <a:solidFill>
            <a:srgbClr val="1E293B"/>
          </a:solidFill>
          <a:ln w="6350">
            <a:solidFill>
              <a:srgbClr val="334155"/>
            </a:solidFill>
            <a:prstDash val="solid"/>
          </a:ln>
        </p:spPr>
      </p:sp>
      <p:sp>
        <p:nvSpPr>
          <p:cNvPr id="15" name="Text 13"/>
          <p:cNvSpPr txBox="1"/>
          <p:nvPr/>
        </p:nvSpPr>
        <p:spPr>
          <a:xfrm>
            <a:off x="2539746"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Exceptions</a:t>
            </a:r>
            <a:endParaRPr lang="en-US" sz="650" dirty="0"/>
          </a:p>
        </p:txBody>
      </p:sp>
      <p:sp>
        <p:nvSpPr>
          <p:cNvPr id="16" name="Text 14"/>
          <p:cNvSpPr txBox="1"/>
          <p:nvPr/>
        </p:nvSpPr>
        <p:spPr>
          <a:xfrm>
            <a:off x="2539746" y="1453896"/>
            <a:ext cx="885825" cy="256032"/>
          </a:xfrm>
          <a:prstGeom prst="rect">
            <a:avLst/>
          </a:prstGeom>
          <a:noFill/>
          <a:ln/>
        </p:spPr>
        <p:txBody>
          <a:bodyPr wrap="square" lIns="0" tIns="0" rIns="0" bIns="0" rtlCol="0" anchor="ctr"/>
          <a:lstStyle/>
          <a:p>
            <a:pPr indent="0" marL="0">
              <a:buNone/>
            </a:pPr>
            <a:r>
              <a:rPr lang="en-US" sz="1300" b="1" dirty="0">
                <a:solidFill>
                  <a:srgbClr val="F87171"/>
                </a:solidFill>
                <a:latin typeface="Calibri" pitchFamily="34" charset="0"/>
                <a:ea typeface="Calibri" pitchFamily="34" charset="-122"/>
                <a:cs typeface="Calibri" pitchFamily="34" charset="-120"/>
              </a:rPr>
              <a:t>1,152</a:t>
            </a:r>
            <a:endParaRPr lang="en-US" sz="1300" dirty="0"/>
          </a:p>
        </p:txBody>
      </p:sp>
      <p:sp>
        <p:nvSpPr>
          <p:cNvPr id="17" name="Text 15"/>
          <p:cNvSpPr txBox="1"/>
          <p:nvPr/>
        </p:nvSpPr>
        <p:spPr>
          <a:xfrm>
            <a:off x="2539746"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unique invoices</a:t>
            </a:r>
            <a:endParaRPr lang="en-US" sz="600" dirty="0"/>
          </a:p>
        </p:txBody>
      </p:sp>
      <p:sp>
        <p:nvSpPr>
          <p:cNvPr id="18" name="Shape 16"/>
          <p:cNvSpPr/>
          <p:nvPr/>
        </p:nvSpPr>
        <p:spPr>
          <a:xfrm>
            <a:off x="3544443" y="1280160"/>
            <a:ext cx="995553" cy="603504"/>
          </a:xfrm>
          <a:prstGeom prst="rect">
            <a:avLst/>
          </a:prstGeom>
          <a:solidFill>
            <a:srgbClr val="1E293B"/>
          </a:solidFill>
          <a:ln w="6350">
            <a:solidFill>
              <a:srgbClr val="334155"/>
            </a:solidFill>
            <a:prstDash val="solid"/>
          </a:ln>
        </p:spPr>
      </p:sp>
      <p:sp>
        <p:nvSpPr>
          <p:cNvPr id="19" name="Text 17"/>
          <p:cNvSpPr txBox="1"/>
          <p:nvPr/>
        </p:nvSpPr>
        <p:spPr>
          <a:xfrm>
            <a:off x="3599307"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Value flagged</a:t>
            </a:r>
            <a:endParaRPr lang="en-US" sz="650" dirty="0"/>
          </a:p>
        </p:txBody>
      </p:sp>
      <p:sp>
        <p:nvSpPr>
          <p:cNvPr id="20" name="Text 18"/>
          <p:cNvSpPr txBox="1"/>
          <p:nvPr/>
        </p:nvSpPr>
        <p:spPr>
          <a:xfrm>
            <a:off x="3599307" y="1453896"/>
            <a:ext cx="885825" cy="256032"/>
          </a:xfrm>
          <a:prstGeom prst="rect">
            <a:avLst/>
          </a:prstGeom>
          <a:noFill/>
          <a:ln/>
        </p:spPr>
        <p:txBody>
          <a:bodyPr wrap="square" lIns="0" tIns="0" rIns="0" bIns="0" rtlCol="0" anchor="ctr"/>
          <a:lstStyle/>
          <a:p>
            <a:pPr indent="0" marL="0">
              <a:buNone/>
            </a:pPr>
            <a:r>
              <a:rPr lang="en-US" sz="1300" b="1" dirty="0">
                <a:solidFill>
                  <a:srgbClr val="F87171"/>
                </a:solidFill>
                <a:latin typeface="Calibri" pitchFamily="34" charset="0"/>
                <a:ea typeface="Calibri" pitchFamily="34" charset="-122"/>
                <a:cs typeface="Calibri" pitchFamily="34" charset="-120"/>
              </a:rPr>
              <a:t>₹25.5 Cr</a:t>
            </a:r>
            <a:endParaRPr lang="en-US" sz="1300" dirty="0"/>
          </a:p>
        </p:txBody>
      </p:sp>
      <p:sp>
        <p:nvSpPr>
          <p:cNvPr id="21" name="Text 19"/>
          <p:cNvSpPr txBox="1"/>
          <p:nvPr/>
        </p:nvSpPr>
        <p:spPr>
          <a:xfrm>
            <a:off x="3599307"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unique invoices</a:t>
            </a:r>
            <a:endParaRPr lang="en-US" sz="600" dirty="0"/>
          </a:p>
        </p:txBody>
      </p:sp>
      <p:sp>
        <p:nvSpPr>
          <p:cNvPr id="22" name="Shape 20"/>
          <p:cNvSpPr/>
          <p:nvPr/>
        </p:nvSpPr>
        <p:spPr>
          <a:xfrm>
            <a:off x="4604004" y="1280160"/>
            <a:ext cx="995553" cy="603504"/>
          </a:xfrm>
          <a:prstGeom prst="rect">
            <a:avLst/>
          </a:prstGeom>
          <a:solidFill>
            <a:srgbClr val="1E293B"/>
          </a:solidFill>
          <a:ln w="6350">
            <a:solidFill>
              <a:srgbClr val="334155"/>
            </a:solidFill>
            <a:prstDash val="solid"/>
          </a:ln>
        </p:spPr>
      </p:sp>
      <p:sp>
        <p:nvSpPr>
          <p:cNvPr id="23" name="Text 21"/>
          <p:cNvSpPr txBox="1"/>
          <p:nvPr/>
        </p:nvSpPr>
        <p:spPr>
          <a:xfrm>
            <a:off x="4658868"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Exception rate</a:t>
            </a:r>
            <a:endParaRPr lang="en-US" sz="650" dirty="0"/>
          </a:p>
        </p:txBody>
      </p:sp>
      <p:sp>
        <p:nvSpPr>
          <p:cNvPr id="24" name="Text 22"/>
          <p:cNvSpPr txBox="1"/>
          <p:nvPr/>
        </p:nvSpPr>
        <p:spPr>
          <a:xfrm>
            <a:off x="4658868" y="1453896"/>
            <a:ext cx="885825" cy="256032"/>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9.5%</a:t>
            </a:r>
            <a:endParaRPr lang="en-US" sz="1300" dirty="0"/>
          </a:p>
        </p:txBody>
      </p:sp>
      <p:sp>
        <p:nvSpPr>
          <p:cNvPr id="25" name="Text 23"/>
          <p:cNvSpPr txBox="1"/>
          <p:nvPr/>
        </p:nvSpPr>
        <p:spPr>
          <a:xfrm>
            <a:off x="4658868"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of invoices</a:t>
            </a:r>
            <a:endParaRPr lang="en-US" sz="600" dirty="0"/>
          </a:p>
        </p:txBody>
      </p:sp>
      <p:sp>
        <p:nvSpPr>
          <p:cNvPr id="26" name="Shape 24"/>
          <p:cNvSpPr/>
          <p:nvPr/>
        </p:nvSpPr>
        <p:spPr>
          <a:xfrm>
            <a:off x="5663565" y="1280160"/>
            <a:ext cx="995553" cy="603504"/>
          </a:xfrm>
          <a:prstGeom prst="rect">
            <a:avLst/>
          </a:prstGeom>
          <a:solidFill>
            <a:srgbClr val="1E293B"/>
          </a:solidFill>
          <a:ln w="6350">
            <a:solidFill>
              <a:srgbClr val="334155"/>
            </a:solidFill>
            <a:prstDash val="solid"/>
          </a:ln>
        </p:spPr>
      </p:sp>
      <p:sp>
        <p:nvSpPr>
          <p:cNvPr id="27" name="Text 25"/>
          <p:cNvSpPr txBox="1"/>
          <p:nvPr/>
        </p:nvSpPr>
        <p:spPr>
          <a:xfrm>
            <a:off x="5718429"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Value at risk</a:t>
            </a:r>
            <a:endParaRPr lang="en-US" sz="650" dirty="0"/>
          </a:p>
        </p:txBody>
      </p:sp>
      <p:sp>
        <p:nvSpPr>
          <p:cNvPr id="28" name="Text 26"/>
          <p:cNvSpPr txBox="1"/>
          <p:nvPr/>
        </p:nvSpPr>
        <p:spPr>
          <a:xfrm>
            <a:off x="5718429" y="1453896"/>
            <a:ext cx="885825" cy="256032"/>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20.6%</a:t>
            </a:r>
            <a:endParaRPr lang="en-US" sz="1300" dirty="0"/>
          </a:p>
        </p:txBody>
      </p:sp>
      <p:sp>
        <p:nvSpPr>
          <p:cNvPr id="29" name="Text 27"/>
          <p:cNvSpPr txBox="1"/>
          <p:nvPr/>
        </p:nvSpPr>
        <p:spPr>
          <a:xfrm>
            <a:off x="5718429"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of spend</a:t>
            </a:r>
            <a:endParaRPr lang="en-US" sz="600" dirty="0"/>
          </a:p>
        </p:txBody>
      </p:sp>
      <p:sp>
        <p:nvSpPr>
          <p:cNvPr id="30" name="Shape 28"/>
          <p:cNvSpPr/>
          <p:nvPr/>
        </p:nvSpPr>
        <p:spPr>
          <a:xfrm>
            <a:off x="6723126" y="1280160"/>
            <a:ext cx="995553" cy="603504"/>
          </a:xfrm>
          <a:prstGeom prst="rect">
            <a:avLst/>
          </a:prstGeom>
          <a:solidFill>
            <a:srgbClr val="1E293B"/>
          </a:solidFill>
          <a:ln w="6350">
            <a:solidFill>
              <a:srgbClr val="334155"/>
            </a:solidFill>
            <a:prstDash val="solid"/>
          </a:ln>
        </p:spPr>
      </p:sp>
      <p:sp>
        <p:nvSpPr>
          <p:cNvPr id="31" name="Text 29"/>
          <p:cNvSpPr txBox="1"/>
          <p:nvPr/>
        </p:nvSpPr>
        <p:spPr>
          <a:xfrm>
            <a:off x="6777990"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Vendors flagged</a:t>
            </a:r>
            <a:endParaRPr lang="en-US" sz="650" dirty="0"/>
          </a:p>
        </p:txBody>
      </p:sp>
      <p:sp>
        <p:nvSpPr>
          <p:cNvPr id="32" name="Text 30"/>
          <p:cNvSpPr txBox="1"/>
          <p:nvPr/>
        </p:nvSpPr>
        <p:spPr>
          <a:xfrm>
            <a:off x="6777990" y="1453896"/>
            <a:ext cx="885825"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138</a:t>
            </a:r>
            <a:endParaRPr lang="en-US" sz="1300" dirty="0"/>
          </a:p>
        </p:txBody>
      </p:sp>
      <p:sp>
        <p:nvSpPr>
          <p:cNvPr id="33" name="Text 31"/>
          <p:cNvSpPr txBox="1"/>
          <p:nvPr/>
        </p:nvSpPr>
        <p:spPr>
          <a:xfrm>
            <a:off x="6777990"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of 150 vendors</a:t>
            </a:r>
            <a:endParaRPr lang="en-US" sz="600" dirty="0"/>
          </a:p>
        </p:txBody>
      </p:sp>
      <p:sp>
        <p:nvSpPr>
          <p:cNvPr id="34" name="Shape 32"/>
          <p:cNvSpPr/>
          <p:nvPr/>
        </p:nvSpPr>
        <p:spPr>
          <a:xfrm>
            <a:off x="7782687" y="1280160"/>
            <a:ext cx="995553" cy="603504"/>
          </a:xfrm>
          <a:prstGeom prst="rect">
            <a:avLst/>
          </a:prstGeom>
          <a:solidFill>
            <a:srgbClr val="1E293B"/>
          </a:solidFill>
          <a:ln w="6350">
            <a:solidFill>
              <a:srgbClr val="334155"/>
            </a:solidFill>
            <a:prstDash val="solid"/>
          </a:ln>
        </p:spPr>
      </p:sp>
      <p:sp>
        <p:nvSpPr>
          <p:cNvPr id="35" name="Text 33"/>
          <p:cNvSpPr txBox="1"/>
          <p:nvPr/>
        </p:nvSpPr>
        <p:spPr>
          <a:xfrm>
            <a:off x="7837551"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Tests above PM</a:t>
            </a:r>
            <a:endParaRPr lang="en-US" sz="650" dirty="0"/>
          </a:p>
        </p:txBody>
      </p:sp>
      <p:sp>
        <p:nvSpPr>
          <p:cNvPr id="36" name="Text 34"/>
          <p:cNvSpPr txBox="1"/>
          <p:nvPr/>
        </p:nvSpPr>
        <p:spPr>
          <a:xfrm>
            <a:off x="7837551" y="1453896"/>
            <a:ext cx="885825" cy="256032"/>
          </a:xfrm>
          <a:prstGeom prst="rect">
            <a:avLst/>
          </a:prstGeom>
          <a:noFill/>
          <a:ln/>
        </p:spPr>
        <p:txBody>
          <a:bodyPr wrap="square" lIns="0" tIns="0" rIns="0" bIns="0" rtlCol="0" anchor="ctr"/>
          <a:lstStyle/>
          <a:p>
            <a:pPr indent="0" marL="0">
              <a:buNone/>
            </a:pPr>
            <a:r>
              <a:rPr lang="en-US" sz="1300" b="1" dirty="0">
                <a:solidFill>
                  <a:srgbClr val="F87171"/>
                </a:solidFill>
                <a:latin typeface="Calibri" pitchFamily="34" charset="0"/>
                <a:ea typeface="Calibri" pitchFamily="34" charset="-122"/>
                <a:cs typeface="Calibri" pitchFamily="34" charset="-120"/>
              </a:rPr>
              <a:t>4 of 6</a:t>
            </a:r>
            <a:endParaRPr lang="en-US" sz="1300" dirty="0"/>
          </a:p>
        </p:txBody>
      </p:sp>
      <p:sp>
        <p:nvSpPr>
          <p:cNvPr id="37" name="Text 35"/>
          <p:cNvSpPr txBox="1"/>
          <p:nvPr/>
        </p:nvSpPr>
        <p:spPr>
          <a:xfrm>
            <a:off x="7837551"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PM ₹92.9 lakh</a:t>
            </a:r>
            <a:endParaRPr lang="en-US" sz="600" dirty="0"/>
          </a:p>
        </p:txBody>
      </p:sp>
      <p:sp>
        <p:nvSpPr>
          <p:cNvPr id="38" name="Shape 36"/>
          <p:cNvSpPr/>
          <p:nvPr/>
        </p:nvSpPr>
        <p:spPr>
          <a:xfrm>
            <a:off x="365760" y="1956816"/>
            <a:ext cx="4137660" cy="1444752"/>
          </a:xfrm>
          <a:prstGeom prst="rect">
            <a:avLst/>
          </a:prstGeom>
          <a:solidFill>
            <a:srgbClr val="1E293B"/>
          </a:solidFill>
          <a:ln w="6350">
            <a:solidFill>
              <a:srgbClr val="334155"/>
            </a:solidFill>
            <a:prstDash val="solid"/>
          </a:ln>
        </p:spPr>
      </p:sp>
      <p:sp>
        <p:nvSpPr>
          <p:cNvPr id="39" name="Shape 37"/>
          <p:cNvSpPr/>
          <p:nvPr/>
        </p:nvSpPr>
        <p:spPr>
          <a:xfrm>
            <a:off x="4640580" y="1956816"/>
            <a:ext cx="4137660" cy="1444752"/>
          </a:xfrm>
          <a:prstGeom prst="rect">
            <a:avLst/>
          </a:prstGeom>
          <a:solidFill>
            <a:srgbClr val="1E293B"/>
          </a:solidFill>
          <a:ln w="6350">
            <a:solidFill>
              <a:srgbClr val="334155"/>
            </a:solidFill>
            <a:prstDash val="solid"/>
          </a:ln>
        </p:spPr>
      </p:sp>
      <p:sp>
        <p:nvSpPr>
          <p:cNvPr id="40" name="Shape 38"/>
          <p:cNvSpPr/>
          <p:nvPr/>
        </p:nvSpPr>
        <p:spPr>
          <a:xfrm>
            <a:off x="365760" y="3474720"/>
            <a:ext cx="4137660" cy="1444752"/>
          </a:xfrm>
          <a:prstGeom prst="rect">
            <a:avLst/>
          </a:prstGeom>
          <a:solidFill>
            <a:srgbClr val="1E293B"/>
          </a:solidFill>
          <a:ln w="6350">
            <a:solidFill>
              <a:srgbClr val="334155"/>
            </a:solidFill>
            <a:prstDash val="solid"/>
          </a:ln>
        </p:spPr>
      </p:sp>
      <p:sp>
        <p:nvSpPr>
          <p:cNvPr id="41" name="Shape 39"/>
          <p:cNvSpPr/>
          <p:nvPr/>
        </p:nvSpPr>
        <p:spPr>
          <a:xfrm>
            <a:off x="4640580" y="3474720"/>
            <a:ext cx="4137660" cy="1444752"/>
          </a:xfrm>
          <a:prstGeom prst="rect">
            <a:avLst/>
          </a:prstGeom>
          <a:solidFill>
            <a:srgbClr val="1E293B"/>
          </a:solidFill>
          <a:ln w="6350">
            <a:solidFill>
              <a:srgbClr val="334155"/>
            </a:solidFill>
            <a:prstDash val="solid"/>
          </a:ln>
        </p:spPr>
      </p:sp>
      <p:graphicFrame>
        <p:nvGraphicFramePr>
          <p:cNvPr id="42" name="Chart 0" descr=""/>
          <p:cNvGraphicFramePr/>
          <p:nvPr/>
        </p:nvGraphicFramePr>
        <p:xfrm>
          <a:off x="365760" y="1956816"/>
          <a:ext cx="4137660" cy="1444752"/>
        </p:xfrm>
        <a:graphic xmlns:a="http://schemas.openxmlformats.org/drawingml/2006/main">
          <a:graphicData uri="http://schemas.openxmlformats.org/drawingml/2006/chart">
            <c:chart xmlns:c="http://schemas.openxmlformats.org/drawingml/2006/chart" r:id="rId1"/>
          </a:graphicData>
        </a:graphic>
      </p:graphicFrame>
      <p:graphicFrame>
        <p:nvGraphicFramePr>
          <p:cNvPr id="43" name="Chart 1" descr=""/>
          <p:cNvGraphicFramePr/>
          <p:nvPr/>
        </p:nvGraphicFramePr>
        <p:xfrm>
          <a:off x="4640580" y="1956816"/>
          <a:ext cx="4137660" cy="1444752"/>
        </p:xfrm>
        <a:graphic xmlns:a="http://schemas.openxmlformats.org/drawingml/2006/main">
          <a:graphicData uri="http://schemas.openxmlformats.org/drawingml/2006/chart">
            <c:chart xmlns:c="http://schemas.openxmlformats.org/drawingml/2006/chart" r:id="rId2"/>
          </a:graphicData>
        </a:graphic>
      </p:graphicFrame>
      <p:graphicFrame>
        <p:nvGraphicFramePr>
          <p:cNvPr id="44" name="Chart 2" descr=""/>
          <p:cNvGraphicFramePr/>
          <p:nvPr/>
        </p:nvGraphicFramePr>
        <p:xfrm>
          <a:off x="365760" y="3474720"/>
          <a:ext cx="4137660" cy="1444752"/>
        </p:xfrm>
        <a:graphic xmlns:a="http://schemas.openxmlformats.org/drawingml/2006/main">
          <a:graphicData uri="http://schemas.openxmlformats.org/drawingml/2006/chart">
            <c:chart xmlns:c="http://schemas.openxmlformats.org/drawingml/2006/chart" r:id="rId3"/>
          </a:graphicData>
        </a:graphic>
      </p:graphicFrame>
      <p:graphicFrame>
        <p:nvGraphicFramePr>
          <p:cNvPr id="45" name="Chart 3" descr=""/>
          <p:cNvGraphicFramePr/>
          <p:nvPr/>
        </p:nvGraphicFramePr>
        <p:xfrm>
          <a:off x="4640580" y="3474720"/>
          <a:ext cx="4137660" cy="1444752"/>
        </p:xfrm>
        <a:graphic xmlns:a="http://schemas.openxmlformats.org/drawingml/2006/main">
          <a:graphicData uri="http://schemas.openxmlformats.org/drawingml/2006/chart">
            <c:chart xmlns:c="http://schemas.openxmlformats.org/drawingml/2006/chart" r:id="rId4"/>
          </a:graphicData>
        </a:graphic>
      </p:graphicFrame>
      <p:sp>
        <p:nvSpPr>
          <p:cNvPr id="46" name="Text 40"/>
          <p:cNvSpPr txBox="1"/>
          <p:nvPr/>
        </p:nvSpPr>
        <p:spPr>
          <a:xfrm>
            <a:off x="274320" y="4983480"/>
            <a:ext cx="8595360" cy="146304"/>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Two tests carry most of the value  ·  Exceptions recur every month  ·  Travel and IT services have the highest share of spend flagged</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Dashboard — Test Analytics</a:t>
            </a:r>
            <a:endParaRPr lang="en-US" sz="2200" dirty="0"/>
          </a:p>
        </p:txBody>
      </p:sp>
      <p:sp>
        <p:nvSpPr>
          <p:cNvPr id="3" name="Text 1"/>
          <p:cNvSpPr txBox="1"/>
          <p:nvPr/>
        </p:nvSpPr>
        <p:spPr>
          <a:xfrm>
            <a:off x="457200" y="731520"/>
            <a:ext cx="82296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Dashboard view  ·  Page 2 of 3</a:t>
            </a:r>
            <a:endParaRPr lang="en-US" sz="1050" dirty="0"/>
          </a:p>
        </p:txBody>
      </p:sp>
      <p:sp>
        <p:nvSpPr>
          <p:cNvPr id="4" name="Shape 2"/>
          <p:cNvSpPr/>
          <p:nvPr/>
        </p:nvSpPr>
        <p:spPr>
          <a:xfrm>
            <a:off x="274320" y="1005840"/>
            <a:ext cx="8595360" cy="3977640"/>
          </a:xfrm>
          <a:prstGeom prst="rect">
            <a:avLst/>
          </a:prstGeom>
          <a:solidFill>
            <a:srgbClr val="0B1222"/>
          </a:solidFill>
          <a:ln w="9525">
            <a:solidFill>
              <a:srgbClr val="334155"/>
            </a:solidFill>
            <a:prstDash val="solid"/>
          </a:ln>
        </p:spPr>
      </p:sp>
      <p:sp>
        <p:nvSpPr>
          <p:cNvPr id="5" name="Text 3"/>
          <p:cNvSpPr txBox="1"/>
          <p:nvPr/>
        </p:nvSpPr>
        <p:spPr>
          <a:xfrm>
            <a:off x="274320" y="1033272"/>
            <a:ext cx="8595360" cy="201168"/>
          </a:xfrm>
          <a:prstGeom prst="rect">
            <a:avLst/>
          </a:prstGeom>
          <a:noFill/>
          <a:ln/>
        </p:spPr>
        <p:txBody>
          <a:bodyPr wrap="square" lIns="0" tIns="0" rIns="0" bIns="0" rtlCol="0" anchor="ctr"/>
          <a:lstStyle/>
          <a:p>
            <a:pPr algn="ctr" indent="0" marL="0">
              <a:buNone/>
            </a:pPr>
            <a:r>
              <a:rPr lang="en-US" sz="800" b="1" spc="100" kern="0" dirty="0">
                <a:solidFill>
                  <a:srgbClr val="2DD4BF"/>
                </a:solidFill>
                <a:latin typeface="Calibri" pitchFamily="34" charset="0"/>
                <a:ea typeface="Calibri" pitchFamily="34" charset="-122"/>
                <a:cs typeface="Calibri" pitchFamily="34" charset="-120"/>
              </a:rPr>
              <a:t>CONTINUOUS CONTROLS MONITORING  ·  PROCURE TO PAY  ·  FY 2025-26</a:t>
            </a:r>
            <a:endParaRPr lang="en-US" sz="800" dirty="0"/>
          </a:p>
        </p:txBody>
      </p:sp>
      <p:sp>
        <p:nvSpPr>
          <p:cNvPr id="6" name="Shape 4"/>
          <p:cNvSpPr/>
          <p:nvPr/>
        </p:nvSpPr>
        <p:spPr>
          <a:xfrm>
            <a:off x="365760" y="1280160"/>
            <a:ext cx="995553" cy="603504"/>
          </a:xfrm>
          <a:prstGeom prst="rect">
            <a:avLst/>
          </a:prstGeom>
          <a:solidFill>
            <a:srgbClr val="1E293B"/>
          </a:solidFill>
          <a:ln w="6350">
            <a:solidFill>
              <a:srgbClr val="334155"/>
            </a:solidFill>
            <a:prstDash val="solid"/>
          </a:ln>
        </p:spPr>
      </p:sp>
      <p:sp>
        <p:nvSpPr>
          <p:cNvPr id="7" name="Text 5"/>
          <p:cNvSpPr txBox="1"/>
          <p:nvPr/>
        </p:nvSpPr>
        <p:spPr>
          <a:xfrm>
            <a:off x="420624"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Duplicate invoices</a:t>
            </a:r>
            <a:endParaRPr lang="en-US" sz="650" dirty="0"/>
          </a:p>
        </p:txBody>
      </p:sp>
      <p:sp>
        <p:nvSpPr>
          <p:cNvPr id="8" name="Text 6"/>
          <p:cNvSpPr txBox="1"/>
          <p:nvPr/>
        </p:nvSpPr>
        <p:spPr>
          <a:xfrm>
            <a:off x="420624" y="1453896"/>
            <a:ext cx="885825" cy="256032"/>
          </a:xfrm>
          <a:prstGeom prst="rect">
            <a:avLst/>
          </a:prstGeom>
          <a:noFill/>
          <a:ln/>
        </p:spPr>
        <p:txBody>
          <a:bodyPr wrap="square" lIns="0" tIns="0" rIns="0" bIns="0" rtlCol="0" anchor="ctr"/>
          <a:lstStyle/>
          <a:p>
            <a:pPr indent="0" marL="0">
              <a:buNone/>
            </a:pPr>
            <a:r>
              <a:rPr lang="en-US" sz="1300" b="1" dirty="0">
                <a:solidFill>
                  <a:srgbClr val="F87171"/>
                </a:solidFill>
                <a:latin typeface="Calibri" pitchFamily="34" charset="0"/>
                <a:ea typeface="Calibri" pitchFamily="34" charset="-122"/>
                <a:cs typeface="Calibri" pitchFamily="34" charset="-120"/>
              </a:rPr>
              <a:t>189</a:t>
            </a:r>
            <a:endParaRPr lang="en-US" sz="1300" dirty="0"/>
          </a:p>
        </p:txBody>
      </p:sp>
      <p:sp>
        <p:nvSpPr>
          <p:cNvPr id="9" name="Text 7"/>
          <p:cNvSpPr txBox="1"/>
          <p:nvPr/>
        </p:nvSpPr>
        <p:spPr>
          <a:xfrm>
            <a:off x="420624"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₹1.94 Cr to recover</a:t>
            </a:r>
            <a:endParaRPr lang="en-US" sz="600" dirty="0"/>
          </a:p>
        </p:txBody>
      </p:sp>
      <p:sp>
        <p:nvSpPr>
          <p:cNvPr id="10" name="Shape 8"/>
          <p:cNvSpPr/>
          <p:nvPr/>
        </p:nvSpPr>
        <p:spPr>
          <a:xfrm>
            <a:off x="1425321" y="1280160"/>
            <a:ext cx="995553" cy="603504"/>
          </a:xfrm>
          <a:prstGeom prst="rect">
            <a:avLst/>
          </a:prstGeom>
          <a:solidFill>
            <a:srgbClr val="1E293B"/>
          </a:solidFill>
          <a:ln w="6350">
            <a:solidFill>
              <a:srgbClr val="334155"/>
            </a:solidFill>
            <a:prstDash val="solid"/>
          </a:ln>
        </p:spPr>
      </p:sp>
      <p:sp>
        <p:nvSpPr>
          <p:cNvPr id="11" name="Text 9"/>
          <p:cNvSpPr txBox="1"/>
          <p:nvPr/>
        </p:nvSpPr>
        <p:spPr>
          <a:xfrm>
            <a:off x="1480185"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Just under limit</a:t>
            </a:r>
            <a:endParaRPr lang="en-US" sz="650" dirty="0"/>
          </a:p>
        </p:txBody>
      </p:sp>
      <p:sp>
        <p:nvSpPr>
          <p:cNvPr id="12" name="Text 10"/>
          <p:cNvSpPr txBox="1"/>
          <p:nvPr/>
        </p:nvSpPr>
        <p:spPr>
          <a:xfrm>
            <a:off x="1480185" y="1453896"/>
            <a:ext cx="885825" cy="256032"/>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193</a:t>
            </a:r>
            <a:endParaRPr lang="en-US" sz="1300" dirty="0"/>
          </a:p>
        </p:txBody>
      </p:sp>
      <p:sp>
        <p:nvSpPr>
          <p:cNvPr id="13" name="Text 11"/>
          <p:cNvSpPr txBox="1"/>
          <p:nvPr/>
        </p:nvSpPr>
        <p:spPr>
          <a:xfrm>
            <a:off x="1480185"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₹4.5L to ₹5L</a:t>
            </a:r>
            <a:endParaRPr lang="en-US" sz="600" dirty="0"/>
          </a:p>
        </p:txBody>
      </p:sp>
      <p:sp>
        <p:nvSpPr>
          <p:cNvPr id="14" name="Shape 12"/>
          <p:cNvSpPr/>
          <p:nvPr/>
        </p:nvSpPr>
        <p:spPr>
          <a:xfrm>
            <a:off x="2484882" y="1280160"/>
            <a:ext cx="995553" cy="603504"/>
          </a:xfrm>
          <a:prstGeom prst="rect">
            <a:avLst/>
          </a:prstGeom>
          <a:solidFill>
            <a:srgbClr val="1E293B"/>
          </a:solidFill>
          <a:ln w="6350">
            <a:solidFill>
              <a:srgbClr val="334155"/>
            </a:solidFill>
            <a:prstDash val="solid"/>
          </a:ln>
        </p:spPr>
      </p:sp>
      <p:sp>
        <p:nvSpPr>
          <p:cNvPr id="15" name="Text 13"/>
          <p:cNvSpPr txBox="1"/>
          <p:nvPr/>
        </p:nvSpPr>
        <p:spPr>
          <a:xfrm>
            <a:off x="2539746"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Same day splits</a:t>
            </a:r>
            <a:endParaRPr lang="en-US" sz="650" dirty="0"/>
          </a:p>
        </p:txBody>
      </p:sp>
      <p:sp>
        <p:nvSpPr>
          <p:cNvPr id="16" name="Text 14"/>
          <p:cNvSpPr txBox="1"/>
          <p:nvPr/>
        </p:nvSpPr>
        <p:spPr>
          <a:xfrm>
            <a:off x="2539746" y="1453896"/>
            <a:ext cx="885825" cy="256032"/>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122</a:t>
            </a:r>
            <a:endParaRPr lang="en-US" sz="1300" dirty="0"/>
          </a:p>
        </p:txBody>
      </p:sp>
      <p:sp>
        <p:nvSpPr>
          <p:cNvPr id="17" name="Text 15"/>
          <p:cNvSpPr txBox="1"/>
          <p:nvPr/>
        </p:nvSpPr>
        <p:spPr>
          <a:xfrm>
            <a:off x="2539746"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invoices</a:t>
            </a:r>
            <a:endParaRPr lang="en-US" sz="600" dirty="0"/>
          </a:p>
        </p:txBody>
      </p:sp>
      <p:sp>
        <p:nvSpPr>
          <p:cNvPr id="18" name="Shape 16"/>
          <p:cNvSpPr/>
          <p:nvPr/>
        </p:nvSpPr>
        <p:spPr>
          <a:xfrm>
            <a:off x="3544443" y="1280160"/>
            <a:ext cx="995553" cy="603504"/>
          </a:xfrm>
          <a:prstGeom prst="rect">
            <a:avLst/>
          </a:prstGeom>
          <a:solidFill>
            <a:srgbClr val="1E293B"/>
          </a:solidFill>
          <a:ln w="6350">
            <a:solidFill>
              <a:srgbClr val="334155"/>
            </a:solidFill>
            <a:prstDash val="solid"/>
          </a:ln>
        </p:spPr>
      </p:sp>
      <p:sp>
        <p:nvSpPr>
          <p:cNvPr id="19" name="Text 17"/>
          <p:cNvSpPr txBox="1"/>
          <p:nvPr/>
        </p:nvSpPr>
        <p:spPr>
          <a:xfrm>
            <a:off x="3599307"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Over PO by &gt;5%</a:t>
            </a:r>
            <a:endParaRPr lang="en-US" sz="650" dirty="0"/>
          </a:p>
        </p:txBody>
      </p:sp>
      <p:sp>
        <p:nvSpPr>
          <p:cNvPr id="20" name="Text 18"/>
          <p:cNvSpPr txBox="1"/>
          <p:nvPr/>
        </p:nvSpPr>
        <p:spPr>
          <a:xfrm>
            <a:off x="3599307" y="1453896"/>
            <a:ext cx="885825" cy="256032"/>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145</a:t>
            </a:r>
            <a:endParaRPr lang="en-US" sz="1300" dirty="0"/>
          </a:p>
        </p:txBody>
      </p:sp>
      <p:sp>
        <p:nvSpPr>
          <p:cNvPr id="21" name="Text 19"/>
          <p:cNvSpPr txBox="1"/>
          <p:nvPr/>
        </p:nvSpPr>
        <p:spPr>
          <a:xfrm>
            <a:off x="3599307"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invoices</a:t>
            </a:r>
            <a:endParaRPr lang="en-US" sz="600" dirty="0"/>
          </a:p>
        </p:txBody>
      </p:sp>
      <p:sp>
        <p:nvSpPr>
          <p:cNvPr id="22" name="Shape 20"/>
          <p:cNvSpPr/>
          <p:nvPr/>
        </p:nvSpPr>
        <p:spPr>
          <a:xfrm>
            <a:off x="4604004" y="1280160"/>
            <a:ext cx="995553" cy="603504"/>
          </a:xfrm>
          <a:prstGeom prst="rect">
            <a:avLst/>
          </a:prstGeom>
          <a:solidFill>
            <a:srgbClr val="1E293B"/>
          </a:solidFill>
          <a:ln w="6350">
            <a:solidFill>
              <a:srgbClr val="334155"/>
            </a:solidFill>
            <a:prstDash val="solid"/>
          </a:ln>
        </p:spPr>
      </p:sp>
      <p:sp>
        <p:nvSpPr>
          <p:cNvPr id="23" name="Text 21"/>
          <p:cNvSpPr txBox="1"/>
          <p:nvPr/>
        </p:nvSpPr>
        <p:spPr>
          <a:xfrm>
            <a:off x="4658868"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Non PO ≥ ₹1L</a:t>
            </a:r>
            <a:endParaRPr lang="en-US" sz="650" dirty="0"/>
          </a:p>
        </p:txBody>
      </p:sp>
      <p:sp>
        <p:nvSpPr>
          <p:cNvPr id="24" name="Text 22"/>
          <p:cNvSpPr txBox="1"/>
          <p:nvPr/>
        </p:nvSpPr>
        <p:spPr>
          <a:xfrm>
            <a:off x="4658868" y="1453896"/>
            <a:ext cx="885825" cy="256032"/>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153</a:t>
            </a:r>
            <a:endParaRPr lang="en-US" sz="1300" dirty="0"/>
          </a:p>
        </p:txBody>
      </p:sp>
      <p:sp>
        <p:nvSpPr>
          <p:cNvPr id="25" name="Text 23"/>
          <p:cNvSpPr txBox="1"/>
          <p:nvPr/>
        </p:nvSpPr>
        <p:spPr>
          <a:xfrm>
            <a:off x="4658868"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invoices</a:t>
            </a:r>
            <a:endParaRPr lang="en-US" sz="600" dirty="0"/>
          </a:p>
        </p:txBody>
      </p:sp>
      <p:sp>
        <p:nvSpPr>
          <p:cNvPr id="26" name="Shape 24"/>
          <p:cNvSpPr/>
          <p:nvPr/>
        </p:nvSpPr>
        <p:spPr>
          <a:xfrm>
            <a:off x="5663565" y="1280160"/>
            <a:ext cx="995553" cy="603504"/>
          </a:xfrm>
          <a:prstGeom prst="rect">
            <a:avLst/>
          </a:prstGeom>
          <a:solidFill>
            <a:srgbClr val="1E293B"/>
          </a:solidFill>
          <a:ln w="6350">
            <a:solidFill>
              <a:srgbClr val="334155"/>
            </a:solidFill>
            <a:prstDash val="solid"/>
          </a:ln>
        </p:spPr>
      </p:sp>
      <p:sp>
        <p:nvSpPr>
          <p:cNvPr id="27" name="Text 25"/>
          <p:cNvSpPr txBox="1"/>
          <p:nvPr/>
        </p:nvSpPr>
        <p:spPr>
          <a:xfrm>
            <a:off x="5718429"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Benford failures</a:t>
            </a:r>
            <a:endParaRPr lang="en-US" sz="650" dirty="0"/>
          </a:p>
        </p:txBody>
      </p:sp>
      <p:sp>
        <p:nvSpPr>
          <p:cNvPr id="28" name="Text 26"/>
          <p:cNvSpPr txBox="1"/>
          <p:nvPr/>
        </p:nvSpPr>
        <p:spPr>
          <a:xfrm>
            <a:off x="5718429" y="1453896"/>
            <a:ext cx="885825" cy="256032"/>
          </a:xfrm>
          <a:prstGeom prst="rect">
            <a:avLst/>
          </a:prstGeom>
          <a:noFill/>
          <a:ln/>
        </p:spPr>
        <p:txBody>
          <a:bodyPr wrap="square" lIns="0" tIns="0" rIns="0" bIns="0" rtlCol="0" anchor="ctr"/>
          <a:lstStyle/>
          <a:p>
            <a:pPr indent="0" marL="0">
              <a:buNone/>
            </a:pPr>
            <a:r>
              <a:rPr lang="en-US" sz="1300" b="1" dirty="0">
                <a:solidFill>
                  <a:srgbClr val="F87171"/>
                </a:solidFill>
                <a:latin typeface="Calibri" pitchFamily="34" charset="0"/>
                <a:ea typeface="Calibri" pitchFamily="34" charset="-122"/>
                <a:cs typeface="Calibri" pitchFamily="34" charset="-120"/>
              </a:rPr>
              <a:t>6 vendors</a:t>
            </a:r>
            <a:endParaRPr lang="en-US" sz="1300" dirty="0"/>
          </a:p>
        </p:txBody>
      </p:sp>
      <p:sp>
        <p:nvSpPr>
          <p:cNvPr id="29" name="Text 27"/>
          <p:cNvSpPr txBox="1"/>
          <p:nvPr/>
        </p:nvSpPr>
        <p:spPr>
          <a:xfrm>
            <a:off x="5718429"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3 strong signals</a:t>
            </a:r>
            <a:endParaRPr lang="en-US" sz="600" dirty="0"/>
          </a:p>
        </p:txBody>
      </p:sp>
      <p:sp>
        <p:nvSpPr>
          <p:cNvPr id="30" name="Shape 28"/>
          <p:cNvSpPr/>
          <p:nvPr/>
        </p:nvSpPr>
        <p:spPr>
          <a:xfrm>
            <a:off x="6723126" y="1280160"/>
            <a:ext cx="995553" cy="603504"/>
          </a:xfrm>
          <a:prstGeom prst="rect">
            <a:avLst/>
          </a:prstGeom>
          <a:solidFill>
            <a:srgbClr val="1E293B"/>
          </a:solidFill>
          <a:ln w="6350">
            <a:solidFill>
              <a:srgbClr val="334155"/>
            </a:solidFill>
            <a:prstDash val="solid"/>
          </a:ln>
        </p:spPr>
      </p:sp>
      <p:sp>
        <p:nvSpPr>
          <p:cNvPr id="31" name="Text 29"/>
          <p:cNvSpPr txBox="1"/>
          <p:nvPr/>
        </p:nvSpPr>
        <p:spPr>
          <a:xfrm>
            <a:off x="6777990"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Self approved</a:t>
            </a:r>
            <a:endParaRPr lang="en-US" sz="650" dirty="0"/>
          </a:p>
        </p:txBody>
      </p:sp>
      <p:sp>
        <p:nvSpPr>
          <p:cNvPr id="32" name="Text 30"/>
          <p:cNvSpPr txBox="1"/>
          <p:nvPr/>
        </p:nvSpPr>
        <p:spPr>
          <a:xfrm>
            <a:off x="6777990" y="1453896"/>
            <a:ext cx="885825" cy="256032"/>
          </a:xfrm>
          <a:prstGeom prst="rect">
            <a:avLst/>
          </a:prstGeom>
          <a:noFill/>
          <a:ln/>
        </p:spPr>
        <p:txBody>
          <a:bodyPr wrap="square" lIns="0" tIns="0" rIns="0" bIns="0" rtlCol="0" anchor="ctr"/>
          <a:lstStyle/>
          <a:p>
            <a:pPr indent="0" marL="0">
              <a:buNone/>
            </a:pPr>
            <a:r>
              <a:rPr lang="en-US" sz="1300" b="1" dirty="0">
                <a:solidFill>
                  <a:srgbClr val="F87171"/>
                </a:solidFill>
                <a:latin typeface="Calibri" pitchFamily="34" charset="0"/>
                <a:ea typeface="Calibri" pitchFamily="34" charset="-122"/>
                <a:cs typeface="Calibri" pitchFamily="34" charset="-120"/>
              </a:rPr>
              <a:t>94</a:t>
            </a:r>
            <a:endParaRPr lang="en-US" sz="1300" dirty="0"/>
          </a:p>
        </p:txBody>
      </p:sp>
      <p:sp>
        <p:nvSpPr>
          <p:cNvPr id="33" name="Text 31"/>
          <p:cNvSpPr txBox="1"/>
          <p:nvPr/>
        </p:nvSpPr>
        <p:spPr>
          <a:xfrm>
            <a:off x="6777990"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all 8 creators</a:t>
            </a:r>
            <a:endParaRPr lang="en-US" sz="600" dirty="0"/>
          </a:p>
        </p:txBody>
      </p:sp>
      <p:sp>
        <p:nvSpPr>
          <p:cNvPr id="34" name="Shape 32"/>
          <p:cNvSpPr/>
          <p:nvPr/>
        </p:nvSpPr>
        <p:spPr>
          <a:xfrm>
            <a:off x="7782687" y="1280160"/>
            <a:ext cx="995553" cy="603504"/>
          </a:xfrm>
          <a:prstGeom prst="rect">
            <a:avLst/>
          </a:prstGeom>
          <a:solidFill>
            <a:srgbClr val="1E293B"/>
          </a:solidFill>
          <a:ln w="6350">
            <a:solidFill>
              <a:srgbClr val="334155"/>
            </a:solidFill>
            <a:prstDash val="solid"/>
          </a:ln>
        </p:spPr>
      </p:sp>
      <p:sp>
        <p:nvSpPr>
          <p:cNvPr id="35" name="Text 33"/>
          <p:cNvSpPr txBox="1"/>
          <p:nvPr/>
        </p:nvSpPr>
        <p:spPr>
          <a:xfrm>
            <a:off x="7837551" y="1316736"/>
            <a:ext cx="885825"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After hours</a:t>
            </a:r>
            <a:endParaRPr lang="en-US" sz="650" dirty="0"/>
          </a:p>
        </p:txBody>
      </p:sp>
      <p:sp>
        <p:nvSpPr>
          <p:cNvPr id="36" name="Text 34"/>
          <p:cNvSpPr txBox="1"/>
          <p:nvPr/>
        </p:nvSpPr>
        <p:spPr>
          <a:xfrm>
            <a:off x="7837551" y="1453896"/>
            <a:ext cx="885825" cy="256032"/>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86</a:t>
            </a:r>
            <a:endParaRPr lang="en-US" sz="1300" dirty="0"/>
          </a:p>
        </p:txBody>
      </p:sp>
      <p:sp>
        <p:nvSpPr>
          <p:cNvPr id="37" name="Text 35"/>
          <p:cNvSpPr txBox="1"/>
          <p:nvPr/>
        </p:nvSpPr>
        <p:spPr>
          <a:xfrm>
            <a:off x="7837551" y="1709928"/>
            <a:ext cx="885825"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36 on Sundays</a:t>
            </a:r>
            <a:endParaRPr lang="en-US" sz="600" dirty="0"/>
          </a:p>
        </p:txBody>
      </p:sp>
      <p:sp>
        <p:nvSpPr>
          <p:cNvPr id="38" name="Shape 36"/>
          <p:cNvSpPr/>
          <p:nvPr/>
        </p:nvSpPr>
        <p:spPr>
          <a:xfrm>
            <a:off x="365760" y="1956816"/>
            <a:ext cx="4137660" cy="1444752"/>
          </a:xfrm>
          <a:prstGeom prst="rect">
            <a:avLst/>
          </a:prstGeom>
          <a:solidFill>
            <a:srgbClr val="1E293B"/>
          </a:solidFill>
          <a:ln w="6350">
            <a:solidFill>
              <a:srgbClr val="334155"/>
            </a:solidFill>
            <a:prstDash val="solid"/>
          </a:ln>
        </p:spPr>
      </p:sp>
      <p:sp>
        <p:nvSpPr>
          <p:cNvPr id="39" name="Shape 37"/>
          <p:cNvSpPr/>
          <p:nvPr/>
        </p:nvSpPr>
        <p:spPr>
          <a:xfrm>
            <a:off x="4640580" y="1956816"/>
            <a:ext cx="4137660" cy="1444752"/>
          </a:xfrm>
          <a:prstGeom prst="rect">
            <a:avLst/>
          </a:prstGeom>
          <a:solidFill>
            <a:srgbClr val="1E293B"/>
          </a:solidFill>
          <a:ln w="6350">
            <a:solidFill>
              <a:srgbClr val="334155"/>
            </a:solidFill>
            <a:prstDash val="solid"/>
          </a:ln>
        </p:spPr>
      </p:sp>
      <p:sp>
        <p:nvSpPr>
          <p:cNvPr id="40" name="Shape 38"/>
          <p:cNvSpPr/>
          <p:nvPr/>
        </p:nvSpPr>
        <p:spPr>
          <a:xfrm>
            <a:off x="365760" y="3474720"/>
            <a:ext cx="4137660" cy="1444752"/>
          </a:xfrm>
          <a:prstGeom prst="rect">
            <a:avLst/>
          </a:prstGeom>
          <a:solidFill>
            <a:srgbClr val="1E293B"/>
          </a:solidFill>
          <a:ln w="6350">
            <a:solidFill>
              <a:srgbClr val="334155"/>
            </a:solidFill>
            <a:prstDash val="solid"/>
          </a:ln>
        </p:spPr>
      </p:sp>
      <p:sp>
        <p:nvSpPr>
          <p:cNvPr id="41" name="Shape 39"/>
          <p:cNvSpPr/>
          <p:nvPr/>
        </p:nvSpPr>
        <p:spPr>
          <a:xfrm>
            <a:off x="4640580" y="3474720"/>
            <a:ext cx="4137660" cy="1444752"/>
          </a:xfrm>
          <a:prstGeom prst="rect">
            <a:avLst/>
          </a:prstGeom>
          <a:solidFill>
            <a:srgbClr val="1E293B"/>
          </a:solidFill>
          <a:ln w="6350">
            <a:solidFill>
              <a:srgbClr val="334155"/>
            </a:solidFill>
            <a:prstDash val="solid"/>
          </a:ln>
        </p:spPr>
      </p:sp>
      <p:graphicFrame>
        <p:nvGraphicFramePr>
          <p:cNvPr id="42" name="Chart 0" descr=""/>
          <p:cNvGraphicFramePr/>
          <p:nvPr/>
        </p:nvGraphicFramePr>
        <p:xfrm>
          <a:off x="365760" y="1956816"/>
          <a:ext cx="4137660" cy="1444752"/>
        </p:xfrm>
        <a:graphic xmlns:a="http://schemas.openxmlformats.org/drawingml/2006/main">
          <a:graphicData uri="http://schemas.openxmlformats.org/drawingml/2006/chart">
            <c:chart xmlns:c="http://schemas.openxmlformats.org/drawingml/2006/chart" r:id="rId1"/>
          </a:graphicData>
        </a:graphic>
      </p:graphicFrame>
      <p:graphicFrame>
        <p:nvGraphicFramePr>
          <p:cNvPr id="43" name="Chart 1" descr=""/>
          <p:cNvGraphicFramePr/>
          <p:nvPr/>
        </p:nvGraphicFramePr>
        <p:xfrm>
          <a:off x="4640580" y="1956816"/>
          <a:ext cx="4137660" cy="1444752"/>
        </p:xfrm>
        <a:graphic xmlns:a="http://schemas.openxmlformats.org/drawingml/2006/main">
          <a:graphicData uri="http://schemas.openxmlformats.org/drawingml/2006/chart">
            <c:chart xmlns:c="http://schemas.openxmlformats.org/drawingml/2006/chart" r:id="rId2"/>
          </a:graphicData>
        </a:graphic>
      </p:graphicFrame>
      <p:graphicFrame>
        <p:nvGraphicFramePr>
          <p:cNvPr id="44" name="Chart 2" descr=""/>
          <p:cNvGraphicFramePr/>
          <p:nvPr/>
        </p:nvGraphicFramePr>
        <p:xfrm>
          <a:off x="365760" y="3474720"/>
          <a:ext cx="4137660" cy="1444752"/>
        </p:xfrm>
        <a:graphic xmlns:a="http://schemas.openxmlformats.org/drawingml/2006/main">
          <a:graphicData uri="http://schemas.openxmlformats.org/drawingml/2006/chart">
            <c:chart xmlns:c="http://schemas.openxmlformats.org/drawingml/2006/chart" r:id="rId3"/>
          </a:graphicData>
        </a:graphic>
      </p:graphicFrame>
      <p:graphicFrame>
        <p:nvGraphicFramePr>
          <p:cNvPr id="45" name="Chart 3" descr=""/>
          <p:cNvGraphicFramePr/>
          <p:nvPr/>
        </p:nvGraphicFramePr>
        <p:xfrm>
          <a:off x="4640580" y="3474720"/>
          <a:ext cx="4137660" cy="1444752"/>
        </p:xfrm>
        <a:graphic xmlns:a="http://schemas.openxmlformats.org/drawingml/2006/main">
          <a:graphicData uri="http://schemas.openxmlformats.org/drawingml/2006/chart">
            <c:chart xmlns:c="http://schemas.openxmlformats.org/drawingml/2006/chart" r:id="rId4"/>
          </a:graphicData>
        </a:graphic>
      </p:graphicFrame>
      <p:sp>
        <p:nvSpPr>
          <p:cNvPr id="46" name="Text 40"/>
          <p:cNvSpPr txBox="1"/>
          <p:nvPr/>
        </p:nvSpPr>
        <p:spPr>
          <a:xfrm>
            <a:off x="274320" y="4983480"/>
            <a:ext cx="8595360" cy="146304"/>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Invoice counts rise just below ₹5L and halve above it  ·  1,014 invoices sit inside the 5% PO tolerance  ·  Self approval occurs for every creator, so it is a configuration gap</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Dashboard — Vendor &amp; User Risk</a:t>
            </a:r>
            <a:endParaRPr lang="en-US" sz="2200" dirty="0"/>
          </a:p>
        </p:txBody>
      </p:sp>
      <p:sp>
        <p:nvSpPr>
          <p:cNvPr id="3" name="Text 1"/>
          <p:cNvSpPr txBox="1"/>
          <p:nvPr/>
        </p:nvSpPr>
        <p:spPr>
          <a:xfrm>
            <a:off x="457200" y="731520"/>
            <a:ext cx="82296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Dashboard view  ·  Page 3 of 3</a:t>
            </a:r>
            <a:endParaRPr lang="en-US" sz="1050" dirty="0"/>
          </a:p>
        </p:txBody>
      </p:sp>
      <p:sp>
        <p:nvSpPr>
          <p:cNvPr id="4" name="Shape 2"/>
          <p:cNvSpPr/>
          <p:nvPr/>
        </p:nvSpPr>
        <p:spPr>
          <a:xfrm>
            <a:off x="274320" y="1005840"/>
            <a:ext cx="8595360" cy="3977640"/>
          </a:xfrm>
          <a:prstGeom prst="rect">
            <a:avLst/>
          </a:prstGeom>
          <a:solidFill>
            <a:srgbClr val="0B1222"/>
          </a:solidFill>
          <a:ln w="9525">
            <a:solidFill>
              <a:srgbClr val="334155"/>
            </a:solidFill>
            <a:prstDash val="solid"/>
          </a:ln>
        </p:spPr>
      </p:sp>
      <p:sp>
        <p:nvSpPr>
          <p:cNvPr id="5" name="Text 3"/>
          <p:cNvSpPr txBox="1"/>
          <p:nvPr/>
        </p:nvSpPr>
        <p:spPr>
          <a:xfrm>
            <a:off x="274320" y="1033272"/>
            <a:ext cx="8595360" cy="201168"/>
          </a:xfrm>
          <a:prstGeom prst="rect">
            <a:avLst/>
          </a:prstGeom>
          <a:noFill/>
          <a:ln/>
        </p:spPr>
        <p:txBody>
          <a:bodyPr wrap="square" lIns="0" tIns="0" rIns="0" bIns="0" rtlCol="0" anchor="ctr"/>
          <a:lstStyle/>
          <a:p>
            <a:pPr algn="ctr" indent="0" marL="0">
              <a:buNone/>
            </a:pPr>
            <a:r>
              <a:rPr lang="en-US" sz="800" b="1" spc="100" kern="0" dirty="0">
                <a:solidFill>
                  <a:srgbClr val="2DD4BF"/>
                </a:solidFill>
                <a:latin typeface="Calibri" pitchFamily="34" charset="0"/>
                <a:ea typeface="Calibri" pitchFamily="34" charset="-122"/>
                <a:cs typeface="Calibri" pitchFamily="34" charset="-120"/>
              </a:rPr>
              <a:t>CONTINUOUS CONTROLS MONITORING  ·  PROCURE TO PAY  ·  FY 2025-26</a:t>
            </a:r>
            <a:endParaRPr lang="en-US" sz="800" dirty="0"/>
          </a:p>
        </p:txBody>
      </p:sp>
      <p:sp>
        <p:nvSpPr>
          <p:cNvPr id="6" name="Shape 4"/>
          <p:cNvSpPr/>
          <p:nvPr/>
        </p:nvSpPr>
        <p:spPr>
          <a:xfrm>
            <a:off x="365760" y="1280160"/>
            <a:ext cx="1348740" cy="603504"/>
          </a:xfrm>
          <a:prstGeom prst="rect">
            <a:avLst/>
          </a:prstGeom>
          <a:solidFill>
            <a:srgbClr val="1E293B"/>
          </a:solidFill>
          <a:ln w="6350">
            <a:solidFill>
              <a:srgbClr val="334155"/>
            </a:solidFill>
            <a:prstDash val="solid"/>
          </a:ln>
        </p:spPr>
      </p:sp>
      <p:sp>
        <p:nvSpPr>
          <p:cNvPr id="7" name="Text 5"/>
          <p:cNvSpPr txBox="1"/>
          <p:nvPr/>
        </p:nvSpPr>
        <p:spPr>
          <a:xfrm>
            <a:off x="420624" y="1316736"/>
            <a:ext cx="1239012"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Vendors tested</a:t>
            </a:r>
            <a:endParaRPr lang="en-US" sz="650" dirty="0"/>
          </a:p>
        </p:txBody>
      </p:sp>
      <p:sp>
        <p:nvSpPr>
          <p:cNvPr id="8" name="Text 6"/>
          <p:cNvSpPr txBox="1"/>
          <p:nvPr/>
        </p:nvSpPr>
        <p:spPr>
          <a:xfrm>
            <a:off x="420624" y="1453896"/>
            <a:ext cx="1239012"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150</a:t>
            </a:r>
            <a:endParaRPr lang="en-US" sz="1300" dirty="0"/>
          </a:p>
        </p:txBody>
      </p:sp>
      <p:sp>
        <p:nvSpPr>
          <p:cNvPr id="9" name="Text 7"/>
          <p:cNvSpPr txBox="1"/>
          <p:nvPr/>
        </p:nvSpPr>
        <p:spPr>
          <a:xfrm>
            <a:off x="420624" y="1709928"/>
            <a:ext cx="1239012"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all active vendors</a:t>
            </a:r>
            <a:endParaRPr lang="en-US" sz="600" dirty="0"/>
          </a:p>
        </p:txBody>
      </p:sp>
      <p:sp>
        <p:nvSpPr>
          <p:cNvPr id="10" name="Shape 8"/>
          <p:cNvSpPr/>
          <p:nvPr/>
        </p:nvSpPr>
        <p:spPr>
          <a:xfrm>
            <a:off x="1778508" y="1280160"/>
            <a:ext cx="1348740" cy="603504"/>
          </a:xfrm>
          <a:prstGeom prst="rect">
            <a:avLst/>
          </a:prstGeom>
          <a:solidFill>
            <a:srgbClr val="1E293B"/>
          </a:solidFill>
          <a:ln w="6350">
            <a:solidFill>
              <a:srgbClr val="334155"/>
            </a:solidFill>
            <a:prstDash val="solid"/>
          </a:ln>
        </p:spPr>
      </p:sp>
      <p:sp>
        <p:nvSpPr>
          <p:cNvPr id="11" name="Text 9"/>
          <p:cNvSpPr txBox="1"/>
          <p:nvPr/>
        </p:nvSpPr>
        <p:spPr>
          <a:xfrm>
            <a:off x="1833372" y="1316736"/>
            <a:ext cx="1239012"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Vendors with exceptions</a:t>
            </a:r>
            <a:endParaRPr lang="en-US" sz="650" dirty="0"/>
          </a:p>
        </p:txBody>
      </p:sp>
      <p:sp>
        <p:nvSpPr>
          <p:cNvPr id="12" name="Text 10"/>
          <p:cNvSpPr txBox="1"/>
          <p:nvPr/>
        </p:nvSpPr>
        <p:spPr>
          <a:xfrm>
            <a:off x="1833372" y="1453896"/>
            <a:ext cx="1239012" cy="256032"/>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138</a:t>
            </a:r>
            <a:endParaRPr lang="en-US" sz="1300" dirty="0"/>
          </a:p>
        </p:txBody>
      </p:sp>
      <p:sp>
        <p:nvSpPr>
          <p:cNvPr id="13" name="Text 11"/>
          <p:cNvSpPr txBox="1"/>
          <p:nvPr/>
        </p:nvSpPr>
        <p:spPr>
          <a:xfrm>
            <a:off x="1833372" y="1709928"/>
            <a:ext cx="1239012"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at least one</a:t>
            </a:r>
            <a:endParaRPr lang="en-US" sz="600" dirty="0"/>
          </a:p>
        </p:txBody>
      </p:sp>
      <p:sp>
        <p:nvSpPr>
          <p:cNvPr id="14" name="Shape 12"/>
          <p:cNvSpPr/>
          <p:nvPr/>
        </p:nvSpPr>
        <p:spPr>
          <a:xfrm>
            <a:off x="3191256" y="1280160"/>
            <a:ext cx="1348740" cy="603504"/>
          </a:xfrm>
          <a:prstGeom prst="rect">
            <a:avLst/>
          </a:prstGeom>
          <a:solidFill>
            <a:srgbClr val="1E293B"/>
          </a:solidFill>
          <a:ln w="6350">
            <a:solidFill>
              <a:srgbClr val="334155"/>
            </a:solidFill>
            <a:prstDash val="solid"/>
          </a:ln>
        </p:spPr>
      </p:sp>
      <p:sp>
        <p:nvSpPr>
          <p:cNvPr id="15" name="Text 13"/>
          <p:cNvSpPr txBox="1"/>
          <p:nvPr/>
        </p:nvSpPr>
        <p:spPr>
          <a:xfrm>
            <a:off x="3246120" y="1316736"/>
            <a:ext cx="1239012"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Top 10 vendor share</a:t>
            </a:r>
            <a:endParaRPr lang="en-US" sz="650" dirty="0"/>
          </a:p>
        </p:txBody>
      </p:sp>
      <p:sp>
        <p:nvSpPr>
          <p:cNvPr id="16" name="Text 14"/>
          <p:cNvSpPr txBox="1"/>
          <p:nvPr/>
        </p:nvSpPr>
        <p:spPr>
          <a:xfrm>
            <a:off x="3246120" y="1453896"/>
            <a:ext cx="1239012" cy="256032"/>
          </a:xfrm>
          <a:prstGeom prst="rect">
            <a:avLst/>
          </a:prstGeom>
          <a:noFill/>
          <a:ln/>
        </p:spPr>
        <p:txBody>
          <a:bodyPr wrap="square" lIns="0" tIns="0" rIns="0" bIns="0" rtlCol="0" anchor="ctr"/>
          <a:lstStyle/>
          <a:p>
            <a:pPr indent="0" marL="0">
              <a:buNone/>
            </a:pPr>
            <a:r>
              <a:rPr lang="en-US" sz="1300" b="1" dirty="0">
                <a:solidFill>
                  <a:srgbClr val="F87171"/>
                </a:solidFill>
                <a:latin typeface="Calibri" pitchFamily="34" charset="0"/>
                <a:ea typeface="Calibri" pitchFamily="34" charset="-122"/>
                <a:cs typeface="Calibri" pitchFamily="34" charset="-120"/>
              </a:rPr>
              <a:t>49.9%</a:t>
            </a:r>
            <a:endParaRPr lang="en-US" sz="1300" dirty="0"/>
          </a:p>
        </p:txBody>
      </p:sp>
      <p:sp>
        <p:nvSpPr>
          <p:cNvPr id="17" name="Text 15"/>
          <p:cNvSpPr txBox="1"/>
          <p:nvPr/>
        </p:nvSpPr>
        <p:spPr>
          <a:xfrm>
            <a:off x="3246120" y="1709928"/>
            <a:ext cx="1239012"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of value flagged</a:t>
            </a:r>
            <a:endParaRPr lang="en-US" sz="600" dirty="0"/>
          </a:p>
        </p:txBody>
      </p:sp>
      <p:sp>
        <p:nvSpPr>
          <p:cNvPr id="18" name="Shape 16"/>
          <p:cNvSpPr/>
          <p:nvPr/>
        </p:nvSpPr>
        <p:spPr>
          <a:xfrm>
            <a:off x="4604004" y="1280160"/>
            <a:ext cx="1348740" cy="603504"/>
          </a:xfrm>
          <a:prstGeom prst="rect">
            <a:avLst/>
          </a:prstGeom>
          <a:solidFill>
            <a:srgbClr val="1E293B"/>
          </a:solidFill>
          <a:ln w="6350">
            <a:solidFill>
              <a:srgbClr val="334155"/>
            </a:solidFill>
            <a:prstDash val="solid"/>
          </a:ln>
        </p:spPr>
      </p:sp>
      <p:sp>
        <p:nvSpPr>
          <p:cNvPr id="19" name="Text 17"/>
          <p:cNvSpPr txBox="1"/>
          <p:nvPr/>
        </p:nvSpPr>
        <p:spPr>
          <a:xfrm>
            <a:off x="4658868" y="1316736"/>
            <a:ext cx="1239012"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Highest risk vendor</a:t>
            </a:r>
            <a:endParaRPr lang="en-US" sz="650" dirty="0"/>
          </a:p>
        </p:txBody>
      </p:sp>
      <p:sp>
        <p:nvSpPr>
          <p:cNvPr id="20" name="Text 18"/>
          <p:cNvSpPr txBox="1"/>
          <p:nvPr/>
        </p:nvSpPr>
        <p:spPr>
          <a:xfrm>
            <a:off x="4658868" y="1453896"/>
            <a:ext cx="1239012" cy="256032"/>
          </a:xfrm>
          <a:prstGeom prst="rect">
            <a:avLst/>
          </a:prstGeom>
          <a:noFill/>
          <a:ln/>
        </p:spPr>
        <p:txBody>
          <a:bodyPr wrap="square" lIns="0" tIns="0" rIns="0" bIns="0" rtlCol="0" anchor="ctr"/>
          <a:lstStyle/>
          <a:p>
            <a:pPr indent="0" marL="0">
              <a:buNone/>
            </a:pPr>
            <a:r>
              <a:rPr lang="en-US" sz="1300" b="1" dirty="0">
                <a:solidFill>
                  <a:srgbClr val="F87171"/>
                </a:solidFill>
                <a:latin typeface="Calibri" pitchFamily="34" charset="0"/>
                <a:ea typeface="Calibri" pitchFamily="34" charset="-122"/>
                <a:cs typeface="Calibri" pitchFamily="34" charset="-120"/>
              </a:rPr>
              <a:t>Vertex Travels</a:t>
            </a:r>
            <a:endParaRPr lang="en-US" sz="1300" dirty="0"/>
          </a:p>
        </p:txBody>
      </p:sp>
      <p:sp>
        <p:nvSpPr>
          <p:cNvPr id="21" name="Text 19"/>
          <p:cNvSpPr txBox="1"/>
          <p:nvPr/>
        </p:nvSpPr>
        <p:spPr>
          <a:xfrm>
            <a:off x="4658868" y="1709928"/>
            <a:ext cx="1239012"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₹2.18 Cr flagged</a:t>
            </a:r>
            <a:endParaRPr lang="en-US" sz="600" dirty="0"/>
          </a:p>
        </p:txBody>
      </p:sp>
      <p:sp>
        <p:nvSpPr>
          <p:cNvPr id="22" name="Shape 20"/>
          <p:cNvSpPr/>
          <p:nvPr/>
        </p:nvSpPr>
        <p:spPr>
          <a:xfrm>
            <a:off x="6016752" y="1280160"/>
            <a:ext cx="1348740" cy="603504"/>
          </a:xfrm>
          <a:prstGeom prst="rect">
            <a:avLst/>
          </a:prstGeom>
          <a:solidFill>
            <a:srgbClr val="1E293B"/>
          </a:solidFill>
          <a:ln w="6350">
            <a:solidFill>
              <a:srgbClr val="334155"/>
            </a:solidFill>
            <a:prstDash val="solid"/>
          </a:ln>
        </p:spPr>
      </p:sp>
      <p:sp>
        <p:nvSpPr>
          <p:cNvPr id="23" name="Text 21"/>
          <p:cNvSpPr txBox="1"/>
          <p:nvPr/>
        </p:nvSpPr>
        <p:spPr>
          <a:xfrm>
            <a:off x="6071616" y="1316736"/>
            <a:ext cx="1239012"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Strong Benford signals</a:t>
            </a:r>
            <a:endParaRPr lang="en-US" sz="650" dirty="0"/>
          </a:p>
        </p:txBody>
      </p:sp>
      <p:sp>
        <p:nvSpPr>
          <p:cNvPr id="24" name="Text 22"/>
          <p:cNvSpPr txBox="1"/>
          <p:nvPr/>
        </p:nvSpPr>
        <p:spPr>
          <a:xfrm>
            <a:off x="6071616" y="1453896"/>
            <a:ext cx="1239012" cy="256032"/>
          </a:xfrm>
          <a:prstGeom prst="rect">
            <a:avLst/>
          </a:prstGeom>
          <a:noFill/>
          <a:ln/>
        </p:spPr>
        <p:txBody>
          <a:bodyPr wrap="square" lIns="0" tIns="0" rIns="0" bIns="0" rtlCol="0" anchor="ctr"/>
          <a:lstStyle/>
          <a:p>
            <a:pPr indent="0" marL="0">
              <a:buNone/>
            </a:pPr>
            <a:r>
              <a:rPr lang="en-US" sz="1300" b="1" dirty="0">
                <a:solidFill>
                  <a:srgbClr val="F87171"/>
                </a:solidFill>
                <a:latin typeface="Calibri" pitchFamily="34" charset="0"/>
                <a:ea typeface="Calibri" pitchFamily="34" charset="-122"/>
                <a:cs typeface="Calibri" pitchFamily="34" charset="-120"/>
              </a:rPr>
              <a:t>3 vendors</a:t>
            </a:r>
            <a:endParaRPr lang="en-US" sz="1300" dirty="0"/>
          </a:p>
        </p:txBody>
      </p:sp>
      <p:sp>
        <p:nvSpPr>
          <p:cNvPr id="25" name="Text 23"/>
          <p:cNvSpPr txBox="1"/>
          <p:nvPr/>
        </p:nvSpPr>
        <p:spPr>
          <a:xfrm>
            <a:off x="6071616" y="1709928"/>
            <a:ext cx="1239012"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χ² above 130</a:t>
            </a:r>
            <a:endParaRPr lang="en-US" sz="600" dirty="0"/>
          </a:p>
        </p:txBody>
      </p:sp>
      <p:sp>
        <p:nvSpPr>
          <p:cNvPr id="26" name="Shape 24"/>
          <p:cNvSpPr/>
          <p:nvPr/>
        </p:nvSpPr>
        <p:spPr>
          <a:xfrm>
            <a:off x="7429500" y="1280160"/>
            <a:ext cx="1348740" cy="603504"/>
          </a:xfrm>
          <a:prstGeom prst="rect">
            <a:avLst/>
          </a:prstGeom>
          <a:solidFill>
            <a:srgbClr val="1E293B"/>
          </a:solidFill>
          <a:ln w="6350">
            <a:solidFill>
              <a:srgbClr val="334155"/>
            </a:solidFill>
            <a:prstDash val="solid"/>
          </a:ln>
        </p:spPr>
      </p:sp>
      <p:sp>
        <p:nvSpPr>
          <p:cNvPr id="27" name="Text 25"/>
          <p:cNvSpPr txBox="1"/>
          <p:nvPr/>
        </p:nvSpPr>
        <p:spPr>
          <a:xfrm>
            <a:off x="7484364" y="1316736"/>
            <a:ext cx="1239012" cy="146304"/>
          </a:xfrm>
          <a:prstGeom prst="rect">
            <a:avLst/>
          </a:prstGeom>
          <a:noFill/>
          <a:ln/>
        </p:spPr>
        <p:txBody>
          <a:bodyPr wrap="square" lIns="0" tIns="0" rIns="0" bIns="0" rtlCol="0" anchor="ctr"/>
          <a:lstStyle/>
          <a:p>
            <a:pPr indent="0" marL="0">
              <a:buNone/>
            </a:pPr>
            <a:r>
              <a:rPr lang="en-US" sz="650" dirty="0">
                <a:solidFill>
                  <a:srgbClr val="94A3B8"/>
                </a:solidFill>
                <a:latin typeface="Calibri" pitchFamily="34" charset="0"/>
                <a:ea typeface="Calibri" pitchFamily="34" charset="-122"/>
                <a:cs typeface="Calibri" pitchFamily="34" charset="-120"/>
              </a:rPr>
              <a:t>Creator exception rate</a:t>
            </a:r>
            <a:endParaRPr lang="en-US" sz="650" dirty="0"/>
          </a:p>
        </p:txBody>
      </p:sp>
      <p:sp>
        <p:nvSpPr>
          <p:cNvPr id="28" name="Text 26"/>
          <p:cNvSpPr txBox="1"/>
          <p:nvPr/>
        </p:nvSpPr>
        <p:spPr>
          <a:xfrm>
            <a:off x="7484364" y="1453896"/>
            <a:ext cx="1239012"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8.9 to 10.2%</a:t>
            </a:r>
            <a:endParaRPr lang="en-US" sz="1300" dirty="0"/>
          </a:p>
        </p:txBody>
      </p:sp>
      <p:sp>
        <p:nvSpPr>
          <p:cNvPr id="29" name="Text 27"/>
          <p:cNvSpPr txBox="1"/>
          <p:nvPr/>
        </p:nvSpPr>
        <p:spPr>
          <a:xfrm>
            <a:off x="7484364" y="1709928"/>
            <a:ext cx="1239012" cy="146304"/>
          </a:xfrm>
          <a:prstGeom prst="rect">
            <a:avLst/>
          </a:prstGeom>
          <a:noFill/>
          <a:ln/>
        </p:spPr>
        <p:txBody>
          <a:bodyPr wrap="square" lIns="0" tIns="0" rIns="0" bIns="0" rtlCol="0" anchor="ctr"/>
          <a:lstStyle/>
          <a:p>
            <a:pPr indent="0" marL="0">
              <a:buNone/>
            </a:pPr>
            <a:r>
              <a:rPr lang="en-US" sz="600" dirty="0">
                <a:solidFill>
                  <a:srgbClr val="94A3B8"/>
                </a:solidFill>
                <a:latin typeface="Calibri" pitchFamily="34" charset="0"/>
                <a:ea typeface="Calibri" pitchFamily="34" charset="-122"/>
                <a:cs typeface="Calibri" pitchFamily="34" charset="-120"/>
              </a:rPr>
              <a:t>range across 8 users</a:t>
            </a:r>
            <a:endParaRPr lang="en-US" sz="600" dirty="0"/>
          </a:p>
        </p:txBody>
      </p:sp>
      <p:sp>
        <p:nvSpPr>
          <p:cNvPr id="30" name="Shape 28"/>
          <p:cNvSpPr/>
          <p:nvPr/>
        </p:nvSpPr>
        <p:spPr>
          <a:xfrm>
            <a:off x="365760" y="1956816"/>
            <a:ext cx="4663440" cy="2962656"/>
          </a:xfrm>
          <a:prstGeom prst="rect">
            <a:avLst/>
          </a:prstGeom>
          <a:solidFill>
            <a:srgbClr val="1E293B"/>
          </a:solidFill>
          <a:ln w="6350">
            <a:solidFill>
              <a:srgbClr val="334155"/>
            </a:solidFill>
            <a:prstDash val="solid"/>
          </a:ln>
        </p:spPr>
      </p:sp>
      <p:sp>
        <p:nvSpPr>
          <p:cNvPr id="31" name="Text 29"/>
          <p:cNvSpPr txBox="1"/>
          <p:nvPr/>
        </p:nvSpPr>
        <p:spPr>
          <a:xfrm>
            <a:off x="457200" y="1993392"/>
            <a:ext cx="4480560" cy="182880"/>
          </a:xfrm>
          <a:prstGeom prst="rect">
            <a:avLst/>
          </a:prstGeom>
          <a:noFill/>
          <a:ln/>
        </p:spPr>
        <p:txBody>
          <a:bodyPr wrap="square" lIns="0" tIns="0" rIns="0" bIns="0" rtlCol="0" anchor="ctr"/>
          <a:lstStyle/>
          <a:p>
            <a:pPr indent="0" marL="0">
              <a:buNone/>
            </a:pPr>
            <a:r>
              <a:rPr lang="en-US" sz="800" b="1" dirty="0">
                <a:solidFill>
                  <a:srgbClr val="E2E8F0"/>
                </a:solidFill>
                <a:latin typeface="Calibri" pitchFamily="34" charset="0"/>
                <a:ea typeface="Calibri" pitchFamily="34" charset="-122"/>
                <a:cs typeface="Calibri" pitchFamily="34" charset="-120"/>
              </a:rPr>
              <a:t>Vendor risk heatmap: exceptions per test, top 10 vendors by value flagged</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212848"/>
          <a:ext cx="4480560" cy="914400"/>
        </p:xfrm>
        <a:graphic>
          <a:graphicData uri="http://schemas.openxmlformats.org/drawingml/2006/table">
            <a:tbl>
              <a:tblPr/>
              <a:tblGrid>
                <a:gridCol w="1371600"/>
                <a:gridCol w="402336"/>
                <a:gridCol w="457200"/>
                <a:gridCol w="566928"/>
                <a:gridCol w="384048"/>
                <a:gridCol w="402336"/>
                <a:gridCol w="457200"/>
                <a:gridCol w="438912"/>
              </a:tblGrid>
              <a:tr h="237744">
                <a:tc>
                  <a:txBody>
                    <a:bodyPr/>
                    <a:lstStyle/>
                    <a:p>
                      <a:pPr algn="l" indent="0" marL="0">
                        <a:buNone/>
                      </a:pPr>
                      <a:r>
                        <a:rPr lang="en-US" sz="700" b="1" dirty="0">
                          <a:solidFill>
                            <a:srgbClr val="94A3B8"/>
                          </a:solidFill>
                          <a:latin typeface="Calibri" pitchFamily="34" charset="0"/>
                          <a:ea typeface="Calibri" pitchFamily="34" charset="-122"/>
                          <a:cs typeface="Calibri" pitchFamily="34" charset="-120"/>
                        </a:rPr>
                        <a:t>Vendor</a:t>
                      </a:r>
                      <a:endParaRPr lang="en-US" sz="70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00" b="1" dirty="0">
                          <a:solidFill>
                            <a:srgbClr val="94A3B8"/>
                          </a:solidFill>
                          <a:latin typeface="Calibri" pitchFamily="34" charset="0"/>
                          <a:ea typeface="Calibri" pitchFamily="34" charset="-122"/>
                          <a:cs typeface="Calibri" pitchFamily="34" charset="-120"/>
                        </a:rPr>
                        <a:t>Dup</a:t>
                      </a:r>
                      <a:endParaRPr lang="en-US" sz="70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00" b="1" dirty="0">
                          <a:solidFill>
                            <a:srgbClr val="94A3B8"/>
                          </a:solidFill>
                          <a:latin typeface="Calibri" pitchFamily="34" charset="0"/>
                          <a:ea typeface="Calibri" pitchFamily="34" charset="-122"/>
                          <a:cs typeface="Calibri" pitchFamily="34" charset="-120"/>
                        </a:rPr>
                        <a:t>Limit</a:t>
                      </a:r>
                      <a:endParaRPr lang="en-US" sz="70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00" b="1" dirty="0">
                          <a:solidFill>
                            <a:srgbClr val="94A3B8"/>
                          </a:solidFill>
                          <a:latin typeface="Calibri" pitchFamily="34" charset="0"/>
                          <a:ea typeface="Calibri" pitchFamily="34" charset="-122"/>
                          <a:cs typeface="Calibri" pitchFamily="34" charset="-120"/>
                        </a:rPr>
                        <a:t>Benford</a:t>
                      </a:r>
                      <a:endParaRPr lang="en-US" sz="70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00" b="1" dirty="0">
                          <a:solidFill>
                            <a:srgbClr val="94A3B8"/>
                          </a:solidFill>
                          <a:latin typeface="Calibri" pitchFamily="34" charset="0"/>
                          <a:ea typeface="Calibri" pitchFamily="34" charset="-122"/>
                          <a:cs typeface="Calibri" pitchFamily="34" charset="-120"/>
                        </a:rPr>
                        <a:t>PO</a:t>
                      </a:r>
                      <a:endParaRPr lang="en-US" sz="70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00" b="1" dirty="0">
                          <a:solidFill>
                            <a:srgbClr val="94A3B8"/>
                          </a:solidFill>
                          <a:latin typeface="Calibri" pitchFamily="34" charset="0"/>
                          <a:ea typeface="Calibri" pitchFamily="34" charset="-122"/>
                          <a:cs typeface="Calibri" pitchFamily="34" charset="-120"/>
                        </a:rPr>
                        <a:t>SoD</a:t>
                      </a:r>
                      <a:endParaRPr lang="en-US" sz="70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00" b="1" dirty="0">
                          <a:solidFill>
                            <a:srgbClr val="94A3B8"/>
                          </a:solidFill>
                          <a:latin typeface="Calibri" pitchFamily="34" charset="0"/>
                          <a:ea typeface="Calibri" pitchFamily="34" charset="-122"/>
                          <a:cs typeface="Calibri" pitchFamily="34" charset="-120"/>
                        </a:rPr>
                        <a:t>Hours</a:t>
                      </a:r>
                      <a:endParaRPr lang="en-US" sz="70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00" b="1" dirty="0">
                          <a:solidFill>
                            <a:srgbClr val="94A3B8"/>
                          </a:solidFill>
                          <a:latin typeface="Calibri" pitchFamily="34" charset="0"/>
                          <a:ea typeface="Calibri" pitchFamily="34" charset="-122"/>
                          <a:cs typeface="Calibri" pitchFamily="34" charset="-120"/>
                        </a:rPr>
                        <a:t>₹ Cr</a:t>
                      </a:r>
                      <a:endParaRPr lang="en-US" sz="70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r>
              <a:tr h="237744">
                <a:tc>
                  <a:txBody>
                    <a:bodyPr/>
                    <a:lstStyle/>
                    <a:p>
                      <a:pPr indent="0" marL="0">
                        <a:buNone/>
                      </a:pPr>
                      <a:r>
                        <a:rPr lang="en-US" sz="750" dirty="0">
                          <a:solidFill>
                            <a:srgbClr val="E2E8F0"/>
                          </a:solidFill>
                          <a:latin typeface="Calibri" pitchFamily="34" charset="0"/>
                          <a:ea typeface="Calibri" pitchFamily="34" charset="-122"/>
                          <a:cs typeface="Calibri" pitchFamily="34" charset="-120"/>
                        </a:rPr>
                        <a:t>Vertex Travels</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521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28</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882229"/>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80</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DC2626"/>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021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D202A"/>
                    </a:solidFill>
                  </a:tcPr>
                </a:tc>
                <a:tc>
                  <a:txBody>
                    <a:bodyPr/>
                    <a:lstStyle/>
                    <a:p>
                      <a:pPr algn="ctr" indent="0" marL="0">
                        <a:buNone/>
                      </a:pP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50" b="1" dirty="0">
                          <a:solidFill>
                            <a:srgbClr val="E2E8F0"/>
                          </a:solidFill>
                          <a:latin typeface="Calibri" pitchFamily="34" charset="0"/>
                          <a:ea typeface="Calibri" pitchFamily="34" charset="-122"/>
                          <a:cs typeface="Calibri" pitchFamily="34" charset="-120"/>
                        </a:rPr>
                        <a:t>2.18</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r>
              <a:tr h="237744">
                <a:tc>
                  <a:txBody>
                    <a:bodyPr/>
                    <a:lstStyle/>
                    <a:p>
                      <a:pPr indent="0" marL="0">
                        <a:buNone/>
                      </a:pPr>
                      <a:r>
                        <a:rPr lang="en-US" sz="750" dirty="0">
                          <a:solidFill>
                            <a:srgbClr val="E2E8F0"/>
                          </a:solidFill>
                          <a:latin typeface="Calibri" pitchFamily="34" charset="0"/>
                          <a:ea typeface="Calibri" pitchFamily="34" charset="-122"/>
                          <a:cs typeface="Calibri" pitchFamily="34" charset="-120"/>
                        </a:rPr>
                        <a:t>Bharat Electricals</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621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17</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772229"/>
                    </a:solidFill>
                  </a:tcPr>
                </a:tc>
                <a:tc>
                  <a:txBody>
                    <a:bodyPr/>
                    <a:lstStyle/>
                    <a:p>
                      <a:pPr algn="ctr" indent="0" marL="0">
                        <a:buNone/>
                      </a:pP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243247"/>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7A2229"/>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D20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E212A"/>
                    </a:solidFill>
                  </a:tcPr>
                </a:tc>
                <a:tc>
                  <a:txBody>
                    <a:bodyPr/>
                    <a:lstStyle/>
                    <a:p>
                      <a:pPr algn="r" indent="0" marL="0">
                        <a:buNone/>
                      </a:pPr>
                      <a:r>
                        <a:rPr lang="en-US" sz="750" b="1" dirty="0">
                          <a:solidFill>
                            <a:srgbClr val="E2E8F0"/>
                          </a:solidFill>
                          <a:latin typeface="Calibri" pitchFamily="34" charset="0"/>
                          <a:ea typeface="Calibri" pitchFamily="34" charset="-122"/>
                          <a:cs typeface="Calibri" pitchFamily="34" charset="-120"/>
                        </a:rPr>
                        <a:t>2.00</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r>
              <a:tr h="237744">
                <a:tc>
                  <a:txBody>
                    <a:bodyPr/>
                    <a:lstStyle/>
                    <a:p>
                      <a:pPr indent="0" marL="0">
                        <a:buNone/>
                      </a:pPr>
                      <a:r>
                        <a:rPr lang="en-US" sz="750" dirty="0">
                          <a:solidFill>
                            <a:srgbClr val="E2E8F0"/>
                          </a:solidFill>
                          <a:latin typeface="Calibri" pitchFamily="34" charset="0"/>
                          <a:ea typeface="Calibri" pitchFamily="34" charset="-122"/>
                          <a:cs typeface="Calibri" pitchFamily="34" charset="-120"/>
                        </a:rPr>
                        <a:t>Sai Media</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021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23</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802229"/>
                    </a:solidFill>
                  </a:tcPr>
                </a:tc>
                <a:tc>
                  <a:txBody>
                    <a:bodyPr/>
                    <a:lstStyle/>
                    <a:p>
                      <a:pPr algn="ctr" indent="0" marL="0">
                        <a:buNone/>
                      </a:pP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243247"/>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722129"/>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E21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4</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2212A"/>
                    </a:solidFill>
                  </a:tcPr>
                </a:tc>
                <a:tc>
                  <a:txBody>
                    <a:bodyPr/>
                    <a:lstStyle/>
                    <a:p>
                      <a:pPr algn="r" indent="0" marL="0">
                        <a:buNone/>
                      </a:pPr>
                      <a:r>
                        <a:rPr lang="en-US" sz="750" b="1" dirty="0">
                          <a:solidFill>
                            <a:srgbClr val="E2E8F0"/>
                          </a:solidFill>
                          <a:latin typeface="Calibri" pitchFamily="34" charset="0"/>
                          <a:ea typeface="Calibri" pitchFamily="34" charset="-122"/>
                          <a:cs typeface="Calibri" pitchFamily="34" charset="-120"/>
                        </a:rPr>
                        <a:t>1.67</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r>
              <a:tr h="237744">
                <a:tc>
                  <a:txBody>
                    <a:bodyPr/>
                    <a:lstStyle/>
                    <a:p>
                      <a:pPr indent="0" marL="0">
                        <a:buNone/>
                      </a:pPr>
                      <a:r>
                        <a:rPr lang="en-US" sz="750" dirty="0">
                          <a:solidFill>
                            <a:srgbClr val="E2E8F0"/>
                          </a:solidFill>
                          <a:latin typeface="Calibri" pitchFamily="34" charset="0"/>
                          <a:ea typeface="Calibri" pitchFamily="34" charset="-122"/>
                          <a:cs typeface="Calibri" pitchFamily="34" charset="-120"/>
                        </a:rPr>
                        <a:t>Blue Ocean Solutions</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021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832229"/>
                    </a:solidFill>
                  </a:tcPr>
                </a:tc>
                <a:tc>
                  <a:txBody>
                    <a:bodyPr/>
                    <a:lstStyle/>
                    <a:p>
                      <a:pPr algn="ctr" indent="0" marL="0">
                        <a:buNone/>
                      </a:pP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243247"/>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D2129"/>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D20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D202A"/>
                    </a:solidFill>
                  </a:tcPr>
                </a:tc>
                <a:tc>
                  <a:txBody>
                    <a:bodyPr/>
                    <a:lstStyle/>
                    <a:p>
                      <a:pPr algn="r" indent="0" marL="0">
                        <a:buNone/>
                      </a:pPr>
                      <a:r>
                        <a:rPr lang="en-US" sz="750" b="1" dirty="0">
                          <a:solidFill>
                            <a:srgbClr val="E2E8F0"/>
                          </a:solidFill>
                          <a:latin typeface="Calibri" pitchFamily="34" charset="0"/>
                          <a:ea typeface="Calibri" pitchFamily="34" charset="-122"/>
                          <a:cs typeface="Calibri" pitchFamily="34" charset="-120"/>
                        </a:rPr>
                        <a:t>1.18</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r>
              <a:tr h="237744">
                <a:tc>
                  <a:txBody>
                    <a:bodyPr/>
                    <a:lstStyle/>
                    <a:p>
                      <a:pPr indent="0" marL="0">
                        <a:buNone/>
                      </a:pPr>
                      <a:r>
                        <a:rPr lang="en-US" sz="750" dirty="0">
                          <a:solidFill>
                            <a:srgbClr val="E2E8F0"/>
                          </a:solidFill>
                          <a:latin typeface="Calibri" pitchFamily="34" charset="0"/>
                          <a:ea typeface="Calibri" pitchFamily="34" charset="-122"/>
                          <a:cs typeface="Calibri" pitchFamily="34" charset="-120"/>
                        </a:rPr>
                        <a:t>Zenith Solutions</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021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7B2229"/>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832229"/>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021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D20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D202A"/>
                    </a:solidFill>
                  </a:tcPr>
                </a:tc>
                <a:tc>
                  <a:txBody>
                    <a:bodyPr/>
                    <a:lstStyle/>
                    <a:p>
                      <a:pPr algn="r" indent="0" marL="0">
                        <a:buNone/>
                      </a:pPr>
                      <a:r>
                        <a:rPr lang="en-US" sz="750" b="1" dirty="0">
                          <a:solidFill>
                            <a:srgbClr val="E2E8F0"/>
                          </a:solidFill>
                          <a:latin typeface="Calibri" pitchFamily="34" charset="0"/>
                          <a:ea typeface="Calibri" pitchFamily="34" charset="-122"/>
                          <a:cs typeface="Calibri" pitchFamily="34" charset="-120"/>
                        </a:rPr>
                        <a:t>1.14</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r>
              <a:tr h="237744">
                <a:tc>
                  <a:txBody>
                    <a:bodyPr/>
                    <a:lstStyle/>
                    <a:p>
                      <a:pPr indent="0" marL="0">
                        <a:buNone/>
                      </a:pPr>
                      <a:r>
                        <a:rPr lang="en-US" sz="750" dirty="0">
                          <a:solidFill>
                            <a:srgbClr val="E2E8F0"/>
                          </a:solidFill>
                          <a:latin typeface="Calibri" pitchFamily="34" charset="0"/>
                          <a:ea typeface="Calibri" pitchFamily="34" charset="-122"/>
                          <a:cs typeface="Calibri" pitchFamily="34" charset="-120"/>
                        </a:rPr>
                        <a:t>Apex Printers</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D20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6212A"/>
                    </a:solidFill>
                  </a:tcPr>
                </a:tc>
                <a:tc>
                  <a:txBody>
                    <a:bodyPr/>
                    <a:lstStyle/>
                    <a:p>
                      <a:pPr algn="ctr" indent="0" marL="0">
                        <a:buNone/>
                      </a:pP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243247"/>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D2129"/>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E212A"/>
                    </a:solidFill>
                  </a:tcPr>
                </a:tc>
                <a:tc>
                  <a:txBody>
                    <a:bodyPr/>
                    <a:lstStyle/>
                    <a:p>
                      <a:pPr algn="ctr" indent="0" marL="0">
                        <a:buNone/>
                      </a:pP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50" b="1" dirty="0">
                          <a:solidFill>
                            <a:srgbClr val="E2E8F0"/>
                          </a:solidFill>
                          <a:latin typeface="Calibri" pitchFamily="34" charset="0"/>
                          <a:ea typeface="Calibri" pitchFamily="34" charset="-122"/>
                          <a:cs typeface="Calibri" pitchFamily="34" charset="-120"/>
                        </a:rPr>
                        <a:t>0.98</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r>
              <a:tr h="237744">
                <a:tc>
                  <a:txBody>
                    <a:bodyPr/>
                    <a:lstStyle/>
                    <a:p>
                      <a:pPr indent="0" marL="0">
                        <a:buNone/>
                      </a:pPr>
                      <a:r>
                        <a:rPr lang="en-US" sz="750" dirty="0">
                          <a:solidFill>
                            <a:srgbClr val="E2E8F0"/>
                          </a:solidFill>
                          <a:latin typeface="Calibri" pitchFamily="34" charset="0"/>
                          <a:ea typeface="Calibri" pitchFamily="34" charset="-122"/>
                          <a:cs typeface="Calibri" pitchFamily="34" charset="-120"/>
                        </a:rPr>
                        <a:t>Sunrise Media</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521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7B2229"/>
                    </a:solidFill>
                  </a:tcPr>
                </a:tc>
                <a:tc>
                  <a:txBody>
                    <a:bodyPr/>
                    <a:lstStyle/>
                    <a:p>
                      <a:pPr algn="ctr" indent="0" marL="0">
                        <a:buNone/>
                      </a:pP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243247"/>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9</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A212A"/>
                    </a:solidFill>
                  </a:tcPr>
                </a:tc>
                <a:tc>
                  <a:txBody>
                    <a:bodyPr/>
                    <a:lstStyle/>
                    <a:p>
                      <a:pPr algn="ctr" indent="0" marL="0">
                        <a:buNone/>
                      </a:pP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243247"/>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E212A"/>
                    </a:solidFill>
                  </a:tcPr>
                </a:tc>
                <a:tc>
                  <a:txBody>
                    <a:bodyPr/>
                    <a:lstStyle/>
                    <a:p>
                      <a:pPr algn="r" indent="0" marL="0">
                        <a:buNone/>
                      </a:pPr>
                      <a:r>
                        <a:rPr lang="en-US" sz="750" b="1" dirty="0">
                          <a:solidFill>
                            <a:srgbClr val="E2E8F0"/>
                          </a:solidFill>
                          <a:latin typeface="Calibri" pitchFamily="34" charset="0"/>
                          <a:ea typeface="Calibri" pitchFamily="34" charset="-122"/>
                          <a:cs typeface="Calibri" pitchFamily="34" charset="-120"/>
                        </a:rPr>
                        <a:t>0.93</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r>
              <a:tr h="237744">
                <a:tc>
                  <a:txBody>
                    <a:bodyPr/>
                    <a:lstStyle/>
                    <a:p>
                      <a:pPr indent="0" marL="0">
                        <a:buNone/>
                      </a:pPr>
                      <a:r>
                        <a:rPr lang="en-US" sz="750" dirty="0">
                          <a:solidFill>
                            <a:srgbClr val="E2E8F0"/>
                          </a:solidFill>
                          <a:latin typeface="Calibri" pitchFamily="34" charset="0"/>
                          <a:ea typeface="Calibri" pitchFamily="34" charset="-122"/>
                          <a:cs typeface="Calibri" pitchFamily="34" charset="-120"/>
                        </a:rPr>
                        <a:t>Vardhman Printers</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E21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6</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5212A"/>
                    </a:solidFill>
                  </a:tcPr>
                </a:tc>
                <a:tc>
                  <a:txBody>
                    <a:bodyPr/>
                    <a:lstStyle/>
                    <a:p>
                      <a:pPr algn="ctr" indent="0" marL="0">
                        <a:buNone/>
                      </a:pP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243247"/>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D2129"/>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E21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D202A"/>
                    </a:solidFill>
                  </a:tcPr>
                </a:tc>
                <a:tc>
                  <a:txBody>
                    <a:bodyPr/>
                    <a:lstStyle/>
                    <a:p>
                      <a:pPr algn="r" indent="0" marL="0">
                        <a:buNone/>
                      </a:pPr>
                      <a:r>
                        <a:rPr lang="en-US" sz="750" b="1" dirty="0">
                          <a:solidFill>
                            <a:srgbClr val="E2E8F0"/>
                          </a:solidFill>
                          <a:latin typeface="Calibri" pitchFamily="34" charset="0"/>
                          <a:ea typeface="Calibri" pitchFamily="34" charset="-122"/>
                          <a:cs typeface="Calibri" pitchFamily="34" charset="-120"/>
                        </a:rPr>
                        <a:t>0.91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r>
              <a:tr h="237744">
                <a:tc>
                  <a:txBody>
                    <a:bodyPr/>
                    <a:lstStyle/>
                    <a:p>
                      <a:pPr indent="0" marL="0">
                        <a:buNone/>
                      </a:pPr>
                      <a:r>
                        <a:rPr lang="en-US" sz="750" dirty="0">
                          <a:solidFill>
                            <a:srgbClr val="E2E8F0"/>
                          </a:solidFill>
                          <a:latin typeface="Calibri" pitchFamily="34" charset="0"/>
                          <a:ea typeface="Calibri" pitchFamily="34" charset="-122"/>
                          <a:cs typeface="Calibri" pitchFamily="34" charset="-120"/>
                        </a:rPr>
                        <a:t>Pioneer Enterprises</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D20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7B2229"/>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22</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7F2229"/>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7B2229"/>
                    </a:solidFill>
                  </a:tcPr>
                </a:tc>
                <a:tc>
                  <a:txBody>
                    <a:bodyPr/>
                    <a:lstStyle/>
                    <a:p>
                      <a:pPr algn="ctr" indent="0" marL="0">
                        <a:buNone/>
                      </a:pP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243247"/>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D202A"/>
                    </a:solidFill>
                  </a:tcPr>
                </a:tc>
                <a:tc>
                  <a:txBody>
                    <a:bodyPr/>
                    <a:lstStyle/>
                    <a:p>
                      <a:pPr algn="r" indent="0" marL="0">
                        <a:buNone/>
                      </a:pPr>
                      <a:r>
                        <a:rPr lang="en-US" sz="750" b="1" dirty="0">
                          <a:solidFill>
                            <a:srgbClr val="E2E8F0"/>
                          </a:solidFill>
                          <a:latin typeface="Calibri" pitchFamily="34" charset="0"/>
                          <a:ea typeface="Calibri" pitchFamily="34" charset="-122"/>
                          <a:cs typeface="Calibri" pitchFamily="34" charset="-120"/>
                        </a:rPr>
                        <a:t>0.89</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r>
              <a:tr h="237744">
                <a:tc>
                  <a:txBody>
                    <a:bodyPr/>
                    <a:lstStyle/>
                    <a:p>
                      <a:pPr indent="0" marL="0">
                        <a:buNone/>
                      </a:pPr>
                      <a:r>
                        <a:rPr lang="en-US" sz="750" dirty="0">
                          <a:solidFill>
                            <a:srgbClr val="E2E8F0"/>
                          </a:solidFill>
                          <a:latin typeface="Calibri" pitchFamily="34" charset="0"/>
                          <a:ea typeface="Calibri" pitchFamily="34" charset="-122"/>
                          <a:cs typeface="Calibri" pitchFamily="34" charset="-120"/>
                        </a:rPr>
                        <a:t>Sai Electricals</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D20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8212A"/>
                    </a:solidFill>
                  </a:tcPr>
                </a:tc>
                <a:tc>
                  <a:txBody>
                    <a:bodyPr/>
                    <a:lstStyle/>
                    <a:p>
                      <a:pPr algn="ctr" indent="0" marL="0">
                        <a:buNone/>
                      </a:pP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243247"/>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8</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68212A"/>
                    </a:solidFill>
                  </a:tcPr>
                </a:tc>
                <a:tc>
                  <a:txBody>
                    <a:bodyP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5E212A"/>
                    </a:solidFill>
                  </a:tcPr>
                </a:tc>
                <a:tc>
                  <a:txBody>
                    <a:bodyPr/>
                    <a:lstStyle/>
                    <a:p>
                      <a:pPr algn="ctr" indent="0" marL="0">
                        <a:buNone/>
                      </a:pP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50" b="1" dirty="0">
                          <a:solidFill>
                            <a:srgbClr val="E2E8F0"/>
                          </a:solidFill>
                          <a:latin typeface="Calibri" pitchFamily="34" charset="0"/>
                          <a:ea typeface="Calibri" pitchFamily="34" charset="-122"/>
                          <a:cs typeface="Calibri" pitchFamily="34" charset="-120"/>
                        </a:rPr>
                        <a:t>0.86</a:t>
                      </a:r>
                      <a:endParaRPr lang="en-US" sz="750" dirty="0">
                        <a:latin typeface="Calibri" charset="0"/>
                        <a:ea typeface="Calibri" charset="0"/>
                        <a:cs typeface="Calibri" charset="0"/>
                      </a:endParaRPr>
                    </a:p>
                  </a:txBody>
                  <a:tcPr marL="54864" marR="54864" marT="18288" marB="18288">
                    <a:lnL w="19050" cap="flat" cmpd="sng" algn="ctr">
                      <a:solidFill>
                        <a:srgbClr val="1E293B"/>
                      </a:solidFill>
                      <a:prstDash val="solid"/>
                      <a:round/>
                      <a:headEnd type="none" w="med" len="med"/>
                      <a:tailEnd type="none" w="med" len="med"/>
                    </a:lnL>
                    <a:lnR w="19050" cap="flat" cmpd="sng" algn="ctr">
                      <a:solidFill>
                        <a:srgbClr val="1E293B"/>
                      </a:solidFill>
                      <a:prstDash val="solid"/>
                      <a:round/>
                      <a:headEnd type="none" w="med" len="med"/>
                      <a:tailEnd type="none" w="med" len="med"/>
                    </a:lnR>
                    <a:lnT w="19050" cap="flat" cmpd="sng" algn="ctr">
                      <a:solidFill>
                        <a:srgbClr val="1E293B"/>
                      </a:solidFill>
                      <a:prstDash val="solid"/>
                      <a:round/>
                      <a:headEnd type="none" w="med" len="med"/>
                      <a:tailEnd type="none" w="med" len="med"/>
                    </a:lnT>
                    <a:lnB w="19050" cap="flat" cmpd="sng" algn="ctr">
                      <a:solidFill>
                        <a:srgbClr val="1E293B"/>
                      </a:solidFill>
                      <a:prstDash val="solid"/>
                      <a:round/>
                      <a:headEnd type="none" w="med" len="med"/>
                      <a:tailEnd type="none" w="med" len="med"/>
                    </a:lnB>
                    <a:solidFill>
                      <a:srgbClr val="1E293B"/>
                    </a:solidFill>
                  </a:tcPr>
                </a:tc>
              </a:tr>
            </a:tbl>
          </a:graphicData>
        </a:graphic>
      </p:graphicFrame>
      <p:sp>
        <p:nvSpPr>
          <p:cNvPr id="33" name="Shape 30"/>
          <p:cNvSpPr/>
          <p:nvPr/>
        </p:nvSpPr>
        <p:spPr>
          <a:xfrm>
            <a:off x="5120640" y="1956816"/>
            <a:ext cx="3657600" cy="1426464"/>
          </a:xfrm>
          <a:prstGeom prst="rect">
            <a:avLst/>
          </a:prstGeom>
          <a:solidFill>
            <a:srgbClr val="1E293B"/>
          </a:solidFill>
          <a:ln w="6350">
            <a:solidFill>
              <a:srgbClr val="334155"/>
            </a:solidFill>
            <a:prstDash val="solid"/>
          </a:ln>
        </p:spPr>
      </p:sp>
      <p:sp>
        <p:nvSpPr>
          <p:cNvPr id="34" name="Text 31"/>
          <p:cNvSpPr txBox="1"/>
          <p:nvPr/>
        </p:nvSpPr>
        <p:spPr>
          <a:xfrm>
            <a:off x="5212080" y="1993392"/>
            <a:ext cx="3474720" cy="182880"/>
          </a:xfrm>
          <a:prstGeom prst="rect">
            <a:avLst/>
          </a:prstGeom>
          <a:noFill/>
          <a:ln/>
        </p:spPr>
        <p:txBody>
          <a:bodyPr wrap="square" lIns="0" tIns="0" rIns="0" bIns="0" rtlCol="0" anchor="ctr"/>
          <a:lstStyle/>
          <a:p>
            <a:pPr indent="0" marL="0">
              <a:buNone/>
            </a:pPr>
            <a:r>
              <a:rPr lang="en-US" sz="800" b="1" dirty="0">
                <a:solidFill>
                  <a:srgbClr val="E2E8F0"/>
                </a:solidFill>
                <a:latin typeface="Calibri" pitchFamily="34" charset="0"/>
                <a:ea typeface="Calibri" pitchFamily="34" charset="-122"/>
                <a:cs typeface="Calibri" pitchFamily="34" charset="-120"/>
              </a:rPr>
              <a:t>Benford's Law: vendors failing the chi-square test</a:t>
            </a:r>
            <a:endParaRPr lang="en-US" sz="8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212080" y="2212848"/>
          <a:ext cx="3474720" cy="914400"/>
        </p:xfrm>
        <a:graphic>
          <a:graphicData uri="http://schemas.openxmlformats.org/drawingml/2006/table">
            <a:tbl>
              <a:tblPr/>
              <a:tblGrid>
                <a:gridCol w="1463040"/>
                <a:gridCol w="640080"/>
                <a:gridCol w="548640"/>
                <a:gridCol w="822960"/>
              </a:tblGrid>
              <a:tr h="155448">
                <a:tc>
                  <a:txBody>
                    <a:bodyPr/>
                    <a:lstStyle/>
                    <a:p>
                      <a:pPr algn="l" indent="0" marL="0">
                        <a:buNone/>
                      </a:pPr>
                      <a:r>
                        <a:rPr lang="en-US" sz="700" b="1" dirty="0">
                          <a:solidFill>
                            <a:srgbClr val="94A3B8"/>
                          </a:solidFill>
                          <a:latin typeface="Calibri" pitchFamily="34" charset="0"/>
                          <a:ea typeface="Calibri" pitchFamily="34" charset="-122"/>
                          <a:cs typeface="Calibri" pitchFamily="34" charset="-120"/>
                        </a:rPr>
                        <a:t>Vendor</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E293B"/>
                    </a:solidFill>
                  </a:tcPr>
                </a:tc>
                <a:tc>
                  <a:txBody>
                    <a:bodyPr/>
                    <a:lstStyle/>
                    <a:p>
                      <a:pPr algn="r" indent="0" marL="0">
                        <a:buNone/>
                      </a:pPr>
                      <a:r>
                        <a:rPr lang="en-US" sz="700" b="1" dirty="0">
                          <a:solidFill>
                            <a:srgbClr val="94A3B8"/>
                          </a:solidFill>
                          <a:latin typeface="Calibri" pitchFamily="34" charset="0"/>
                          <a:ea typeface="Calibri" pitchFamily="34" charset="-122"/>
                          <a:cs typeface="Calibri" pitchFamily="34" charset="-120"/>
                        </a:rPr>
                        <a:t>Invoices</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E293B"/>
                    </a:solidFill>
                  </a:tcPr>
                </a:tc>
                <a:tc>
                  <a:txBody>
                    <a:bodyPr/>
                    <a:lstStyle/>
                    <a:p>
                      <a:pPr algn="r" indent="0" marL="0">
                        <a:buNone/>
                      </a:pPr>
                      <a:r>
                        <a:rPr lang="en-US" sz="700" b="1" dirty="0">
                          <a:solidFill>
                            <a:srgbClr val="94A3B8"/>
                          </a:solidFill>
                          <a:latin typeface="Calibri" pitchFamily="34" charset="0"/>
                          <a:ea typeface="Calibri" pitchFamily="34" charset="-122"/>
                          <a:cs typeface="Calibri" pitchFamily="34" charset="-120"/>
                        </a:rPr>
                        <a:t>χ²</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E293B"/>
                    </a:solidFill>
                  </a:tcPr>
                </a:tc>
                <a:tc>
                  <a:txBody>
                    <a:bodyPr/>
                    <a:lstStyle/>
                    <a:p>
                      <a:pPr algn="r" indent="0" marL="0">
                        <a:buNone/>
                      </a:pPr>
                      <a:r>
                        <a:rPr lang="en-US" sz="700" b="1" dirty="0">
                          <a:solidFill>
                            <a:srgbClr val="94A3B8"/>
                          </a:solidFill>
                          <a:latin typeface="Calibri" pitchFamily="34" charset="0"/>
                          <a:ea typeface="Calibri" pitchFamily="34" charset="-122"/>
                          <a:cs typeface="Calibri" pitchFamily="34" charset="-120"/>
                        </a:rPr>
                        <a:t>Signal</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E293B"/>
                    </a:solidFill>
                  </a:tcPr>
                </a:tc>
              </a:tr>
              <a:tr h="155448">
                <a:tc>
                  <a:txBody>
                    <a:bodyPr/>
                    <a:lstStyle/>
                    <a:p>
                      <a:pPr algn="l" indent="0" marL="0">
                        <a:buNone/>
                      </a:pPr>
                      <a:r>
                        <a:rPr lang="en-US" sz="700" dirty="0">
                          <a:solidFill>
                            <a:srgbClr val="E2E8F0"/>
                          </a:solidFill>
                          <a:latin typeface="Calibri" pitchFamily="34" charset="0"/>
                          <a:ea typeface="Calibri" pitchFamily="34" charset="-122"/>
                          <a:cs typeface="Calibri" pitchFamily="34" charset="-120"/>
                        </a:rPr>
                        <a:t>Apex Logistics</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dirty="0">
                          <a:solidFill>
                            <a:srgbClr val="E2E8F0"/>
                          </a:solidFill>
                          <a:latin typeface="Calibri" pitchFamily="34" charset="0"/>
                          <a:ea typeface="Calibri" pitchFamily="34" charset="-122"/>
                          <a:cs typeface="Calibri" pitchFamily="34" charset="-120"/>
                        </a:rPr>
                        <a:t>64</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dirty="0">
                          <a:solidFill>
                            <a:srgbClr val="E2E8F0"/>
                          </a:solidFill>
                          <a:latin typeface="Calibri" pitchFamily="34" charset="0"/>
                          <a:ea typeface="Calibri" pitchFamily="34" charset="-122"/>
                          <a:cs typeface="Calibri" pitchFamily="34" charset="-120"/>
                        </a:rPr>
                        <a:t>163.9</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b="1" dirty="0">
                          <a:solidFill>
                            <a:srgbClr val="F87171"/>
                          </a:solidFill>
                          <a:latin typeface="Calibri" pitchFamily="34" charset="0"/>
                          <a:ea typeface="Calibri" pitchFamily="34" charset="-122"/>
                          <a:cs typeface="Calibri" pitchFamily="34" charset="-120"/>
                        </a:rPr>
                        <a:t>Strong</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r h="155448">
                <a:tc>
                  <a:txBody>
                    <a:bodyPr/>
                    <a:lstStyle/>
                    <a:p>
                      <a:pPr algn="l" indent="0" marL="0">
                        <a:buNone/>
                      </a:pPr>
                      <a:r>
                        <a:rPr lang="en-US" sz="700" dirty="0">
                          <a:solidFill>
                            <a:srgbClr val="E2E8F0"/>
                          </a:solidFill>
                          <a:latin typeface="Calibri" pitchFamily="34" charset="0"/>
                          <a:ea typeface="Calibri" pitchFamily="34" charset="-122"/>
                          <a:cs typeface="Calibri" pitchFamily="34" charset="-120"/>
                        </a:rPr>
                        <a:t>Zenith Printers</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dirty="0">
                          <a:solidFill>
                            <a:srgbClr val="E2E8F0"/>
                          </a:solidFill>
                          <a:latin typeface="Calibri" pitchFamily="34" charset="0"/>
                          <a:ea typeface="Calibri" pitchFamily="34" charset="-122"/>
                          <a:cs typeface="Calibri" pitchFamily="34" charset="-120"/>
                        </a:rPr>
                        <a:t>64</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dirty="0">
                          <a:solidFill>
                            <a:srgbClr val="E2E8F0"/>
                          </a:solidFill>
                          <a:latin typeface="Calibri" pitchFamily="34" charset="0"/>
                          <a:ea typeface="Calibri" pitchFamily="34" charset="-122"/>
                          <a:cs typeface="Calibri" pitchFamily="34" charset="-120"/>
                        </a:rPr>
                        <a:t>152.9</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b="1" dirty="0">
                          <a:solidFill>
                            <a:srgbClr val="F87171"/>
                          </a:solidFill>
                          <a:latin typeface="Calibri" pitchFamily="34" charset="0"/>
                          <a:ea typeface="Calibri" pitchFamily="34" charset="-122"/>
                          <a:cs typeface="Calibri" pitchFamily="34" charset="-120"/>
                        </a:rPr>
                        <a:t>Strong</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r h="155448">
                <a:tc>
                  <a:txBody>
                    <a:bodyPr/>
                    <a:lstStyle/>
                    <a:p>
                      <a:pPr algn="l" indent="0" marL="0">
                        <a:buNone/>
                      </a:pPr>
                      <a:r>
                        <a:rPr lang="en-US" sz="700" dirty="0">
                          <a:solidFill>
                            <a:srgbClr val="E2E8F0"/>
                          </a:solidFill>
                          <a:latin typeface="Calibri" pitchFamily="34" charset="0"/>
                          <a:ea typeface="Calibri" pitchFamily="34" charset="-122"/>
                          <a:cs typeface="Calibri" pitchFamily="34" charset="-120"/>
                        </a:rPr>
                        <a:t>Summit Media</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dirty="0">
                          <a:solidFill>
                            <a:srgbClr val="E2E8F0"/>
                          </a:solidFill>
                          <a:latin typeface="Calibri" pitchFamily="34" charset="0"/>
                          <a:ea typeface="Calibri" pitchFamily="34" charset="-122"/>
                          <a:cs typeface="Calibri" pitchFamily="34" charset="-120"/>
                        </a:rPr>
                        <a:t>72</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dirty="0">
                          <a:solidFill>
                            <a:srgbClr val="E2E8F0"/>
                          </a:solidFill>
                          <a:latin typeface="Calibri" pitchFamily="34" charset="0"/>
                          <a:ea typeface="Calibri" pitchFamily="34" charset="-122"/>
                          <a:cs typeface="Calibri" pitchFamily="34" charset="-120"/>
                        </a:rPr>
                        <a:t>137.9</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b="1" dirty="0">
                          <a:solidFill>
                            <a:srgbClr val="F87171"/>
                          </a:solidFill>
                          <a:latin typeface="Calibri" pitchFamily="34" charset="0"/>
                          <a:ea typeface="Calibri" pitchFamily="34" charset="-122"/>
                          <a:cs typeface="Calibri" pitchFamily="34" charset="-120"/>
                        </a:rPr>
                        <a:t>Strong</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r h="155448">
                <a:tc>
                  <a:txBody>
                    <a:bodyPr/>
                    <a:lstStyle/>
                    <a:p>
                      <a:pPr algn="l" indent="0" marL="0">
                        <a:buNone/>
                      </a:pPr>
                      <a:r>
                        <a:rPr lang="en-US" sz="700" dirty="0">
                          <a:solidFill>
                            <a:srgbClr val="E2E8F0"/>
                          </a:solidFill>
                          <a:latin typeface="Calibri" pitchFamily="34" charset="0"/>
                          <a:ea typeface="Calibri" pitchFamily="34" charset="-122"/>
                          <a:cs typeface="Calibri" pitchFamily="34" charset="-120"/>
                        </a:rPr>
                        <a:t>Pioneer Enterprises</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dirty="0">
                          <a:solidFill>
                            <a:srgbClr val="E2E8F0"/>
                          </a:solidFill>
                          <a:latin typeface="Calibri" pitchFamily="34" charset="0"/>
                          <a:ea typeface="Calibri" pitchFamily="34" charset="-122"/>
                          <a:cs typeface="Calibri" pitchFamily="34" charset="-120"/>
                        </a:rPr>
                        <a:t>63</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dirty="0">
                          <a:solidFill>
                            <a:srgbClr val="E2E8F0"/>
                          </a:solidFill>
                          <a:latin typeface="Calibri" pitchFamily="34" charset="0"/>
                          <a:ea typeface="Calibri" pitchFamily="34" charset="-122"/>
                          <a:cs typeface="Calibri" pitchFamily="34" charset="-120"/>
                        </a:rPr>
                        <a:t>33.1</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b="1" dirty="0">
                          <a:solidFill>
                            <a:srgbClr val="FBBF24"/>
                          </a:solidFill>
                          <a:latin typeface="Calibri" pitchFamily="34" charset="0"/>
                          <a:ea typeface="Calibri" pitchFamily="34" charset="-122"/>
                          <a:cs typeface="Calibri" pitchFamily="34" charset="-120"/>
                        </a:rPr>
                        <a:t>Borderline</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r h="155448">
                <a:tc>
                  <a:txBody>
                    <a:bodyPr/>
                    <a:lstStyle/>
                    <a:p>
                      <a:pPr algn="l" indent="0" marL="0">
                        <a:buNone/>
                      </a:pPr>
                      <a:r>
                        <a:rPr lang="en-US" sz="700" dirty="0">
                          <a:solidFill>
                            <a:srgbClr val="E2E8F0"/>
                          </a:solidFill>
                          <a:latin typeface="Calibri" pitchFamily="34" charset="0"/>
                          <a:ea typeface="Calibri" pitchFamily="34" charset="-122"/>
                          <a:cs typeface="Calibri" pitchFamily="34" charset="-120"/>
                        </a:rPr>
                        <a:t>Zenith Solutions</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dirty="0">
                          <a:solidFill>
                            <a:srgbClr val="E2E8F0"/>
                          </a:solidFill>
                          <a:latin typeface="Calibri" pitchFamily="34" charset="0"/>
                          <a:ea typeface="Calibri" pitchFamily="34" charset="-122"/>
                          <a:cs typeface="Calibri" pitchFamily="34" charset="-120"/>
                        </a:rPr>
                        <a:t>107</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dirty="0">
                          <a:solidFill>
                            <a:srgbClr val="E2E8F0"/>
                          </a:solidFill>
                          <a:latin typeface="Calibri" pitchFamily="34" charset="0"/>
                          <a:ea typeface="Calibri" pitchFamily="34" charset="-122"/>
                          <a:cs typeface="Calibri" pitchFamily="34" charset="-120"/>
                        </a:rPr>
                        <a:t>27.1</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b="1" dirty="0">
                          <a:solidFill>
                            <a:srgbClr val="FBBF24"/>
                          </a:solidFill>
                          <a:latin typeface="Calibri" pitchFamily="34" charset="0"/>
                          <a:ea typeface="Calibri" pitchFamily="34" charset="-122"/>
                          <a:cs typeface="Calibri" pitchFamily="34" charset="-120"/>
                        </a:rPr>
                        <a:t>Borderline</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r h="155448">
                <a:tc>
                  <a:txBody>
                    <a:bodyPr/>
                    <a:lstStyle/>
                    <a:p>
                      <a:pPr algn="l" indent="0" marL="0">
                        <a:buNone/>
                      </a:pPr>
                      <a:r>
                        <a:rPr lang="en-US" sz="700" dirty="0">
                          <a:solidFill>
                            <a:srgbClr val="E2E8F0"/>
                          </a:solidFill>
                          <a:latin typeface="Calibri" pitchFamily="34" charset="0"/>
                          <a:ea typeface="Calibri" pitchFamily="34" charset="-122"/>
                          <a:cs typeface="Calibri" pitchFamily="34" charset="-120"/>
                        </a:rPr>
                        <a:t>Vertex Travels</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dirty="0">
                          <a:solidFill>
                            <a:srgbClr val="E2E8F0"/>
                          </a:solidFill>
                          <a:latin typeface="Calibri" pitchFamily="34" charset="0"/>
                          <a:ea typeface="Calibri" pitchFamily="34" charset="-122"/>
                          <a:cs typeface="Calibri" pitchFamily="34" charset="-120"/>
                        </a:rPr>
                        <a:t>229</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dirty="0">
                          <a:solidFill>
                            <a:srgbClr val="E2E8F0"/>
                          </a:solidFill>
                          <a:latin typeface="Calibri" pitchFamily="34" charset="0"/>
                          <a:ea typeface="Calibri" pitchFamily="34" charset="-122"/>
                          <a:cs typeface="Calibri" pitchFamily="34" charset="-120"/>
                        </a:rPr>
                        <a:t>26.4</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700" b="1" dirty="0">
                          <a:solidFill>
                            <a:srgbClr val="FBBF24"/>
                          </a:solidFill>
                          <a:latin typeface="Calibri" pitchFamily="34" charset="0"/>
                          <a:ea typeface="Calibri" pitchFamily="34" charset="-122"/>
                          <a:cs typeface="Calibri" pitchFamily="34" charset="-120"/>
                        </a:rPr>
                        <a:t>Borderline</a:t>
                      </a:r>
                      <a:endParaRPr lang="en-US" sz="700" dirty="0">
                        <a:latin typeface="Calibri" charset="0"/>
                        <a:ea typeface="Calibri" charset="0"/>
                        <a:cs typeface="Calibri" charset="0"/>
                      </a:endParaRPr>
                    </a:p>
                  </a:txBody>
                  <a:tcPr marL="54864" marR="54864" marT="9144" marB="9144">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bl>
          </a:graphicData>
        </a:graphic>
      </p:graphicFrame>
      <p:sp>
        <p:nvSpPr>
          <p:cNvPr id="36" name="Shape 32"/>
          <p:cNvSpPr/>
          <p:nvPr/>
        </p:nvSpPr>
        <p:spPr>
          <a:xfrm>
            <a:off x="5120640" y="3456432"/>
            <a:ext cx="3657600" cy="1463040"/>
          </a:xfrm>
          <a:prstGeom prst="rect">
            <a:avLst/>
          </a:prstGeom>
          <a:solidFill>
            <a:srgbClr val="1E293B"/>
          </a:solidFill>
          <a:ln w="6350">
            <a:solidFill>
              <a:srgbClr val="334155"/>
            </a:solidFill>
            <a:prstDash val="solid"/>
          </a:ln>
        </p:spPr>
      </p:sp>
      <p:sp>
        <p:nvSpPr>
          <p:cNvPr id="37" name="Text 33"/>
          <p:cNvSpPr txBox="1"/>
          <p:nvPr/>
        </p:nvSpPr>
        <p:spPr>
          <a:xfrm>
            <a:off x="5212080" y="3493008"/>
            <a:ext cx="3474720" cy="182880"/>
          </a:xfrm>
          <a:prstGeom prst="rect">
            <a:avLst/>
          </a:prstGeom>
          <a:noFill/>
          <a:ln/>
        </p:spPr>
        <p:txBody>
          <a:bodyPr wrap="square" lIns="0" tIns="0" rIns="0" bIns="0" rtlCol="0" anchor="ctr"/>
          <a:lstStyle/>
          <a:p>
            <a:pPr indent="0" marL="0">
              <a:buNone/>
            </a:pPr>
            <a:r>
              <a:rPr lang="en-US" sz="800" b="1" dirty="0">
                <a:solidFill>
                  <a:srgbClr val="E2E8F0"/>
                </a:solidFill>
                <a:latin typeface="Calibri" pitchFamily="34" charset="0"/>
                <a:ea typeface="Calibri" pitchFamily="34" charset="-122"/>
                <a:cs typeface="Calibri" pitchFamily="34" charset="-120"/>
              </a:rPr>
              <a:t>Invoice creators: exceptions and self approvals</a:t>
            </a:r>
            <a:endParaRPr lang="en-US" sz="800" dirty="0"/>
          </a:p>
        </p:txBody>
      </p:sp>
      <p:graphicFrame>
        <p:nvGraphicFramePr>
          <p:cNvPr id="28" name="Table 2"/>
          <p:cNvGraphicFramePr>
            <a:graphicFrameLocks noGrp="1"/>
          </p:cNvGraphicFramePr>
          <p:nvPr>
            <p:extLst>
              <p:ext uri="{D42A27DB-BD31-4B8C-83A1-F6EECF244321}">
                <p14:modId xmlns:p14="http://schemas.microsoft.com/office/powerpoint/2010/main" val="1579011935"/>
              </p:ext>
            </p:extLst>
          </p:nvPr>
        </p:nvGraphicFramePr>
        <p:xfrm>
          <a:off x="5212080" y="3694176"/>
          <a:ext cx="3474720" cy="914400"/>
        </p:xfrm>
        <a:graphic>
          <a:graphicData uri="http://schemas.openxmlformats.org/drawingml/2006/table">
            <a:tbl>
              <a:tblPr/>
              <a:tblGrid>
                <a:gridCol w="822960"/>
                <a:gridCol w="640080"/>
                <a:gridCol w="731520"/>
                <a:gridCol w="548640"/>
                <a:gridCol w="731520"/>
              </a:tblGrid>
              <a:tr h="128016">
                <a:tc>
                  <a:txBody>
                    <a:bodyPr/>
                    <a:lstStyle/>
                    <a:p>
                      <a:pPr algn="l" indent="0" marL="0">
                        <a:buNone/>
                      </a:pPr>
                      <a:r>
                        <a:rPr lang="en-US" sz="700" b="1" dirty="0">
                          <a:solidFill>
                            <a:srgbClr val="94A3B8"/>
                          </a:solidFill>
                          <a:latin typeface="Calibri" pitchFamily="34" charset="0"/>
                          <a:ea typeface="Calibri" pitchFamily="34" charset="-122"/>
                          <a:cs typeface="Calibri" pitchFamily="34" charset="-120"/>
                        </a:rPr>
                        <a:t>User</a:t>
                      </a:r>
                      <a:endParaRPr lang="en-US" sz="70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E293B"/>
                    </a:solidFill>
                  </a:tcPr>
                </a:tc>
                <a:tc>
                  <a:txBody>
                    <a:bodyPr/>
                    <a:lstStyle/>
                    <a:p>
                      <a:pPr algn="r" indent="0" marL="0">
                        <a:buNone/>
                      </a:pPr>
                      <a:r>
                        <a:rPr lang="en-US" sz="700" b="1" dirty="0">
                          <a:solidFill>
                            <a:srgbClr val="94A3B8"/>
                          </a:solidFill>
                          <a:latin typeface="Calibri" pitchFamily="34" charset="0"/>
                          <a:ea typeface="Calibri" pitchFamily="34" charset="-122"/>
                          <a:cs typeface="Calibri" pitchFamily="34" charset="-120"/>
                        </a:rPr>
                        <a:t>Invoices</a:t>
                      </a:r>
                      <a:endParaRPr lang="en-US" sz="70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E293B"/>
                    </a:solidFill>
                  </a:tcPr>
                </a:tc>
                <a:tc>
                  <a:txBody>
                    <a:bodyPr/>
                    <a:lstStyle/>
                    <a:p>
                      <a:pPr algn="r" indent="0" marL="0">
                        <a:buNone/>
                      </a:pPr>
                      <a:r>
                        <a:rPr lang="en-US" sz="700" b="1" dirty="0">
                          <a:solidFill>
                            <a:srgbClr val="94A3B8"/>
                          </a:solidFill>
                          <a:latin typeface="Calibri" pitchFamily="34" charset="0"/>
                          <a:ea typeface="Calibri" pitchFamily="34" charset="-122"/>
                          <a:cs typeface="Calibri" pitchFamily="34" charset="-120"/>
                        </a:rPr>
                        <a:t>Exceptions</a:t>
                      </a:r>
                      <a:endParaRPr lang="en-US" sz="70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E293B"/>
                    </a:solidFill>
                  </a:tcPr>
                </a:tc>
                <a:tc>
                  <a:txBody>
                    <a:bodyPr/>
                    <a:lstStyle/>
                    <a:p>
                      <a:pPr algn="r" indent="0" marL="0">
                        <a:buNone/>
                      </a:pPr>
                      <a:r>
                        <a:rPr lang="en-US" sz="700" b="1" dirty="0">
                          <a:solidFill>
                            <a:srgbClr val="94A3B8"/>
                          </a:solidFill>
                          <a:latin typeface="Calibri" pitchFamily="34" charset="0"/>
                          <a:ea typeface="Calibri" pitchFamily="34" charset="-122"/>
                          <a:cs typeface="Calibri" pitchFamily="34" charset="-120"/>
                        </a:rPr>
                        <a:t>Rate</a:t>
                      </a:r>
                      <a:endParaRPr lang="en-US" sz="70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E293B"/>
                    </a:solidFill>
                  </a:tcPr>
                </a:tc>
                <a:tc>
                  <a:txBody>
                    <a:bodyPr/>
                    <a:lstStyle/>
                    <a:p>
                      <a:pPr algn="r" indent="0" marL="0">
                        <a:buNone/>
                      </a:pPr>
                      <a:r>
                        <a:rPr lang="en-US" sz="700" b="1" dirty="0">
                          <a:solidFill>
                            <a:srgbClr val="94A3B8"/>
                          </a:solidFill>
                          <a:latin typeface="Calibri" pitchFamily="34" charset="0"/>
                          <a:ea typeface="Calibri" pitchFamily="34" charset="-122"/>
                          <a:cs typeface="Calibri" pitchFamily="34" charset="-120"/>
                        </a:rPr>
                        <a:t>Self appr.</a:t>
                      </a:r>
                      <a:endParaRPr lang="en-US" sz="70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1E293B"/>
                    </a:solidFill>
                  </a:tcPr>
                </a:tc>
              </a:tr>
              <a:tr h="128016">
                <a:tc>
                  <a:txBody>
                    <a:bodyPr/>
                    <a:lstStyle/>
                    <a:p>
                      <a:pPr algn="l" indent="0" marL="0">
                        <a:buNone/>
                      </a:pPr>
                      <a:r>
                        <a:rPr lang="en-US" sz="650" dirty="0">
                          <a:solidFill>
                            <a:srgbClr val="E2E8F0"/>
                          </a:solidFill>
                          <a:latin typeface="Calibri" pitchFamily="34" charset="0"/>
                          <a:ea typeface="Calibri" pitchFamily="34" charset="-122"/>
                          <a:cs typeface="Calibri" pitchFamily="34" charset="-120"/>
                        </a:rPr>
                        <a:t>r.iyer</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1,556</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159</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10.2%</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F87171"/>
                          </a:solidFill>
                          <a:latin typeface="Calibri" pitchFamily="34" charset="0"/>
                          <a:ea typeface="Calibri" pitchFamily="34" charset="-122"/>
                          <a:cs typeface="Calibri" pitchFamily="34" charset="-120"/>
                        </a:rPr>
                        <a:t>10</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r h="128016">
                <a:tc>
                  <a:txBody>
                    <a:bodyPr/>
                    <a:lstStyle/>
                    <a:p>
                      <a:pPr algn="l" indent="0" marL="0">
                        <a:buNone/>
                      </a:pPr>
                      <a:r>
                        <a:rPr lang="en-US" sz="650" dirty="0">
                          <a:solidFill>
                            <a:srgbClr val="E2E8F0"/>
                          </a:solidFill>
                          <a:latin typeface="Calibri" pitchFamily="34" charset="0"/>
                          <a:ea typeface="Calibri" pitchFamily="34" charset="-122"/>
                          <a:cs typeface="Calibri" pitchFamily="34" charset="-120"/>
                        </a:rPr>
                        <a:t>n.joshi</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1,546</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154</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10.0%</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F87171"/>
                          </a:solidFill>
                          <a:latin typeface="Calibri" pitchFamily="34" charset="0"/>
                          <a:ea typeface="Calibri" pitchFamily="34" charset="-122"/>
                          <a:cs typeface="Calibri" pitchFamily="34" charset="-120"/>
                        </a:rPr>
                        <a:t>13</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r h="128016">
                <a:tc>
                  <a:txBody>
                    <a:bodyPr/>
                    <a:lstStyle/>
                    <a:p>
                      <a:pPr algn="l" indent="0" marL="0">
                        <a:buNone/>
                      </a:pPr>
                      <a:r>
                        <a:rPr lang="en-US" sz="650" dirty="0">
                          <a:solidFill>
                            <a:srgbClr val="E2E8F0"/>
                          </a:solidFill>
                          <a:latin typeface="Calibri" pitchFamily="34" charset="0"/>
                          <a:ea typeface="Calibri" pitchFamily="34" charset="-122"/>
                          <a:cs typeface="Calibri" pitchFamily="34" charset="-120"/>
                        </a:rPr>
                        <a:t>s.khan</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1,491</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149</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10.0%</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F87171"/>
                          </a:solidFill>
                          <a:latin typeface="Calibri" pitchFamily="34" charset="0"/>
                          <a:ea typeface="Calibri" pitchFamily="34" charset="-122"/>
                          <a:cs typeface="Calibri" pitchFamily="34" charset="-120"/>
                        </a:rPr>
                        <a:t>17</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r h="128016">
                <a:tc>
                  <a:txBody>
                    <a:bodyPr/>
                    <a:lstStyle/>
                    <a:p>
                      <a:pPr algn="l" indent="0" marL="0">
                        <a:buNone/>
                      </a:pPr>
                      <a:r>
                        <a:rPr lang="en-US" sz="650" dirty="0">
                          <a:solidFill>
                            <a:srgbClr val="E2E8F0"/>
                          </a:solidFill>
                          <a:latin typeface="Calibri" pitchFamily="34" charset="0"/>
                          <a:ea typeface="Calibri" pitchFamily="34" charset="-122"/>
                          <a:cs typeface="Calibri" pitchFamily="34" charset="-120"/>
                        </a:rPr>
                        <a:t>a.verma</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1,509</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148</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9.8%</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F87171"/>
                          </a:solidFill>
                          <a:latin typeface="Calibri" pitchFamily="34" charset="0"/>
                          <a:ea typeface="Calibri" pitchFamily="34" charset="-122"/>
                          <a:cs typeface="Calibri" pitchFamily="34" charset="-120"/>
                        </a:rPr>
                        <a:t>15</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r h="128016">
                <a:tc>
                  <a:txBody>
                    <a:bodyPr/>
                    <a:lstStyle/>
                    <a:p>
                      <a:pPr algn="l" indent="0" marL="0">
                        <a:buNone/>
                      </a:pPr>
                      <a:r>
                        <a:rPr lang="en-US" sz="650" dirty="0">
                          <a:solidFill>
                            <a:srgbClr val="E2E8F0"/>
                          </a:solidFill>
                          <a:latin typeface="Calibri" pitchFamily="34" charset="0"/>
                          <a:ea typeface="Calibri" pitchFamily="34" charset="-122"/>
                          <a:cs typeface="Calibri" pitchFamily="34" charset="-120"/>
                        </a:rPr>
                        <a:t>m.gupta</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1,467</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135</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9.2%</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F87171"/>
                          </a:solidFill>
                          <a:latin typeface="Calibri" pitchFamily="34" charset="0"/>
                          <a:ea typeface="Calibri" pitchFamily="34" charset="-122"/>
                          <a:cs typeface="Calibri" pitchFamily="34" charset="-120"/>
                        </a:rPr>
                        <a:t>8</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r h="128016">
                <a:tc>
                  <a:txBody>
                    <a:bodyPr/>
                    <a:lstStyle/>
                    <a:p>
                      <a:pPr algn="l" indent="0" marL="0">
                        <a:buNone/>
                      </a:pPr>
                      <a:r>
                        <a:rPr lang="en-US" sz="650" dirty="0">
                          <a:solidFill>
                            <a:srgbClr val="E2E8F0"/>
                          </a:solidFill>
                          <a:latin typeface="Calibri" pitchFamily="34" charset="0"/>
                          <a:ea typeface="Calibri" pitchFamily="34" charset="-122"/>
                          <a:cs typeface="Calibri" pitchFamily="34" charset="-120"/>
                        </a:rPr>
                        <a:t>k.das</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1,454</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132</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9.1%</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F87171"/>
                          </a:solidFill>
                          <a:latin typeface="Calibri" pitchFamily="34" charset="0"/>
                          <a:ea typeface="Calibri" pitchFamily="34" charset="-122"/>
                          <a:cs typeface="Calibri" pitchFamily="34" charset="-120"/>
                        </a:rPr>
                        <a:t>9</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r h="128016">
                <a:tc>
                  <a:txBody>
                    <a:bodyPr/>
                    <a:lstStyle/>
                    <a:p>
                      <a:pPr algn="l" indent="0" marL="0">
                        <a:buNone/>
                      </a:pPr>
                      <a:r>
                        <a:rPr lang="en-US" sz="650" dirty="0">
                          <a:solidFill>
                            <a:srgbClr val="E2E8F0"/>
                          </a:solidFill>
                          <a:latin typeface="Calibri" pitchFamily="34" charset="0"/>
                          <a:ea typeface="Calibri" pitchFamily="34" charset="-122"/>
                          <a:cs typeface="Calibri" pitchFamily="34" charset="-120"/>
                        </a:rPr>
                        <a:t>t.roy</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1,538</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139</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9.0%</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F87171"/>
                          </a:solidFill>
                          <a:latin typeface="Calibri" pitchFamily="34" charset="0"/>
                          <a:ea typeface="Calibri" pitchFamily="34" charset="-122"/>
                          <a:cs typeface="Calibri" pitchFamily="34" charset="-120"/>
                        </a:rPr>
                        <a:t>11</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r h="128016">
                <a:tc>
                  <a:txBody>
                    <a:bodyPr/>
                    <a:lstStyle/>
                    <a:p>
                      <a:pPr algn="l" indent="0" marL="0">
                        <a:buNone/>
                      </a:pPr>
                      <a:r>
                        <a:rPr lang="en-US" sz="650" dirty="0">
                          <a:solidFill>
                            <a:srgbClr val="E2E8F0"/>
                          </a:solidFill>
                          <a:latin typeface="Calibri" pitchFamily="34" charset="0"/>
                          <a:ea typeface="Calibri" pitchFamily="34" charset="-122"/>
                          <a:cs typeface="Calibri" pitchFamily="34" charset="-120"/>
                        </a:rPr>
                        <a:t>p.nair</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1,534</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136</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E2E8F0"/>
                          </a:solidFill>
                          <a:latin typeface="Calibri" pitchFamily="34" charset="0"/>
                          <a:ea typeface="Calibri" pitchFamily="34" charset="-122"/>
                          <a:cs typeface="Calibri" pitchFamily="34" charset="-120"/>
                        </a:rPr>
                        <a:t>8.9%</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c>
                  <a:txBody>
                    <a:bodyPr/>
                    <a:lstStyle/>
                    <a:p>
                      <a:pPr algn="r" indent="0" marL="0">
                        <a:buNone/>
                      </a:pPr>
                      <a:r>
                        <a:rPr lang="en-US" sz="650" dirty="0">
                          <a:solidFill>
                            <a:srgbClr val="F87171"/>
                          </a:solidFill>
                          <a:latin typeface="Calibri" pitchFamily="34" charset="0"/>
                          <a:ea typeface="Calibri" pitchFamily="34" charset="-122"/>
                          <a:cs typeface="Calibri" pitchFamily="34" charset="-120"/>
                        </a:rPr>
                        <a:t>11</a:t>
                      </a:r>
                      <a:endParaRPr lang="en-US" sz="650" dirty="0">
                        <a:latin typeface="Calibri" charset="0"/>
                        <a:ea typeface="Calibri" charset="0"/>
                        <a:cs typeface="Calibri" charset="0"/>
                      </a:endParaRPr>
                    </a:p>
                  </a:txBody>
                  <a:tcPr marL="54864" marR="54864" marT="4572" marB="4572">
                    <a:lnL w="12700" cap="flat" cmpd="sng" algn="ctr">
                      <a:solidFill>
                        <a:srgbClr val="1E293B"/>
                      </a:solidFill>
                      <a:prstDash val="solid"/>
                      <a:round/>
                      <a:headEnd type="none" w="med" len="med"/>
                      <a:tailEnd type="none" w="med" len="med"/>
                    </a:lnL>
                    <a:lnR w="12700" cap="flat" cmpd="sng" algn="ctr">
                      <a:solidFill>
                        <a:srgbClr val="1E293B"/>
                      </a:solidFill>
                      <a:prstDash val="solid"/>
                      <a:round/>
                      <a:headEnd type="none" w="med" len="med"/>
                      <a:tailEnd type="none" w="med" len="med"/>
                    </a:lnR>
                    <a:lnT w="12700" cap="flat" cmpd="sng" algn="ctr">
                      <a:solidFill>
                        <a:srgbClr val="1E293B"/>
                      </a:solidFill>
                      <a:prstDash val="solid"/>
                      <a:round/>
                      <a:headEnd type="none" w="med" len="med"/>
                      <a:tailEnd type="none" w="med" len="med"/>
                    </a:lnT>
                    <a:lnB w="12700" cap="flat" cmpd="sng" algn="ctr">
                      <a:solidFill>
                        <a:srgbClr val="1E293B"/>
                      </a:solidFill>
                      <a:prstDash val="solid"/>
                      <a:round/>
                      <a:headEnd type="none" w="med" len="med"/>
                      <a:tailEnd type="none" w="med" len="med"/>
                    </a:lnB>
                    <a:solidFill>
                      <a:srgbClr val="243247"/>
                    </a:solidFill>
                  </a:tcPr>
                </a:tc>
              </a:tr>
            </a:tbl>
          </a:graphicData>
        </a:graphic>
      </p:graphicFrame>
      <p:sp>
        <p:nvSpPr>
          <p:cNvPr id="39" name="Text 34"/>
          <p:cNvSpPr txBox="1"/>
          <p:nvPr/>
        </p:nvSpPr>
        <p:spPr>
          <a:xfrm>
            <a:off x="274320" y="4983480"/>
            <a:ext cx="8595360" cy="146304"/>
          </a:xfrm>
          <a:prstGeom prst="rect">
            <a:avLst/>
          </a:prstGeom>
          <a:noFill/>
          <a:ln/>
        </p:spPr>
        <p:txBody>
          <a:bodyPr wrap="square" lIns="0" tIns="0" rIns="0" bIns="0" rtlCol="0" anchor="ctr"/>
          <a:lstStyle/>
          <a:p>
            <a:pPr indent="0" marL="0">
              <a:buNone/>
            </a:pPr>
            <a:r>
              <a:rPr lang="en-US" sz="750" dirty="0">
                <a:solidFill>
                  <a:srgbClr val="94A3B8"/>
                </a:solidFill>
                <a:latin typeface="Calibri" pitchFamily="34" charset="0"/>
                <a:ea typeface="Calibri" pitchFamily="34" charset="-122"/>
                <a:cs typeface="Calibri" pitchFamily="34" charset="-120"/>
              </a:rPr>
              <a:t>Ten vendors carry half the flagged value  ·  Three vendors show strong Benford signals  ·  Exception rates are even across users, pointing to process rather than individual failure</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Key Learnings &amp; AI Usage</a:t>
            </a:r>
            <a:endParaRPr lang="en-US" sz="2200" dirty="0"/>
          </a:p>
        </p:txBody>
      </p:sp>
      <p:sp>
        <p:nvSpPr>
          <p:cNvPr id="3" name="Shape 1"/>
          <p:cNvSpPr/>
          <p:nvPr/>
        </p:nvSpPr>
        <p:spPr>
          <a:xfrm>
            <a:off x="457200" y="914400"/>
            <a:ext cx="4846320" cy="3931920"/>
          </a:xfrm>
          <a:prstGeom prst="rect">
            <a:avLst/>
          </a:prstGeom>
          <a:solidFill>
            <a:srgbClr val="1E293B"/>
          </a:solidFill>
          <a:ln w="9525">
            <a:solidFill>
              <a:srgbClr val="334155"/>
            </a:solidFill>
            <a:prstDash val="solid"/>
          </a:ln>
        </p:spPr>
      </p:sp>
      <p:sp>
        <p:nvSpPr>
          <p:cNvPr id="4" name="Text 2"/>
          <p:cNvSpPr txBox="1"/>
          <p:nvPr/>
        </p:nvSpPr>
        <p:spPr>
          <a:xfrm>
            <a:off x="594360" y="1005840"/>
            <a:ext cx="4572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Learnings</a:t>
            </a:r>
            <a:endParaRPr lang="en-US" sz="1100" dirty="0"/>
          </a:p>
        </p:txBody>
      </p:sp>
      <p:sp>
        <p:nvSpPr>
          <p:cNvPr id="5" name="Text 3"/>
          <p:cNvSpPr txBox="1"/>
          <p:nvPr/>
        </p:nvSpPr>
        <p:spPr>
          <a:xfrm>
            <a:off x="594360" y="1371600"/>
            <a:ext cx="4572000" cy="3383280"/>
          </a:xfrm>
          <a:prstGeom prst="rect">
            <a:avLst/>
          </a:prstGeom>
          <a:noFill/>
          <a:ln/>
        </p:spPr>
        <p:txBody>
          <a:bodyPr wrap="square" lIns="0" tIns="0" rIns="0" bIns="0" rtlCol="0" anchor="t"/>
          <a:lstStyle/>
          <a:p>
            <a:pPr indent="0" marL="0">
              <a:buNone/>
            </a:pPr>
            <a:r>
              <a:rPr lang="en-US" sz="950" b="1" dirty="0">
                <a:solidFill>
                  <a:srgbClr val="2DD4BF"/>
                </a:solidFill>
                <a:latin typeface="Calibri" pitchFamily="34" charset="0"/>
                <a:ea typeface="Calibri" pitchFamily="34" charset="-122"/>
                <a:cs typeface="Calibri" pitchFamily="34" charset="-120"/>
              </a:rPr>
              <a:t>Full population testing changes the question</a:t>
            </a:r>
            <a:endParaRPr lang="en-US" sz="950" dirty="0"/>
          </a:p>
          <a:p>
            <a:pPr indent="0" marL="0">
              <a:spcAft>
                <a:spcPts val="800"/>
              </a:spcAft>
              <a:buNone/>
            </a:pPr>
            <a:r>
              <a:rPr lang="en-US" sz="950" dirty="0">
                <a:solidFill>
                  <a:srgbClr val="E2E8F0"/>
                </a:solidFill>
                <a:latin typeface="Calibri" pitchFamily="34" charset="0"/>
                <a:ea typeface="Calibri" pitchFamily="34" charset="-122"/>
                <a:cs typeface="Calibri" pitchFamily="34" charset="-120"/>
              </a:rPr>
              <a:t>A sample shows whether a control works. The full population shows where it fails, how often and how much money is involved.</a:t>
            </a:r>
            <a:endParaRPr lang="en-US" sz="950" dirty="0"/>
          </a:p>
          <a:p>
            <a:pPr indent="0" marL="0">
              <a:buNone/>
            </a:pPr>
            <a:r>
              <a:rPr lang="en-US" sz="950" b="1" dirty="0">
                <a:solidFill>
                  <a:srgbClr val="2DD4BF"/>
                </a:solidFill>
                <a:latin typeface="Calibri" pitchFamily="34" charset="0"/>
                <a:ea typeface="Calibri" pitchFamily="34" charset="-122"/>
                <a:cs typeface="Calibri" pitchFamily="34" charset="-120"/>
              </a:rPr>
              <a:t>Parameters are judgement calls</a:t>
            </a:r>
            <a:endParaRPr lang="en-US" sz="950" dirty="0"/>
          </a:p>
          <a:p>
            <a:pPr indent="0" marL="0">
              <a:spcAft>
                <a:spcPts val="800"/>
              </a:spcAft>
              <a:buNone/>
            </a:pPr>
            <a:r>
              <a:rPr lang="en-US" sz="950" dirty="0">
                <a:solidFill>
                  <a:srgbClr val="E2E8F0"/>
                </a:solidFill>
                <a:latin typeface="Calibri" pitchFamily="34" charset="0"/>
                <a:ea typeface="Calibri" pitchFamily="34" charset="-122"/>
                <a:cs typeface="Calibri" pitchFamily="34" charset="-120"/>
              </a:rPr>
              <a:t>Tightening PO tolerance from 5% to 2% raises exceptions from 1,152 to 1,610. Every threshold needs a documented rationale.</a:t>
            </a:r>
            <a:endParaRPr lang="en-US" sz="950" dirty="0"/>
          </a:p>
          <a:p>
            <a:pPr indent="0" marL="0">
              <a:buNone/>
            </a:pPr>
            <a:r>
              <a:rPr lang="en-US" sz="950" b="1" dirty="0">
                <a:solidFill>
                  <a:srgbClr val="2DD4BF"/>
                </a:solidFill>
                <a:latin typeface="Calibri" pitchFamily="34" charset="0"/>
                <a:ea typeface="Calibri" pitchFamily="34" charset="-122"/>
                <a:cs typeface="Calibri" pitchFamily="34" charset="-120"/>
              </a:rPr>
              <a:t>An exception is a lead, not a finding</a:t>
            </a:r>
            <a:endParaRPr lang="en-US" sz="950" dirty="0"/>
          </a:p>
          <a:p>
            <a:pPr indent="0" marL="0">
              <a:spcAft>
                <a:spcPts val="800"/>
              </a:spcAft>
              <a:buNone/>
            </a:pPr>
            <a:r>
              <a:rPr lang="en-US" sz="950" dirty="0">
                <a:solidFill>
                  <a:srgbClr val="E2E8F0"/>
                </a:solidFill>
                <a:latin typeface="Calibri" pitchFamily="34" charset="0"/>
                <a:ea typeface="Calibri" pitchFamily="34" charset="-122"/>
                <a:cs typeface="Calibri" pitchFamily="34" charset="-120"/>
              </a:rPr>
              <a:t>Borderline Benford vendors show why each exception needs a review and a recorded disposition before it becomes a finding.</a:t>
            </a:r>
            <a:endParaRPr lang="en-US" sz="950" dirty="0"/>
          </a:p>
          <a:p>
            <a:pPr indent="0" marL="0">
              <a:buNone/>
            </a:pPr>
            <a:r>
              <a:rPr lang="en-US" sz="950" b="1" dirty="0">
                <a:solidFill>
                  <a:srgbClr val="2DD4BF"/>
                </a:solidFill>
                <a:latin typeface="Calibri" pitchFamily="34" charset="0"/>
                <a:ea typeface="Calibri" pitchFamily="34" charset="-122"/>
                <a:cs typeface="Calibri" pitchFamily="34" charset="-120"/>
              </a:rPr>
              <a:t>Count and value tell different stories</a:t>
            </a:r>
            <a:endParaRPr lang="en-US" sz="950" dirty="0"/>
          </a:p>
          <a:p>
            <a:pPr indent="0" marL="0">
              <a:spcAft>
                <a:spcPts val="800"/>
              </a:spcAft>
              <a:buNone/>
            </a:pPr>
            <a:r>
              <a:rPr lang="en-US" sz="950" dirty="0">
                <a:solidFill>
                  <a:srgbClr val="E2E8F0"/>
                </a:solidFill>
                <a:latin typeface="Calibri" pitchFamily="34" charset="0"/>
                <a:ea typeface="Calibri" pitchFamily="34" charset="-122"/>
                <a:cs typeface="Calibri" pitchFamily="34" charset="-120"/>
              </a:rPr>
              <a:t>Benford produced the most exceptions (319), but threshold avoidance carried the most value (₹12.9 Cr).</a:t>
            </a:r>
            <a:endParaRPr lang="en-US" sz="950" dirty="0"/>
          </a:p>
        </p:txBody>
      </p:sp>
      <p:sp>
        <p:nvSpPr>
          <p:cNvPr id="6" name="Shape 4"/>
          <p:cNvSpPr/>
          <p:nvPr/>
        </p:nvSpPr>
        <p:spPr>
          <a:xfrm>
            <a:off x="5486400" y="914400"/>
            <a:ext cx="3200400" cy="3931920"/>
          </a:xfrm>
          <a:prstGeom prst="rect">
            <a:avLst/>
          </a:prstGeom>
          <a:solidFill>
            <a:srgbClr val="1E293B"/>
          </a:solidFill>
          <a:ln w="9525">
            <a:solidFill>
              <a:srgbClr val="334155"/>
            </a:solidFill>
            <a:prstDash val="solid"/>
          </a:ln>
        </p:spPr>
      </p:sp>
      <p:sp>
        <p:nvSpPr>
          <p:cNvPr id="7" name="Text 5"/>
          <p:cNvSpPr txBox="1"/>
          <p:nvPr/>
        </p:nvSpPr>
        <p:spPr>
          <a:xfrm>
            <a:off x="5623560" y="1005840"/>
            <a:ext cx="292608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AI Declaration</a:t>
            </a:r>
            <a:endParaRPr lang="en-US" sz="1100" dirty="0"/>
          </a:p>
        </p:txBody>
      </p:sp>
      <p:sp>
        <p:nvSpPr>
          <p:cNvPr id="8" name="Text 6"/>
          <p:cNvSpPr txBox="1"/>
          <p:nvPr/>
        </p:nvSpPr>
        <p:spPr>
          <a:xfrm>
            <a:off x="5623560" y="1371600"/>
            <a:ext cx="2926080" cy="3383280"/>
          </a:xfrm>
          <a:prstGeom prst="rect">
            <a:avLst/>
          </a:prstGeom>
          <a:noFill/>
          <a:ln/>
        </p:spPr>
        <p:txBody>
          <a:bodyPr wrap="square" lIns="0" tIns="0" rIns="0" bIns="0" rtlCol="0" anchor="t"/>
          <a:lstStyle/>
          <a:p>
            <a:pPr indent="0" marL="0">
              <a:buNone/>
            </a:pPr>
            <a:r>
              <a:rPr lang="en-US" sz="950" b="1" dirty="0">
                <a:solidFill>
                  <a:srgbClr val="2DD4BF"/>
                </a:solidFill>
                <a:latin typeface="Calibri" pitchFamily="34" charset="0"/>
                <a:ea typeface="Calibri" pitchFamily="34" charset="-122"/>
                <a:cs typeface="Calibri" pitchFamily="34" charset="-120"/>
              </a:rPr>
              <a:t>1.  Dataset</a:t>
            </a:r>
            <a:endParaRPr lang="en-US" sz="950" dirty="0"/>
          </a:p>
          <a:p>
            <a:pPr indent="0" marL="0">
              <a:spcAft>
                <a:spcPts val="800"/>
              </a:spcAft>
              <a:buNone/>
            </a:pPr>
            <a:r>
              <a:rPr lang="en-US" sz="950" dirty="0">
                <a:solidFill>
                  <a:srgbClr val="E2E8F0"/>
                </a:solidFill>
                <a:latin typeface="Calibri" pitchFamily="34" charset="0"/>
                <a:ea typeface="Calibri" pitchFamily="34" charset="-122"/>
                <a:cs typeface="Calibri" pitchFamily="34" charset="-120"/>
              </a:rPr>
              <a:t>The synthetic ledger was generated with AI assistance, with known exceptions seeded so each test has cases to find.</a:t>
            </a:r>
            <a:endParaRPr lang="en-US" sz="950" dirty="0"/>
          </a:p>
          <a:p>
            <a:pPr indent="0" marL="0">
              <a:buNone/>
            </a:pPr>
            <a:r>
              <a:rPr lang="en-US" sz="950" b="1" dirty="0">
                <a:solidFill>
                  <a:srgbClr val="2DD4BF"/>
                </a:solidFill>
                <a:latin typeface="Calibri" pitchFamily="34" charset="0"/>
                <a:ea typeface="Calibri" pitchFamily="34" charset="-122"/>
                <a:cs typeface="Calibri" pitchFamily="34" charset="-120"/>
              </a:rPr>
              <a:t>2.  Code support</a:t>
            </a:r>
            <a:endParaRPr lang="en-US" sz="950" dirty="0"/>
          </a:p>
          <a:p>
            <a:pPr indent="0" marL="0">
              <a:spcAft>
                <a:spcPts val="800"/>
              </a:spcAft>
              <a:buNone/>
            </a:pPr>
            <a:r>
              <a:rPr lang="en-US" sz="950" dirty="0">
                <a:solidFill>
                  <a:srgbClr val="E2E8F0"/>
                </a:solidFill>
                <a:latin typeface="Calibri" pitchFamily="34" charset="0"/>
                <a:ea typeface="Calibri" pitchFamily="34" charset="-122"/>
                <a:cs typeface="Calibri" pitchFamily="34" charset="-120"/>
              </a:rPr>
              <a:t>AI assisted in structuring the Python test logic. All tests were run, reviewed and reconciled by me.</a:t>
            </a:r>
            <a:endParaRPr lang="en-US" sz="950" dirty="0"/>
          </a:p>
          <a:p>
            <a:pPr indent="0" marL="0">
              <a:buNone/>
            </a:pPr>
            <a:r>
              <a:rPr lang="en-US" sz="950" b="1" dirty="0">
                <a:solidFill>
                  <a:srgbClr val="2DD4BF"/>
                </a:solidFill>
                <a:latin typeface="Calibri" pitchFamily="34" charset="0"/>
                <a:ea typeface="Calibri" pitchFamily="34" charset="-122"/>
                <a:cs typeface="Calibri" pitchFamily="34" charset="-120"/>
              </a:rPr>
              <a:t>3.  Presentation</a:t>
            </a:r>
            <a:endParaRPr lang="en-US" sz="950" dirty="0"/>
          </a:p>
          <a:p>
            <a:pPr indent="0" marL="0">
              <a:spcAft>
                <a:spcPts val="800"/>
              </a:spcAft>
              <a:buNone/>
            </a:pPr>
            <a:r>
              <a:rPr lang="en-US" sz="950" dirty="0">
                <a:solidFill>
                  <a:srgbClr val="E2E8F0"/>
                </a:solidFill>
                <a:latin typeface="Calibri" pitchFamily="34" charset="0"/>
                <a:ea typeface="Calibri" pitchFamily="34" charset="-122"/>
                <a:cs typeface="Calibri" pitchFamily="34" charset="-120"/>
              </a:rPr>
              <a:t>AI helped structure this deck and the findings memo format.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Appendix</a:t>
            </a:r>
            <a:endParaRPr lang="en-US" sz="2200" dirty="0"/>
          </a:p>
        </p:txBody>
      </p:sp>
      <p:sp>
        <p:nvSpPr>
          <p:cNvPr id="3" name="Text 1"/>
          <p:cNvSpPr txBox="1"/>
          <p:nvPr/>
        </p:nvSpPr>
        <p:spPr>
          <a:xfrm>
            <a:off x="457200" y="731520"/>
            <a:ext cx="8229600" cy="27432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Test results, dataset assumptions and variable definitions</a:t>
            </a:r>
            <a:endParaRPr lang="en-US" sz="1050" dirty="0"/>
          </a:p>
        </p:txBody>
      </p:sp>
      <p:sp>
        <p:nvSpPr>
          <p:cNvPr id="4" name="Text 2"/>
          <p:cNvSpPr txBox="1"/>
          <p:nvPr/>
        </p:nvSpPr>
        <p:spPr>
          <a:xfrm>
            <a:off x="457200" y="1051560"/>
            <a:ext cx="8229600" cy="228600"/>
          </a:xfrm>
          <a:prstGeom prst="rect">
            <a:avLst/>
          </a:prstGeom>
          <a:noFill/>
          <a:ln/>
        </p:spPr>
        <p:txBody>
          <a:bodyPr wrap="square" lIns="0" tIns="0" rIns="0" bIns="0" rtlCol="0" anchor="ctr"/>
          <a:lstStyle/>
          <a:p>
            <a:pPr indent="0" marL="0">
              <a:buNone/>
            </a:pPr>
            <a:r>
              <a:rPr lang="en-US" sz="1000" b="1" dirty="0">
                <a:solidFill>
                  <a:srgbClr val="E2E8F0"/>
                </a:solidFill>
                <a:latin typeface="Calibri" pitchFamily="34" charset="0"/>
                <a:ea typeface="Calibri" pitchFamily="34" charset="-122"/>
                <a:cs typeface="Calibri" pitchFamily="34" charset="-120"/>
              </a:rPr>
              <a:t>Table 1  Control test results</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920240"/>
                <a:gridCol w="3383280"/>
                <a:gridCol w="960120"/>
                <a:gridCol w="1051560"/>
                <a:gridCol w="914400"/>
              </a:tblGrid>
              <a:tr h="219456">
                <a:tc>
                  <a:txBody>
                    <a:bodyPr/>
                    <a:lstStyle/>
                    <a:p>
                      <a:pPr algn="l" indent="0" marL="0">
                        <a:buNone/>
                      </a:pPr>
                      <a:r>
                        <a:rPr lang="en-US" sz="850" b="1" dirty="0">
                          <a:solidFill>
                            <a:srgbClr val="2DD4BF"/>
                          </a:solidFill>
                          <a:latin typeface="Calibri" pitchFamily="34" charset="0"/>
                          <a:ea typeface="Calibri" pitchFamily="34" charset="-122"/>
                          <a:cs typeface="Calibri" pitchFamily="34" charset="-120"/>
                        </a:rPr>
                        <a:t>Test</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3303A"/>
                    </a:solidFill>
                  </a:tcPr>
                </a:tc>
                <a:tc>
                  <a:txBody>
                    <a:bodyPr/>
                    <a:lstStyle/>
                    <a:p>
                      <a:pPr algn="l" indent="0" marL="0">
                        <a:buNone/>
                      </a:pPr>
                      <a:r>
                        <a:rPr lang="en-US" sz="850" b="1" dirty="0">
                          <a:solidFill>
                            <a:srgbClr val="2DD4BF"/>
                          </a:solidFill>
                          <a:latin typeface="Calibri" pitchFamily="34" charset="0"/>
                          <a:ea typeface="Calibri" pitchFamily="34" charset="-122"/>
                          <a:cs typeface="Calibri" pitchFamily="34" charset="-120"/>
                        </a:rPr>
                        <a:t>Rule</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3303A"/>
                    </a:solidFill>
                  </a:tcPr>
                </a:tc>
                <a:tc>
                  <a:txBody>
                    <a:bodyPr/>
                    <a:lstStyle/>
                    <a:p>
                      <a:pPr algn="r" indent="0" marL="0">
                        <a:buNone/>
                      </a:pPr>
                      <a:r>
                        <a:rPr lang="en-US" sz="850" b="1" dirty="0">
                          <a:solidFill>
                            <a:srgbClr val="2DD4BF"/>
                          </a:solidFill>
                          <a:latin typeface="Calibri" pitchFamily="34" charset="0"/>
                          <a:ea typeface="Calibri" pitchFamily="34" charset="-122"/>
                          <a:cs typeface="Calibri" pitchFamily="34" charset="-120"/>
                        </a:rPr>
                        <a:t>Exceptions</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3303A"/>
                    </a:solidFill>
                  </a:tcPr>
                </a:tc>
                <a:tc>
                  <a:txBody>
                    <a:bodyPr/>
                    <a:lstStyle/>
                    <a:p>
                      <a:pPr algn="r" indent="0" marL="0">
                        <a:buNone/>
                      </a:pPr>
                      <a:r>
                        <a:rPr lang="en-US" sz="850" b="1" dirty="0">
                          <a:solidFill>
                            <a:srgbClr val="2DD4BF"/>
                          </a:solidFill>
                          <a:latin typeface="Calibri" pitchFamily="34" charset="0"/>
                          <a:ea typeface="Calibri" pitchFamily="34" charset="-122"/>
                          <a:cs typeface="Calibri" pitchFamily="34" charset="-120"/>
                        </a:rPr>
                        <a:t>Value, ₹ Cr</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3303A"/>
                    </a:solidFill>
                  </a:tcPr>
                </a:tc>
                <a:tc>
                  <a:txBody>
                    <a:bodyPr/>
                    <a:lstStyle/>
                    <a:p>
                      <a:pPr algn="r" indent="0" marL="0">
                        <a:buNone/>
                      </a:pPr>
                      <a:r>
                        <a:rPr lang="en-US" sz="850" b="1" dirty="0">
                          <a:solidFill>
                            <a:srgbClr val="2DD4BF"/>
                          </a:solidFill>
                          <a:latin typeface="Calibri" pitchFamily="34" charset="0"/>
                          <a:ea typeface="Calibri" pitchFamily="34" charset="-122"/>
                          <a:cs typeface="Calibri" pitchFamily="34" charset="-120"/>
                        </a:rPr>
                        <a:t>vs PM</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3303A"/>
                    </a:solidFill>
                  </a:tcPr>
                </a:tc>
              </a:tr>
              <a:tr h="219456">
                <a:tc>
                  <a:txBody>
                    <a:bodyPr/>
                    <a:lstStyle/>
                    <a:p>
                      <a:pPr algn="l" indent="0" marL="0">
                        <a:buNone/>
                      </a:pPr>
                      <a:r>
                        <a:rPr lang="en-US" sz="850" dirty="0">
                          <a:solidFill>
                            <a:srgbClr val="E2E8F0"/>
                          </a:solidFill>
                          <a:latin typeface="Calibri" pitchFamily="34" charset="0"/>
                          <a:ea typeface="Calibri" pitchFamily="34" charset="-122"/>
                          <a:cs typeface="Calibri" pitchFamily="34" charset="-120"/>
                        </a:rPr>
                        <a:t>Threshold avoidance</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l" indent="0" marL="0">
                        <a:buNone/>
                      </a:pPr>
                      <a:r>
                        <a:rPr lang="en-US" sz="850" dirty="0">
                          <a:solidFill>
                            <a:srgbClr val="E2E8F0"/>
                          </a:solidFill>
                          <a:latin typeface="Calibri" pitchFamily="34" charset="0"/>
                          <a:ea typeface="Calibri" pitchFamily="34" charset="-122"/>
                          <a:cs typeface="Calibri" pitchFamily="34" charset="-120"/>
                        </a:rPr>
                        <a:t>₹4.5L to &lt;₹5L, or same day splits ≥ ₹5L</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315</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12.85</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F87171"/>
                          </a:solidFill>
                          <a:latin typeface="Calibri" pitchFamily="34" charset="0"/>
                          <a:ea typeface="Calibri" pitchFamily="34" charset="-122"/>
                          <a:cs typeface="Calibri" pitchFamily="34" charset="-120"/>
                        </a:rPr>
                        <a:t>Above</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r>
              <a:tr h="219456">
                <a:tc>
                  <a:txBody>
                    <a:bodyPr/>
                    <a:lstStyle/>
                    <a:p>
                      <a:pPr algn="l" indent="0" marL="0">
                        <a:buNone/>
                      </a:pPr>
                      <a:r>
                        <a:rPr lang="en-US" sz="850" dirty="0">
                          <a:solidFill>
                            <a:srgbClr val="E2E8F0"/>
                          </a:solidFill>
                          <a:latin typeface="Calibri" pitchFamily="34" charset="0"/>
                          <a:ea typeface="Calibri" pitchFamily="34" charset="-122"/>
                          <a:cs typeface="Calibri" pitchFamily="34" charset="-120"/>
                        </a:rPr>
                        <a:t>Three way match</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l" indent="0" marL="0">
                        <a:buNone/>
                      </a:pPr>
                      <a:r>
                        <a:rPr lang="en-US" sz="850" dirty="0">
                          <a:solidFill>
                            <a:srgbClr val="E2E8F0"/>
                          </a:solidFill>
                          <a:latin typeface="Calibri" pitchFamily="34" charset="0"/>
                          <a:ea typeface="Calibri" pitchFamily="34" charset="-122"/>
                          <a:cs typeface="Calibri" pitchFamily="34" charset="-120"/>
                        </a:rPr>
                        <a:t>&gt; PO + 5%, or no PO at ≥ ₹1L</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298</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10.65</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F87171"/>
                          </a:solidFill>
                          <a:latin typeface="Calibri" pitchFamily="34" charset="0"/>
                          <a:ea typeface="Calibri" pitchFamily="34" charset="-122"/>
                          <a:cs typeface="Calibri" pitchFamily="34" charset="-120"/>
                        </a:rPr>
                        <a:t>Above</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r>
              <a:tr h="219456">
                <a:tc>
                  <a:txBody>
                    <a:bodyPr/>
                    <a:lstStyle/>
                    <a:p>
                      <a:pPr algn="l" indent="0" marL="0">
                        <a:buNone/>
                      </a:pPr>
                      <a:r>
                        <a:rPr lang="en-US" sz="850" dirty="0">
                          <a:solidFill>
                            <a:srgbClr val="E2E8F0"/>
                          </a:solidFill>
                          <a:latin typeface="Calibri" pitchFamily="34" charset="0"/>
                          <a:ea typeface="Calibri" pitchFamily="34" charset="-122"/>
                          <a:cs typeface="Calibri" pitchFamily="34" charset="-120"/>
                        </a:rPr>
                        <a:t>Benford's Law</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l" indent="0" marL="0">
                        <a:buNone/>
                      </a:pPr>
                      <a:r>
                        <a:rPr lang="en-US" sz="850" dirty="0">
                          <a:solidFill>
                            <a:srgbClr val="E2E8F0"/>
                          </a:solidFill>
                          <a:latin typeface="Calibri" pitchFamily="34" charset="0"/>
                          <a:ea typeface="Calibri" pitchFamily="34" charset="-122"/>
                          <a:cs typeface="Calibri" pitchFamily="34" charset="-120"/>
                        </a:rPr>
                        <a:t>Vendor χ² &gt; 26.12, n ≥ 30</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319</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4.64</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F87171"/>
                          </a:solidFill>
                          <a:latin typeface="Calibri" pitchFamily="34" charset="0"/>
                          <a:ea typeface="Calibri" pitchFamily="34" charset="-122"/>
                          <a:cs typeface="Calibri" pitchFamily="34" charset="-120"/>
                        </a:rPr>
                        <a:t>Above</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r>
              <a:tr h="219456">
                <a:tc>
                  <a:txBody>
                    <a:bodyPr/>
                    <a:lstStyle/>
                    <a:p>
                      <a:pPr algn="l" indent="0" marL="0">
                        <a:buNone/>
                      </a:pPr>
                      <a:r>
                        <a:rPr lang="en-US" sz="850" dirty="0">
                          <a:solidFill>
                            <a:srgbClr val="E2E8F0"/>
                          </a:solidFill>
                          <a:latin typeface="Calibri" pitchFamily="34" charset="0"/>
                          <a:ea typeface="Calibri" pitchFamily="34" charset="-122"/>
                          <a:cs typeface="Calibri" pitchFamily="34" charset="-120"/>
                        </a:rPr>
                        <a:t>Duplicate payment</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l" indent="0" marL="0">
                        <a:buNone/>
                      </a:pPr>
                      <a:r>
                        <a:rPr lang="en-US" sz="850" dirty="0">
                          <a:solidFill>
                            <a:srgbClr val="E2E8F0"/>
                          </a:solidFill>
                          <a:latin typeface="Calibri" pitchFamily="34" charset="0"/>
                          <a:ea typeface="Calibri" pitchFamily="34" charset="-122"/>
                          <a:cs typeface="Calibri" pitchFamily="34" charset="-120"/>
                        </a:rPr>
                        <a:t>Vendor + amount ≤ 30 days, or reused number</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189</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1.94</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F87171"/>
                          </a:solidFill>
                          <a:latin typeface="Calibri" pitchFamily="34" charset="0"/>
                          <a:ea typeface="Calibri" pitchFamily="34" charset="-122"/>
                          <a:cs typeface="Calibri" pitchFamily="34" charset="-120"/>
                        </a:rPr>
                        <a:t>Above</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r>
              <a:tr h="219456">
                <a:tc>
                  <a:txBody>
                    <a:bodyPr/>
                    <a:lstStyle/>
                    <a:p>
                      <a:pPr algn="l" indent="0" marL="0">
                        <a:buNone/>
                      </a:pPr>
                      <a:r>
                        <a:rPr lang="en-US" sz="850" dirty="0">
                          <a:solidFill>
                            <a:srgbClr val="E2E8F0"/>
                          </a:solidFill>
                          <a:latin typeface="Calibri" pitchFamily="34" charset="0"/>
                          <a:ea typeface="Calibri" pitchFamily="34" charset="-122"/>
                          <a:cs typeface="Calibri" pitchFamily="34" charset="-120"/>
                        </a:rPr>
                        <a:t>Segregation of duties</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l" indent="0" marL="0">
                        <a:buNone/>
                      </a:pPr>
                      <a:r>
                        <a:rPr lang="en-US" sz="850" dirty="0">
                          <a:solidFill>
                            <a:srgbClr val="E2E8F0"/>
                          </a:solidFill>
                          <a:latin typeface="Calibri" pitchFamily="34" charset="0"/>
                          <a:ea typeface="Calibri" pitchFamily="34" charset="-122"/>
                          <a:cs typeface="Calibri" pitchFamily="34" charset="-120"/>
                        </a:rPr>
                        <a:t>Creator = approver</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94</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0.82</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Below</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r>
              <a:tr h="219456">
                <a:tc>
                  <a:txBody>
                    <a:bodyPr/>
                    <a:lstStyle/>
                    <a:p>
                      <a:pPr algn="l" indent="0" marL="0">
                        <a:buNone/>
                      </a:pPr>
                      <a:r>
                        <a:rPr lang="en-US" sz="850" dirty="0">
                          <a:solidFill>
                            <a:srgbClr val="E2E8F0"/>
                          </a:solidFill>
                          <a:latin typeface="Calibri" pitchFamily="34" charset="0"/>
                          <a:ea typeface="Calibri" pitchFamily="34" charset="-122"/>
                          <a:cs typeface="Calibri" pitchFamily="34" charset="-120"/>
                        </a:rPr>
                        <a:t>After hours posting</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l" indent="0" marL="0">
                        <a:buNone/>
                      </a:pPr>
                      <a:r>
                        <a:rPr lang="en-US" sz="850" dirty="0">
                          <a:solidFill>
                            <a:srgbClr val="E2E8F0"/>
                          </a:solidFill>
                          <a:latin typeface="Calibri" pitchFamily="34" charset="0"/>
                          <a:ea typeface="Calibri" pitchFamily="34" charset="-122"/>
                          <a:cs typeface="Calibri" pitchFamily="34" charset="-120"/>
                        </a:rPr>
                        <a:t>Sunday, or 22:00 to 06:00</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86</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0.50</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c>
                  <a:txBody>
                    <a:bodyPr/>
                    <a:lstStyle/>
                    <a:p>
                      <a:pPr algn="r" indent="0" marL="0">
                        <a:buNone/>
                      </a:pPr>
                      <a:r>
                        <a:rPr lang="en-US" sz="850" dirty="0">
                          <a:solidFill>
                            <a:srgbClr val="E2E8F0"/>
                          </a:solidFill>
                          <a:latin typeface="Calibri" pitchFamily="34" charset="0"/>
                          <a:ea typeface="Calibri" pitchFamily="34" charset="-122"/>
                          <a:cs typeface="Calibri" pitchFamily="34" charset="-120"/>
                        </a:rPr>
                        <a:t>Below</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E293B"/>
                    </a:solidFill>
                  </a:tcPr>
                </a:tc>
              </a:tr>
              <a:tr h="219456">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Unique exceptions</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3303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An invoice is counted once</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3303A"/>
                    </a:solidFill>
                  </a:tcPr>
                </a:tc>
                <a:tc>
                  <a:txBody>
                    <a:bodyPr/>
                    <a:lstStyle/>
                    <a:p>
                      <a:pPr algn="r" indent="0" marL="0">
                        <a:buNone/>
                      </a:pPr>
                      <a:r>
                        <a:rPr lang="en-US" sz="850" b="1" dirty="0">
                          <a:solidFill>
                            <a:srgbClr val="FFFFFF"/>
                          </a:solidFill>
                          <a:latin typeface="Calibri" pitchFamily="34" charset="0"/>
                          <a:ea typeface="Calibri" pitchFamily="34" charset="-122"/>
                          <a:cs typeface="Calibri" pitchFamily="34" charset="-120"/>
                        </a:rPr>
                        <a:t>1,152</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3303A"/>
                    </a:solidFill>
                  </a:tcPr>
                </a:tc>
                <a:tc>
                  <a:txBody>
                    <a:bodyPr/>
                    <a:lstStyle/>
                    <a:p>
                      <a:pPr algn="r" indent="0" marL="0">
                        <a:buNone/>
                      </a:pPr>
                      <a:r>
                        <a:rPr lang="en-US" sz="850" b="1" dirty="0">
                          <a:solidFill>
                            <a:srgbClr val="FFFFFF"/>
                          </a:solidFill>
                          <a:latin typeface="Calibri" pitchFamily="34" charset="0"/>
                          <a:ea typeface="Calibri" pitchFamily="34" charset="-122"/>
                          <a:cs typeface="Calibri" pitchFamily="34" charset="-120"/>
                        </a:rPr>
                        <a:t>25.53</a:t>
                      </a: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3303A"/>
                    </a:solidFill>
                  </a:tcPr>
                </a:tc>
                <a:tc>
                  <a:txBody>
                    <a:bodyPr/>
                    <a:lstStyle/>
                    <a:p>
                      <a:pPr algn="r" indent="0" marL="0">
                        <a:buNone/>
                      </a:pPr>
                      <a:endParaRPr lang="en-US" sz="850" dirty="0">
                        <a:latin typeface="Calibri" charset="0"/>
                        <a:ea typeface="Calibri" charset="0"/>
                        <a:cs typeface="Calibri" charset="0"/>
                      </a:endParaRPr>
                    </a:p>
                  </a:txBody>
                  <a:tcPr marL="91440" marR="91440" marT="45720" marB="45720">
                    <a:lnL w="12700" cap="flat" cmpd="sng" algn="ctr">
                      <a:solidFill>
                        <a:srgbClr val="0F172A"/>
                      </a:solidFill>
                      <a:prstDash val="solid"/>
                      <a:round/>
                      <a:headEnd type="none" w="med" len="med"/>
                      <a:tailEnd type="none" w="med" len="med"/>
                    </a:lnL>
                    <a:lnR w="12700" cap="flat" cmpd="sng" algn="ctr">
                      <a:solidFill>
                        <a:srgbClr val="0F172A"/>
                      </a:solidFill>
                      <a:prstDash val="solid"/>
                      <a:round/>
                      <a:headEnd type="none" w="med" len="med"/>
                      <a:tailEnd type="none" w="med" len="med"/>
                    </a:lnR>
                    <a:lnT w="12700" cap="flat" cmpd="sng" algn="ctr">
                      <a:solidFill>
                        <a:srgbClr val="0F172A"/>
                      </a:solidFill>
                      <a:prstDash val="solid"/>
                      <a:round/>
                      <a:headEnd type="none" w="med" len="med"/>
                      <a:tailEnd type="none" w="med" len="med"/>
                    </a:lnT>
                    <a:lnB w="12700" cap="flat" cmpd="sng" algn="ctr">
                      <a:solidFill>
                        <a:srgbClr val="0F172A"/>
                      </a:solidFill>
                      <a:prstDash val="solid"/>
                      <a:round/>
                      <a:headEnd type="none" w="med" len="med"/>
                      <a:tailEnd type="none" w="med" len="med"/>
                    </a:lnB>
                    <a:solidFill>
                      <a:srgbClr val="13303A"/>
                    </a:solidFill>
                  </a:tcPr>
                </a:tc>
              </a:tr>
            </a:tbl>
          </a:graphicData>
        </a:graphic>
      </p:graphicFrame>
      <p:sp>
        <p:nvSpPr>
          <p:cNvPr id="6" name="Shape 3"/>
          <p:cNvSpPr/>
          <p:nvPr/>
        </p:nvSpPr>
        <p:spPr>
          <a:xfrm>
            <a:off x="457200" y="3200400"/>
            <a:ext cx="4046220" cy="1691640"/>
          </a:xfrm>
          <a:prstGeom prst="rect">
            <a:avLst/>
          </a:prstGeom>
          <a:solidFill>
            <a:srgbClr val="1E293B"/>
          </a:solidFill>
          <a:ln w="9525">
            <a:solidFill>
              <a:srgbClr val="334155"/>
            </a:solidFill>
            <a:prstDash val="solid"/>
          </a:ln>
        </p:spPr>
      </p:sp>
      <p:sp>
        <p:nvSpPr>
          <p:cNvPr id="7" name="Text 4"/>
          <p:cNvSpPr txBox="1"/>
          <p:nvPr/>
        </p:nvSpPr>
        <p:spPr>
          <a:xfrm>
            <a:off x="594360" y="3291840"/>
            <a:ext cx="377190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Data Sources &amp; Assumptions</a:t>
            </a:r>
            <a:endParaRPr lang="en-US" sz="1050" dirty="0"/>
          </a:p>
        </p:txBody>
      </p:sp>
      <p:sp>
        <p:nvSpPr>
          <p:cNvPr id="8" name="Text 5"/>
          <p:cNvSpPr txBox="1"/>
          <p:nvPr/>
        </p:nvSpPr>
        <p:spPr>
          <a:xfrm>
            <a:off x="594360" y="3584448"/>
            <a:ext cx="3771900" cy="1234440"/>
          </a:xfrm>
          <a:prstGeom prst="rect">
            <a:avLst/>
          </a:prstGeom>
          <a:noFill/>
          <a:ln/>
        </p:spPr>
        <p:txBody>
          <a:bodyPr wrap="square" lIns="0" tIns="0" rIns="0" bIns="0" rtlCol="0" anchor="t"/>
          <a:lstStyle/>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Dataset: demo_vendor_ledger_FY26.csv</a:t>
            </a:r>
            <a:endParaRPr lang="en-US" sz="900" dirty="0"/>
          </a:p>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Source: Synthetic AP ledger (academic use)</a:t>
            </a:r>
            <a:endParaRPr lang="en-US" sz="900" dirty="0"/>
          </a:p>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Period: April 2025 to March 2026</a:t>
            </a:r>
            <a:endParaRPr lang="en-US" sz="900" dirty="0"/>
          </a:p>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Overall materiality: 1% of spend (₹1.24 Cr)</a:t>
            </a:r>
            <a:endParaRPr lang="en-US" sz="900" dirty="0"/>
          </a:p>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Performance materiality: 75% of overall (₹92.9 lakh)</a:t>
            </a:r>
            <a:endParaRPr lang="en-US" sz="900" dirty="0"/>
          </a:p>
        </p:txBody>
      </p:sp>
      <p:sp>
        <p:nvSpPr>
          <p:cNvPr id="9" name="Shape 6"/>
          <p:cNvSpPr/>
          <p:nvPr/>
        </p:nvSpPr>
        <p:spPr>
          <a:xfrm>
            <a:off x="4640580" y="3200400"/>
            <a:ext cx="4046220" cy="1691640"/>
          </a:xfrm>
          <a:prstGeom prst="rect">
            <a:avLst/>
          </a:prstGeom>
          <a:solidFill>
            <a:srgbClr val="1E293B"/>
          </a:solidFill>
          <a:ln w="9525">
            <a:solidFill>
              <a:srgbClr val="334155"/>
            </a:solidFill>
            <a:prstDash val="solid"/>
          </a:ln>
        </p:spPr>
      </p:sp>
      <p:sp>
        <p:nvSpPr>
          <p:cNvPr id="10" name="Text 7"/>
          <p:cNvSpPr txBox="1"/>
          <p:nvPr/>
        </p:nvSpPr>
        <p:spPr>
          <a:xfrm>
            <a:off x="4777740" y="3291840"/>
            <a:ext cx="3771900" cy="256032"/>
          </a:xfrm>
          <a:prstGeom prst="rect">
            <a:avLst/>
          </a:prstGeom>
          <a:noFill/>
          <a:ln/>
        </p:spPr>
        <p:txBody>
          <a:bodyPr wrap="square" lIns="0" tIns="0" rIns="0" bIns="0" rtlCol="0" anchor="t"/>
          <a:lstStyle/>
          <a:p>
            <a:pPr indent="0" marL="0">
              <a:buNone/>
            </a:pPr>
            <a:r>
              <a:rPr lang="en-US" sz="1050" b="1" dirty="0">
                <a:solidFill>
                  <a:srgbClr val="2DD4BF"/>
                </a:solidFill>
                <a:latin typeface="Calibri" pitchFamily="34" charset="0"/>
                <a:ea typeface="Calibri" pitchFamily="34" charset="-122"/>
                <a:cs typeface="Calibri" pitchFamily="34" charset="-120"/>
              </a:rPr>
              <a:t>Variable Glossary</a:t>
            </a:r>
            <a:endParaRPr lang="en-US" sz="1050" dirty="0"/>
          </a:p>
        </p:txBody>
      </p:sp>
      <p:sp>
        <p:nvSpPr>
          <p:cNvPr id="11" name="Text 8"/>
          <p:cNvSpPr txBox="1"/>
          <p:nvPr/>
        </p:nvSpPr>
        <p:spPr>
          <a:xfrm>
            <a:off x="4777740" y="3584448"/>
            <a:ext cx="3771900" cy="1234440"/>
          </a:xfrm>
          <a:prstGeom prst="rect">
            <a:avLst/>
          </a:prstGeom>
          <a:noFill/>
          <a:ln/>
        </p:spPr>
        <p:txBody>
          <a:bodyPr wrap="square" lIns="0" tIns="0" rIns="0" bIns="0" rtlCol="0" anchor="t"/>
          <a:lstStyle/>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Amount / PO Amount: invoice value and ordered value</a:t>
            </a:r>
            <a:endParaRPr lang="en-US" sz="900" dirty="0"/>
          </a:p>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Created By / Approved By: user who raised and approved</a:t>
            </a:r>
            <a:endParaRPr lang="en-US" sz="900" dirty="0"/>
          </a:p>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Posted At: date and time of ERP posting</a:t>
            </a:r>
            <a:endParaRPr lang="en-US" sz="900" dirty="0"/>
          </a:p>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Exception: an invoice failing one or more tests</a:t>
            </a:r>
            <a:endParaRPr lang="en-US" sz="900" dirty="0"/>
          </a:p>
          <a:p>
            <a:pPr indent="0" marL="0">
              <a:spcAft>
                <a:spcPts val="300"/>
              </a:spcAft>
              <a:buNone/>
            </a:pPr>
            <a:r>
              <a:rPr lang="en-US" sz="900" dirty="0">
                <a:solidFill>
                  <a:srgbClr val="E2E8F0"/>
                </a:solidFill>
                <a:latin typeface="Calibri" pitchFamily="34" charset="0"/>
                <a:ea typeface="Calibri" pitchFamily="34" charset="-122"/>
                <a:cs typeface="Calibri" pitchFamily="34" charset="-120"/>
              </a:rPr>
              <a:t>Performance materiality: threshold for priority findings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Controls Monitoring, Procure to Pay</dc:title>
  <dc:subject>PptxGenJS Presentation</dc:subject>
  <dc:creator>Tarana Bansal</dc:creator>
  <cp:lastModifiedBy>Tarana Bansal</cp:lastModifiedBy>
  <cp:revision>1</cp:revision>
  <dcterms:created xsi:type="dcterms:W3CDTF">2026-09-24T09:02:34Z</dcterms:created>
  <dcterms:modified xsi:type="dcterms:W3CDTF">2026-09-24T09:02:34Z</dcterms:modified>
</cp:coreProperties>
</file>